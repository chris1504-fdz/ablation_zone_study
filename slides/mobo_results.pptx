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charts/chart1.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D1B2A"/>
                </a:solidFill>
                <a:latin typeface="Arial"/>
              </a:defRPr>
            </a:pPr>
            <a:r>
              <a:rPr sz="1100" b="0" i="0" u="none" strike="noStrike">
                <a:solidFill>
                  <a:srgbClr val="0D1B2A"/>
                </a:solidFill>
                <a:latin typeface="Arial"/>
              </a:rPr>
              <a:t>Hypervolume Convergence</a:t>
            </a:r>
          </a:p>
        </c:rich>
      </c:tx>
      <c:layout/>
      <c:overlay val="0"/>
    </c:title>
    <c:autoTitleDeleted val="0"/>
    <c:plotArea>
      <c:layout/>
      <c:lineChart>
        <c:varyColors val="0"/>
        <c:ser>
          <c:idx val="0"/>
          <c:order val="0"/>
          <c:tx>
            <c:strRef>
              <c:f>Sheet1!$B$1</c:f>
              <c:strCache>
                <c:ptCount val="1"/>
                <c:pt idx="0">
                  <c:v>HV</c:v>
                </c:pt>
              </c:strCache>
            </c:strRef>
          </c:tx>
          <c:spPr>
            <a:solidFill>
              <a:srgbClr val="0E6B8C"/>
            </a:solidFill>
            <a:ln w="31750" cap="flat">
              <a:solidFill>
                <a:srgbClr val="0E6B8C"/>
              </a:solidFill>
              <a:prstDash val="solid"/>
              <a:round/>
            </a:ln>
            <a:effectLst/>
          </c:spPr>
          <c:invertIfNegative val="0"/>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marker>
            <c:symbol val="circle"/>
            <c:size val="6"/>
            <c:spPr>
              <a:solidFill>
                <a:srgbClr val="0E6B8C"/>
              </a:solidFill>
              <a:ln w="9525" cap="flat">
                <a:solidFill>
                  <a:srgbClr val="0E6B8C"/>
                </a:solidFill>
                <a:prstDash val="solid"/>
                <a:round/>
              </a:ln>
              <a:effectLst/>
            </c:spPr>
          </c:marker>
          <c:cat>
            <c:multiLvlStrRef>
              <c:f>Sheet1!$A$2:$A$7</c:f>
              <c:multiLvlStrCache>
                <c:ptCount val="6"/>
                <c:lvl>
                  <c:pt idx="0">
                    <c:v>Init</c:v>
                  </c:pt>
                  <c:pt idx="1">
                    <c:v>Iter 1</c:v>
                  </c:pt>
                  <c:pt idx="2">
                    <c:v>Iter 2</c:v>
                  </c:pt>
                  <c:pt idx="3">
                    <c:v>Iter 3</c:v>
                  </c:pt>
                  <c:pt idx="4">
                    <c:v>Iter 4</c:v>
                  </c:pt>
                  <c:pt idx="5">
                    <c:v>Iter 5</c:v>
                  </c:pt>
                </c:lvl>
              </c:multiLvlStrCache>
            </c:multiLvlStrRef>
          </c:cat>
          <c:val>
            <c:numRef>
              <c:f>Sheet1!$B$2:$B$7</c:f>
              <c:numCache>
                <c:formatCode>General</c:formatCode>
                <c:ptCount val="6"/>
                <c:pt idx="0">
                  <c:v>51.168</c:v>
                </c:pt>
                <c:pt idx="1">
                  <c:v>54.01</c:v>
                </c:pt>
                <c:pt idx="2">
                  <c:v>54.778</c:v>
                </c:pt>
                <c:pt idx="3">
                  <c:v>55.433</c:v>
                </c:pt>
                <c:pt idx="4">
                  <c:v>55.753</c:v>
                </c:pt>
                <c:pt idx="5">
                  <c:v>56.048</c:v>
                </c:pt>
              </c:numCache>
            </c:numRef>
          </c:val>
          <c:smooth val="0"/>
        </c:ser>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46778"/>
                </a:solidFill>
                <a:latin typeface="Arial"/>
              </a:defRPr>
            </a:pPr>
            <a:endParaRPr lang="en-US"/>
          </a:p>
        </c:txPr>
        <c:crossAx val="2094734552"/>
        <c:crosses val="autoZero"/>
        <c:auto val="1"/>
        <c:lblAlgn val="ctr"/>
        <c:noMultiLvlLbl val="1"/>
      </c:catAx>
      <c:valAx>
        <c:axId val="2094734552"/>
        <c:scaling>
          <c:orientation val="minMax"/>
          <c:max val="57"/>
          <c:min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4677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extension of the ablation experiment analysis to full Multi-Objective Bayesian Optimization using Expected Hypervolume Improvement as the acquisition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instead of optimizing a single objective, we seek the full Pareto front. EHVI is the gold standard acquisition function for MOBO because it directly measures improvement in the dominated hypervolume — the most informative scalar measure of Pareto front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GPs are used rather than a joint MOGP because qLogEHVI already couples the objectives through hypervolume geometry. The longer lengthscales for Y3 make sense — density is nearly a linear function of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out of 13 initial conditions are Pareto-optimal. This is because the design space is relatively small and all three objectives trade off differently across the design. The one dominated point (X1=12.5, X2=5) is dominated by nearby conditions that are better on all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acquisition landscape shows highest EHVI near X1~20, X2~2, which is a region with high carbon black (low ablation rate) and low regolith density benefit. The red star marks the first recommended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hypervolume gain occurs in the first iteration when the surrogate still has wide uncertainty. Diminishing returns are expected as the model becomes more confident. Iterations 4-5 explore lower X1 regions, filling gaps in the ablation-rate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EHVI acquisition function shows a clear exploration-exploitation balance. Early iterations exploit the high-X1 region for ablation rate improvement; later iterations explore other regions to diversify the Pareto front in other objective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pairwise Pareto projections show that MOBO systematically expands the dominated hypervolume. Most new Pareto solutions come from the high X1, low X2 region (red stars). The 3D comparison shows the Pareto front pushed outward toward lower values on all three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top Pareto solutions are dominated by BO-recommended points. The best ablation rate achieved (5.49 µm/s at X1=20, X2=2.42) is lower than any of the original 13 conditions. This demonstrates real discovery of new better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preference scenarios reveal that the optimal design depends heavily on engineering priorities. When ablation dominates, high X1 low X2 is preferred. When density matters most, low X1 / low X2 wins because density is monotonically increasing in both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parallel coordinates plot is the clearest view of how BO-recommended solutions differ from the initial data. Red lines (BO) show systematically lower Y1 and Y2 values while Y3 is higher — exactly the trade-off that enables better Pareto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discussion points: (1) MOBO is sample-efficient; (2) the Pareto front IS the answer to a multi-objective problem — no single solution wins; (3) GPs as digital twins enable virtual screening; (4) the heteroscedastic MOGP from the previous analysis is a natural next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MOBO framework transforms material optimization from a grid-search problem to an intelligent sequential experiment design. Each experiment is chosen to maximally improve our knowledge of the full Pareto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1097280"/>
            <a:ext cx="5303520" cy="5303520"/>
          </a:xfrm>
          <a:prstGeom prst="ellipse">
            <a:avLst/>
          </a:prstGeom>
          <a:solidFill>
            <a:srgbClr val="1B3A5C">
              <a:alpha val="42000"/>
            </a:srgbClr>
          </a:solidFill>
          <a:ln w="12700">
            <a:solidFill>
              <a:srgbClr val="1B3A5C">
                <a:alpha val="42000"/>
              </a:srgbClr>
            </a:solidFill>
            <a:prstDash val="solid"/>
          </a:ln>
        </p:spPr>
      </p:sp>
      <p:sp>
        <p:nvSpPr>
          <p:cNvPr id="3" name="Shape 1"/>
          <p:cNvSpPr/>
          <p:nvPr/>
        </p:nvSpPr>
        <p:spPr>
          <a:xfrm>
            <a:off x="-1097280" y="3291840"/>
            <a:ext cx="2926080" cy="2926080"/>
          </a:xfrm>
          <a:prstGeom prst="ellipse">
            <a:avLst/>
          </a:prstGeom>
          <a:solidFill>
            <a:srgbClr val="0E6B8C">
              <a:alpha val="32000"/>
            </a:srgbClr>
          </a:solidFill>
          <a:ln w="12700">
            <a:solidFill>
              <a:srgbClr val="0E6B8C">
                <a:alpha val="32000"/>
              </a:srgbClr>
            </a:solidFill>
            <a:prstDash val="solid"/>
          </a:ln>
        </p:spPr>
      </p:sp>
      <p:sp>
        <p:nvSpPr>
          <p:cNvPr id="4" name="Text 2"/>
          <p:cNvSpPr/>
          <p:nvPr/>
        </p:nvSpPr>
        <p:spPr>
          <a:xfrm>
            <a:off x="548640" y="640080"/>
            <a:ext cx="7772400" cy="914400"/>
          </a:xfrm>
          <a:prstGeom prst="rect">
            <a:avLst/>
          </a:prstGeom>
          <a:noFill/>
          <a:ln/>
        </p:spPr>
        <p:txBody>
          <a:bodyPr wrap="square"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Multi-Objective Bayesian Optimization</a:t>
            </a:r>
            <a:endParaRPr lang="en-US" sz="3800" dirty="0"/>
          </a:p>
        </p:txBody>
      </p:sp>
      <p:sp>
        <p:nvSpPr>
          <p:cNvPr id="5" name="Text 3"/>
          <p:cNvSpPr/>
          <p:nvPr/>
        </p:nvSpPr>
        <p:spPr>
          <a:xfrm>
            <a:off x="548640" y="1691640"/>
            <a:ext cx="8046720" cy="475488"/>
          </a:xfrm>
          <a:prstGeom prst="rect">
            <a:avLst/>
          </a:prstGeom>
          <a:noFill/>
          <a:ln/>
        </p:spPr>
        <p:txBody>
          <a:bodyPr wrap="square" rtlCol="0" anchor="ctr"/>
          <a:lstStyle/>
          <a:p>
            <a:pPr algn="l" indent="0" marL="0">
              <a:buNone/>
            </a:pPr>
            <a:r>
              <a:rPr lang="en-US" sz="1400" dirty="0">
                <a:solidFill>
                  <a:srgbClr val="C8DCF0"/>
                </a:solidFill>
                <a:latin typeface="Calibri" pitchFamily="34" charset="0"/>
                <a:ea typeface="Calibri" pitchFamily="34" charset="-122"/>
                <a:cs typeface="Calibri" pitchFamily="34" charset="-120"/>
              </a:rPr>
              <a:t>Ablation Experiment  ·  3 Objectives  ·  Expected Hypervolume Improvement</a:t>
            </a:r>
            <a:endParaRPr lang="en-US" sz="1400" dirty="0"/>
          </a:p>
        </p:txBody>
      </p:sp>
      <p:sp>
        <p:nvSpPr>
          <p:cNvPr id="6" name="Shape 4"/>
          <p:cNvSpPr/>
          <p:nvPr/>
        </p:nvSpPr>
        <p:spPr>
          <a:xfrm>
            <a:off x="548640" y="2267712"/>
            <a:ext cx="2377440" cy="54864"/>
          </a:xfrm>
          <a:prstGeom prst="rect">
            <a:avLst/>
          </a:prstGeom>
          <a:solidFill>
            <a:srgbClr val="E6A817"/>
          </a:solidFill>
          <a:ln w="12700">
            <a:solidFill>
              <a:srgbClr val="E6A817"/>
            </a:solidFill>
            <a:prstDash val="solid"/>
          </a:ln>
        </p:spPr>
      </p:sp>
      <p:sp>
        <p:nvSpPr>
          <p:cNvPr id="7" name="Shape 5"/>
          <p:cNvSpPr/>
          <p:nvPr/>
        </p:nvSpPr>
        <p:spPr>
          <a:xfrm>
            <a:off x="548640" y="2606040"/>
            <a:ext cx="1965960" cy="2331720"/>
          </a:xfrm>
          <a:prstGeom prst="roundRect">
            <a:avLst>
              <a:gd name="adj" fmla="val 5581"/>
            </a:avLst>
          </a:prstGeom>
          <a:solidFill>
            <a:srgbClr val="1B3A5C"/>
          </a:solidFill>
          <a:ln/>
          <a:effectLst>
            <a:outerShdw sx="100000" sy="100000" kx="0" ky="0" algn="bl" rotWithShape="0" blurRad="101600" dist="38100" dir="2700000">
              <a:srgbClr val="000000">
                <a:alpha val="10000"/>
              </a:srgbClr>
            </a:outerShdw>
          </a:effectLst>
        </p:spPr>
      </p:sp>
      <p:sp>
        <p:nvSpPr>
          <p:cNvPr id="8" name="Text 6"/>
          <p:cNvSpPr/>
          <p:nvPr/>
        </p:nvSpPr>
        <p:spPr>
          <a:xfrm>
            <a:off x="548640" y="2670048"/>
            <a:ext cx="1965960" cy="658368"/>
          </a:xfrm>
          <a:prstGeom prst="rect">
            <a:avLst/>
          </a:prstGeom>
          <a:noFill/>
          <a:ln/>
        </p:spPr>
        <p:txBody>
          <a:bodyPr wrap="square" rtlCol="0" anchor="ctr"/>
          <a:lstStyle/>
          <a:p>
            <a:pPr algn="ctr" indent="0" marL="0">
              <a:buNone/>
            </a:pPr>
            <a:r>
              <a:rPr lang="en-US" sz="2400" b="1" dirty="0">
                <a:solidFill>
                  <a:srgbClr val="E6A817"/>
                </a:solidFill>
                <a:latin typeface="Cambria" pitchFamily="34" charset="0"/>
                <a:ea typeface="Cambria" pitchFamily="34" charset="-122"/>
                <a:cs typeface="Cambria" pitchFamily="34" charset="-120"/>
              </a:rPr>
              <a:t>2</a:t>
            </a:r>
            <a:endParaRPr lang="en-US" sz="2400" dirty="0"/>
          </a:p>
        </p:txBody>
      </p:sp>
      <p:sp>
        <p:nvSpPr>
          <p:cNvPr id="9" name="Text 7"/>
          <p:cNvSpPr/>
          <p:nvPr/>
        </p:nvSpPr>
        <p:spPr>
          <a:xfrm>
            <a:off x="548640" y="3310128"/>
            <a:ext cx="196596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Inputs</a:t>
            </a:r>
            <a:endParaRPr lang="en-US" sz="1050" dirty="0"/>
          </a:p>
        </p:txBody>
      </p:sp>
      <p:sp>
        <p:nvSpPr>
          <p:cNvPr id="10" name="Text 8"/>
          <p:cNvSpPr/>
          <p:nvPr/>
        </p:nvSpPr>
        <p:spPr>
          <a:xfrm>
            <a:off x="548640" y="3675888"/>
            <a:ext cx="1965960" cy="594360"/>
          </a:xfrm>
          <a:prstGeom prst="rect">
            <a:avLst/>
          </a:prstGeom>
          <a:noFill/>
          <a:ln/>
        </p:spPr>
        <p:txBody>
          <a:bodyPr wrap="square" rtlCol="0" anchor="ctr"/>
          <a:lstStyle/>
          <a:p>
            <a:pPr algn="ctr" indent="0" marL="0">
              <a:buNone/>
            </a:pPr>
            <a:r>
              <a:rPr lang="en-US" sz="900" dirty="0">
                <a:solidFill>
                  <a:srgbClr val="C8DCF0"/>
                </a:solidFill>
                <a:latin typeface="Calibri" pitchFamily="34" charset="0"/>
                <a:ea typeface="Calibri" pitchFamily="34" charset="-122"/>
                <a:cs typeface="Calibri" pitchFamily="34" charset="-120"/>
              </a:rPr>
              <a:t>Carbon black wt%</a:t>
            </a:r>
            <a:endParaRPr lang="en-US" sz="900" dirty="0"/>
          </a:p>
          <a:p>
            <a:pPr algn="ctr" indent="0" marL="0">
              <a:buNone/>
            </a:pPr>
            <a:r>
              <a:rPr lang="en-US" sz="900" dirty="0">
                <a:solidFill>
                  <a:srgbClr val="C8DCF0"/>
                </a:solidFill>
                <a:latin typeface="Calibri" pitchFamily="34" charset="0"/>
                <a:ea typeface="Calibri" pitchFamily="34" charset="-122"/>
                <a:cs typeface="Calibri" pitchFamily="34" charset="-120"/>
              </a:rPr>
              <a:t>Fe-rich regolith wt%</a:t>
            </a:r>
            <a:endParaRPr lang="en-US" sz="900" dirty="0"/>
          </a:p>
        </p:txBody>
      </p:sp>
      <p:sp>
        <p:nvSpPr>
          <p:cNvPr id="11" name="Shape 9"/>
          <p:cNvSpPr/>
          <p:nvPr/>
        </p:nvSpPr>
        <p:spPr>
          <a:xfrm>
            <a:off x="2697480" y="2606040"/>
            <a:ext cx="1965960" cy="2331720"/>
          </a:xfrm>
          <a:prstGeom prst="roundRect">
            <a:avLst>
              <a:gd name="adj" fmla="val 5581"/>
            </a:avLst>
          </a:prstGeom>
          <a:solidFill>
            <a:srgbClr val="1B3A5C"/>
          </a:solidFill>
          <a:ln/>
          <a:effectLst>
            <a:outerShdw sx="100000" sy="100000" kx="0" ky="0" algn="bl" rotWithShape="0" blurRad="101600" dist="38100" dir="2700000">
              <a:srgbClr val="000000">
                <a:alpha val="10000"/>
              </a:srgbClr>
            </a:outerShdw>
          </a:effectLst>
        </p:spPr>
      </p:sp>
      <p:sp>
        <p:nvSpPr>
          <p:cNvPr id="12" name="Text 10"/>
          <p:cNvSpPr/>
          <p:nvPr/>
        </p:nvSpPr>
        <p:spPr>
          <a:xfrm>
            <a:off x="2697480" y="2670048"/>
            <a:ext cx="1965960" cy="658368"/>
          </a:xfrm>
          <a:prstGeom prst="rect">
            <a:avLst/>
          </a:prstGeom>
          <a:noFill/>
          <a:ln/>
        </p:spPr>
        <p:txBody>
          <a:bodyPr wrap="square" rtlCol="0" anchor="ctr"/>
          <a:lstStyle/>
          <a:p>
            <a:pPr algn="ctr" indent="0" marL="0">
              <a:buNone/>
            </a:pPr>
            <a:r>
              <a:rPr lang="en-US" sz="2400" b="1" dirty="0">
                <a:solidFill>
                  <a:srgbClr val="E6A817"/>
                </a:solidFill>
                <a:latin typeface="Cambria" pitchFamily="34" charset="0"/>
                <a:ea typeface="Cambria" pitchFamily="34" charset="-122"/>
                <a:cs typeface="Cambria" pitchFamily="34" charset="-120"/>
              </a:rPr>
              <a:t>3</a:t>
            </a:r>
            <a:endParaRPr lang="en-US" sz="2400" dirty="0"/>
          </a:p>
        </p:txBody>
      </p:sp>
      <p:sp>
        <p:nvSpPr>
          <p:cNvPr id="13" name="Text 11"/>
          <p:cNvSpPr/>
          <p:nvPr/>
        </p:nvSpPr>
        <p:spPr>
          <a:xfrm>
            <a:off x="2697480" y="3310128"/>
            <a:ext cx="196596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Objectives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(all minimized)</a:t>
            </a:r>
            <a:endParaRPr lang="en-US" sz="1050" dirty="0"/>
          </a:p>
        </p:txBody>
      </p:sp>
      <p:sp>
        <p:nvSpPr>
          <p:cNvPr id="14" name="Text 12"/>
          <p:cNvSpPr/>
          <p:nvPr/>
        </p:nvSpPr>
        <p:spPr>
          <a:xfrm>
            <a:off x="2697480" y="3675888"/>
            <a:ext cx="1965960" cy="594360"/>
          </a:xfrm>
          <a:prstGeom prst="rect">
            <a:avLst/>
          </a:prstGeom>
          <a:noFill/>
          <a:ln/>
        </p:spPr>
        <p:txBody>
          <a:bodyPr wrap="square" rtlCol="0" anchor="ctr"/>
          <a:lstStyle/>
          <a:p>
            <a:pPr algn="ctr" indent="0" marL="0">
              <a:buNone/>
            </a:pPr>
            <a:r>
              <a:rPr lang="en-US" sz="900" dirty="0">
                <a:solidFill>
                  <a:srgbClr val="C8DCF0"/>
                </a:solidFill>
                <a:latin typeface="Calibri" pitchFamily="34" charset="0"/>
                <a:ea typeface="Calibri" pitchFamily="34" charset="-122"/>
                <a:cs typeface="Calibri" pitchFamily="34" charset="-120"/>
              </a:rPr>
              <a:t>Ablation  ·  Temp  ·  Density</a:t>
            </a:r>
            <a:endParaRPr lang="en-US" sz="900" dirty="0"/>
          </a:p>
        </p:txBody>
      </p:sp>
      <p:sp>
        <p:nvSpPr>
          <p:cNvPr id="15" name="Shape 13"/>
          <p:cNvSpPr/>
          <p:nvPr/>
        </p:nvSpPr>
        <p:spPr>
          <a:xfrm>
            <a:off x="4846320" y="2606040"/>
            <a:ext cx="1965960" cy="2331720"/>
          </a:xfrm>
          <a:prstGeom prst="roundRect">
            <a:avLst>
              <a:gd name="adj" fmla="val 5581"/>
            </a:avLst>
          </a:prstGeom>
          <a:solidFill>
            <a:srgbClr val="1B3A5C"/>
          </a:solidFill>
          <a:ln/>
          <a:effectLst>
            <a:outerShdw sx="100000" sy="100000" kx="0" ky="0" algn="bl" rotWithShape="0" blurRad="101600" dist="38100" dir="2700000">
              <a:srgbClr val="000000">
                <a:alpha val="10000"/>
              </a:srgbClr>
            </a:outerShdw>
          </a:effectLst>
        </p:spPr>
      </p:sp>
      <p:sp>
        <p:nvSpPr>
          <p:cNvPr id="16" name="Text 14"/>
          <p:cNvSpPr/>
          <p:nvPr/>
        </p:nvSpPr>
        <p:spPr>
          <a:xfrm>
            <a:off x="4846320" y="2670048"/>
            <a:ext cx="1965960" cy="658368"/>
          </a:xfrm>
          <a:prstGeom prst="rect">
            <a:avLst/>
          </a:prstGeom>
          <a:noFill/>
          <a:ln/>
        </p:spPr>
        <p:txBody>
          <a:bodyPr wrap="square" rtlCol="0" anchor="ctr"/>
          <a:lstStyle/>
          <a:p>
            <a:pPr algn="ctr" indent="0" marL="0">
              <a:buNone/>
            </a:pPr>
            <a:r>
              <a:rPr lang="en-US" sz="1800" b="1" dirty="0">
                <a:solidFill>
                  <a:srgbClr val="E6A817"/>
                </a:solidFill>
                <a:latin typeface="Cambria" pitchFamily="34" charset="0"/>
                <a:ea typeface="Cambria" pitchFamily="34" charset="-122"/>
                <a:cs typeface="Cambria" pitchFamily="34" charset="-120"/>
              </a:rPr>
              <a:t>13 → 23</a:t>
            </a:r>
            <a:endParaRPr lang="en-US" sz="1800" dirty="0"/>
          </a:p>
        </p:txBody>
      </p:sp>
      <p:sp>
        <p:nvSpPr>
          <p:cNvPr id="17" name="Text 15"/>
          <p:cNvSpPr/>
          <p:nvPr/>
        </p:nvSpPr>
        <p:spPr>
          <a:xfrm>
            <a:off x="4846320" y="3310128"/>
            <a:ext cx="196596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Total data points</a:t>
            </a:r>
            <a:endParaRPr lang="en-US" sz="1050" dirty="0"/>
          </a:p>
        </p:txBody>
      </p:sp>
      <p:sp>
        <p:nvSpPr>
          <p:cNvPr id="18" name="Text 16"/>
          <p:cNvSpPr/>
          <p:nvPr/>
        </p:nvSpPr>
        <p:spPr>
          <a:xfrm>
            <a:off x="4846320" y="3675888"/>
            <a:ext cx="1965960" cy="594360"/>
          </a:xfrm>
          <a:prstGeom prst="rect">
            <a:avLst/>
          </a:prstGeom>
          <a:noFill/>
          <a:ln/>
        </p:spPr>
        <p:txBody>
          <a:bodyPr wrap="square" rtlCol="0" anchor="ctr"/>
          <a:lstStyle/>
          <a:p>
            <a:pPr algn="ctr" indent="0" marL="0">
              <a:buNone/>
            </a:pPr>
            <a:r>
              <a:rPr lang="en-US" sz="900" dirty="0">
                <a:solidFill>
                  <a:srgbClr val="C8DCF0"/>
                </a:solidFill>
                <a:latin typeface="Calibri" pitchFamily="34" charset="0"/>
                <a:ea typeface="Calibri" pitchFamily="34" charset="-122"/>
                <a:cs typeface="Calibri" pitchFamily="34" charset="-120"/>
              </a:rPr>
              <a:t>13 initial + 10 BO evaluations</a:t>
            </a:r>
            <a:endParaRPr lang="en-US" sz="900" dirty="0"/>
          </a:p>
        </p:txBody>
      </p:sp>
      <p:sp>
        <p:nvSpPr>
          <p:cNvPr id="19" name="Shape 17"/>
          <p:cNvSpPr/>
          <p:nvPr/>
        </p:nvSpPr>
        <p:spPr>
          <a:xfrm>
            <a:off x="6995160" y="2606040"/>
            <a:ext cx="1965960" cy="2331720"/>
          </a:xfrm>
          <a:prstGeom prst="roundRect">
            <a:avLst>
              <a:gd name="adj" fmla="val 5581"/>
            </a:avLst>
          </a:prstGeom>
          <a:solidFill>
            <a:srgbClr val="1B3A5C"/>
          </a:solidFill>
          <a:ln/>
          <a:effectLst>
            <a:outerShdw sx="100000" sy="100000" kx="0" ky="0" algn="bl" rotWithShape="0" blurRad="101600" dist="38100" dir="2700000">
              <a:srgbClr val="000000">
                <a:alpha val="10000"/>
              </a:srgbClr>
            </a:outerShdw>
          </a:effectLst>
        </p:spPr>
      </p:sp>
      <p:sp>
        <p:nvSpPr>
          <p:cNvPr id="20" name="Text 18"/>
          <p:cNvSpPr/>
          <p:nvPr/>
        </p:nvSpPr>
        <p:spPr>
          <a:xfrm>
            <a:off x="6995160" y="2670048"/>
            <a:ext cx="1965960" cy="658368"/>
          </a:xfrm>
          <a:prstGeom prst="rect">
            <a:avLst/>
          </a:prstGeom>
          <a:noFill/>
          <a:ln/>
        </p:spPr>
        <p:txBody>
          <a:bodyPr wrap="square" rtlCol="0" anchor="ctr"/>
          <a:lstStyle/>
          <a:p>
            <a:pPr algn="ctr" indent="0" marL="0">
              <a:buNone/>
            </a:pPr>
            <a:r>
              <a:rPr lang="en-US" sz="1800" b="1" dirty="0">
                <a:solidFill>
                  <a:srgbClr val="E6A817"/>
                </a:solidFill>
                <a:latin typeface="Cambria" pitchFamily="34" charset="0"/>
                <a:ea typeface="Cambria" pitchFamily="34" charset="-122"/>
                <a:cs typeface="Cambria" pitchFamily="34" charset="-120"/>
              </a:rPr>
              <a:t>9.54%</a:t>
            </a:r>
            <a:endParaRPr lang="en-US" sz="1800" dirty="0"/>
          </a:p>
        </p:txBody>
      </p:sp>
      <p:sp>
        <p:nvSpPr>
          <p:cNvPr id="21" name="Text 19"/>
          <p:cNvSpPr/>
          <p:nvPr/>
        </p:nvSpPr>
        <p:spPr>
          <a:xfrm>
            <a:off x="6995160" y="3310128"/>
            <a:ext cx="1965960" cy="36576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HV improvement</a:t>
            </a:r>
            <a:endParaRPr lang="en-US" sz="1050" dirty="0"/>
          </a:p>
        </p:txBody>
      </p:sp>
      <p:sp>
        <p:nvSpPr>
          <p:cNvPr id="22" name="Text 20"/>
          <p:cNvSpPr/>
          <p:nvPr/>
        </p:nvSpPr>
        <p:spPr>
          <a:xfrm>
            <a:off x="6995160" y="3675888"/>
            <a:ext cx="1965960" cy="594360"/>
          </a:xfrm>
          <a:prstGeom prst="rect">
            <a:avLst/>
          </a:prstGeom>
          <a:noFill/>
          <a:ln/>
        </p:spPr>
        <p:txBody>
          <a:bodyPr wrap="square" rtlCol="0" anchor="ctr"/>
          <a:lstStyle/>
          <a:p>
            <a:pPr algn="ctr" indent="0" marL="0">
              <a:buNone/>
            </a:pPr>
            <a:r>
              <a:rPr lang="en-US" sz="900" dirty="0">
                <a:solidFill>
                  <a:srgbClr val="C8DCF0"/>
                </a:solidFill>
                <a:latin typeface="Calibri" pitchFamily="34" charset="0"/>
                <a:ea typeface="Calibri" pitchFamily="34" charset="-122"/>
                <a:cs typeface="Calibri" pitchFamily="34" charset="-120"/>
              </a:rPr>
              <a:t>Hypervolume: 51.17 → 56.05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  |  Problem Formulation</a:t>
            </a:r>
            <a:endParaRPr lang="en-US" sz="2000" dirty="0"/>
          </a:p>
        </p:txBody>
      </p:sp>
      <p:sp>
        <p:nvSpPr>
          <p:cNvPr id="4" name="Shape 2"/>
          <p:cNvSpPr/>
          <p:nvPr/>
        </p:nvSpPr>
        <p:spPr>
          <a:xfrm>
            <a:off x="320040" y="804672"/>
            <a:ext cx="4160520" cy="4160520"/>
          </a:xfrm>
          <a:prstGeom prst="roundRect">
            <a:avLst>
              <a:gd name="adj" fmla="val 2198"/>
            </a:avLst>
          </a:prstGeom>
          <a:solidFill>
            <a:srgbClr val="FFFFFF"/>
          </a:solidFill>
          <a:ln/>
          <a:effectLst>
            <a:outerShdw sx="100000" sy="100000" kx="0" ky="0" algn="bl" rotWithShape="0" blurRad="101600" dist="38100" dir="2700000">
              <a:srgbClr val="000000">
                <a:alpha val="10000"/>
              </a:srgbClr>
            </a:outerShdw>
          </a:effectLst>
        </p:spPr>
      </p:sp>
      <p:sp>
        <p:nvSpPr>
          <p:cNvPr id="5" name="Text 3"/>
          <p:cNvSpPr/>
          <p:nvPr/>
        </p:nvSpPr>
        <p:spPr>
          <a:xfrm>
            <a:off x="457200" y="868680"/>
            <a:ext cx="3886200" cy="384048"/>
          </a:xfrm>
          <a:prstGeom prst="rect">
            <a:avLst/>
          </a:prstGeom>
          <a:noFill/>
          <a:ln/>
        </p:spPr>
        <p:txBody>
          <a:bodyPr wrap="square"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Optimization Problem</a:t>
            </a:r>
            <a:endParaRPr lang="en-US" sz="1300" dirty="0"/>
          </a:p>
        </p:txBody>
      </p:sp>
      <p:sp>
        <p:nvSpPr>
          <p:cNvPr id="6" name="Text 4"/>
          <p:cNvSpPr/>
          <p:nvPr/>
        </p:nvSpPr>
        <p:spPr>
          <a:xfrm>
            <a:off x="457200" y="1298448"/>
            <a:ext cx="3886200" cy="3429000"/>
          </a:xfrm>
          <a:prstGeom prst="rect">
            <a:avLst/>
          </a:prstGeom>
          <a:noFill/>
          <a:ln/>
        </p:spPr>
        <p:txBody>
          <a:bodyPr wrap="square" rtlCol="0" anchor="ctr"/>
          <a:lstStyle/>
          <a:p>
            <a:pPr indent="0" marL="0">
              <a:buNone/>
            </a:pPr>
            <a:r>
              <a:rPr lang="en-US" sz="1150" b="1" dirty="0">
                <a:solidFill>
                  <a:srgbClr val="1A2A3A"/>
                </a:solidFill>
                <a:latin typeface="Calibri" pitchFamily="34" charset="0"/>
                <a:ea typeface="Calibri" pitchFamily="34" charset="-122"/>
                <a:cs typeface="Calibri" pitchFamily="34" charset="-120"/>
              </a:rPr>
              <a:t>min   [f₁(x), f₂(x), f₃(x)]</a:t>
            </a: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 x∈𝒳</a:t>
            </a:r>
            <a:endParaRPr lang="en-US" sz="1150" dirty="0"/>
          </a:p>
          <a:p>
            <a:pPr indent="0" marL="0">
              <a:buNone/>
            </a:pP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f₁ = Ablation rate (µm/s)</a:t>
            </a: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f₂ = Backside temperature (°C)</a:t>
            </a: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f₃ = Density (g/cm³)</a:t>
            </a:r>
            <a:endParaRPr lang="en-US" sz="1150" dirty="0"/>
          </a:p>
          <a:p>
            <a:pPr indent="0" marL="0">
              <a:buNone/>
            </a:pP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x = [X₁, X₂]</a:t>
            </a: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X₁ ∈ [5, 20]  (Carbon black wt%)</a:t>
            </a:r>
            <a:endParaRPr lang="en-US" sz="1150" dirty="0"/>
          </a:p>
          <a:p>
            <a:pPr indent="0" marL="0">
              <a:buNone/>
            </a:pPr>
            <a:r>
              <a:rPr lang="en-US" sz="1150" dirty="0">
                <a:solidFill>
                  <a:srgbClr val="1A2A3A"/>
                </a:solidFill>
                <a:latin typeface="Calibri" pitchFamily="34" charset="0"/>
                <a:ea typeface="Calibri" pitchFamily="34" charset="-122"/>
                <a:cs typeface="Calibri" pitchFamily="34" charset="-120"/>
              </a:rPr>
              <a:t>X₂ ∈ [1, 5]   (Fe-rich regolith wt%)</a:t>
            </a:r>
            <a:endParaRPr lang="en-US" sz="1150" dirty="0"/>
          </a:p>
        </p:txBody>
      </p:sp>
      <p:sp>
        <p:nvSpPr>
          <p:cNvPr id="7" name="Shape 5"/>
          <p:cNvSpPr/>
          <p:nvPr/>
        </p:nvSpPr>
        <p:spPr>
          <a:xfrm>
            <a:off x="4709160" y="804672"/>
            <a:ext cx="4114800" cy="960120"/>
          </a:xfrm>
          <a:prstGeom prst="roundRect">
            <a:avLst>
              <a:gd name="adj" fmla="val 9524"/>
            </a:avLst>
          </a:prstGeom>
          <a:solidFill>
            <a:srgbClr val="FFFFFF"/>
          </a:solidFill>
          <a:ln/>
          <a:effectLst>
            <a:outerShdw sx="100000" sy="100000" kx="0" ky="0" algn="bl" rotWithShape="0" blurRad="101600" dist="38100" dir="2700000">
              <a:srgbClr val="000000">
                <a:alpha val="10000"/>
              </a:srgbClr>
            </a:outerShdw>
          </a:effectLst>
        </p:spPr>
      </p:sp>
      <p:sp>
        <p:nvSpPr>
          <p:cNvPr id="8" name="Shape 6"/>
          <p:cNvSpPr/>
          <p:nvPr/>
        </p:nvSpPr>
        <p:spPr>
          <a:xfrm>
            <a:off x="4736592" y="950976"/>
            <a:ext cx="457200" cy="457200"/>
          </a:xfrm>
          <a:prstGeom prst="ellipse">
            <a:avLst/>
          </a:prstGeom>
          <a:solidFill>
            <a:srgbClr val="0E6B8C"/>
          </a:solidFill>
          <a:ln w="12700">
            <a:solidFill>
              <a:srgbClr val="0E6B8C"/>
            </a:solidFill>
            <a:prstDash val="solid"/>
          </a:ln>
        </p:spPr>
      </p:sp>
      <p:sp>
        <p:nvSpPr>
          <p:cNvPr id="9" name="Text 7"/>
          <p:cNvSpPr/>
          <p:nvPr/>
        </p:nvSpPr>
        <p:spPr>
          <a:xfrm>
            <a:off x="4736592" y="95097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321808" y="850392"/>
            <a:ext cx="338328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Fit Surrogates</a:t>
            </a:r>
            <a:endParaRPr lang="en-US" sz="1200" dirty="0"/>
          </a:p>
        </p:txBody>
      </p:sp>
      <p:sp>
        <p:nvSpPr>
          <p:cNvPr id="11" name="Text 9"/>
          <p:cNvSpPr/>
          <p:nvPr/>
        </p:nvSpPr>
        <p:spPr>
          <a:xfrm>
            <a:off x="5321808" y="1216152"/>
            <a:ext cx="3383280" cy="475488"/>
          </a:xfrm>
          <a:prstGeom prst="rect">
            <a:avLst/>
          </a:prstGeom>
          <a:noFill/>
          <a:ln/>
        </p:spPr>
        <p:txBody>
          <a:bodyPr wrap="square" rtlCol="0" anchor="ctr"/>
          <a:lstStyle/>
          <a:p>
            <a:pPr indent="0" marL="0">
              <a:buNone/>
            </a:pPr>
            <a:r>
              <a:rPr lang="en-US" sz="950" dirty="0">
                <a:solidFill>
                  <a:srgbClr val="546778"/>
                </a:solidFill>
                <a:latin typeface="Calibri" pitchFamily="34" charset="0"/>
                <a:ea typeface="Calibri" pitchFamily="34" charset="-122"/>
                <a:cs typeface="Calibri" pitchFamily="34" charset="-120"/>
              </a:rPr>
              <a:t>Independent SingleTaskGP per objective</a:t>
            </a:r>
            <a:endParaRPr lang="en-US" sz="950" dirty="0"/>
          </a:p>
          <a:p>
            <a:pPr indent="0" marL="0">
              <a:buNone/>
            </a:pPr>
            <a:r>
              <a:rPr lang="en-US" sz="950" dirty="0">
                <a:solidFill>
                  <a:srgbClr val="546778"/>
                </a:solidFill>
                <a:latin typeface="Calibri" pitchFamily="34" charset="0"/>
                <a:ea typeface="Calibri" pitchFamily="34" charset="-122"/>
                <a:cs typeface="Calibri" pitchFamily="34" charset="-120"/>
              </a:rPr>
              <a:t>(Matérn 5/2 kernel, output standardized)</a:t>
            </a:r>
            <a:endParaRPr lang="en-US" sz="950" dirty="0"/>
          </a:p>
        </p:txBody>
      </p:sp>
      <p:sp>
        <p:nvSpPr>
          <p:cNvPr id="12" name="Shape 10"/>
          <p:cNvSpPr/>
          <p:nvPr/>
        </p:nvSpPr>
        <p:spPr>
          <a:xfrm>
            <a:off x="4709160" y="1856232"/>
            <a:ext cx="4114800" cy="960120"/>
          </a:xfrm>
          <a:prstGeom prst="roundRect">
            <a:avLst>
              <a:gd name="adj" fmla="val 9524"/>
            </a:avLst>
          </a:prstGeom>
          <a:solidFill>
            <a:srgbClr val="FFFFFF"/>
          </a:solidFill>
          <a:ln/>
          <a:effectLst>
            <a:outerShdw sx="100000" sy="100000" kx="0" ky="0" algn="bl" rotWithShape="0" blurRad="101600" dist="38100" dir="2700000">
              <a:srgbClr val="000000">
                <a:alpha val="10000"/>
              </a:srgbClr>
            </a:outerShdw>
          </a:effectLst>
        </p:spPr>
      </p:sp>
      <p:sp>
        <p:nvSpPr>
          <p:cNvPr id="13" name="Shape 11"/>
          <p:cNvSpPr/>
          <p:nvPr/>
        </p:nvSpPr>
        <p:spPr>
          <a:xfrm>
            <a:off x="4736592" y="2002536"/>
            <a:ext cx="457200" cy="457200"/>
          </a:xfrm>
          <a:prstGeom prst="ellipse">
            <a:avLst/>
          </a:prstGeom>
          <a:solidFill>
            <a:srgbClr val="0E6B8C"/>
          </a:solidFill>
          <a:ln w="12700">
            <a:solidFill>
              <a:srgbClr val="0E6B8C"/>
            </a:solidFill>
            <a:prstDash val="solid"/>
          </a:ln>
        </p:spPr>
      </p:sp>
      <p:sp>
        <p:nvSpPr>
          <p:cNvPr id="14" name="Text 12"/>
          <p:cNvSpPr/>
          <p:nvPr/>
        </p:nvSpPr>
        <p:spPr>
          <a:xfrm>
            <a:off x="4736592" y="200253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321808" y="1901952"/>
            <a:ext cx="338328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Find Pareto Front</a:t>
            </a:r>
            <a:endParaRPr lang="en-US" sz="1200" dirty="0"/>
          </a:p>
        </p:txBody>
      </p:sp>
      <p:sp>
        <p:nvSpPr>
          <p:cNvPr id="16" name="Text 14"/>
          <p:cNvSpPr/>
          <p:nvPr/>
        </p:nvSpPr>
        <p:spPr>
          <a:xfrm>
            <a:off x="5321808" y="2267712"/>
            <a:ext cx="3383280" cy="475488"/>
          </a:xfrm>
          <a:prstGeom prst="rect">
            <a:avLst/>
          </a:prstGeom>
          <a:noFill/>
          <a:ln/>
        </p:spPr>
        <p:txBody>
          <a:bodyPr wrap="square" rtlCol="0" anchor="ctr"/>
          <a:lstStyle/>
          <a:p>
            <a:pPr indent="0" marL="0">
              <a:buNone/>
            </a:pPr>
            <a:r>
              <a:rPr lang="en-US" sz="950" dirty="0">
                <a:solidFill>
                  <a:srgbClr val="546778"/>
                </a:solidFill>
                <a:latin typeface="Calibri" pitchFamily="34" charset="0"/>
                <a:ea typeface="Calibri" pitchFamily="34" charset="-122"/>
                <a:cs typeface="Calibri" pitchFamily="34" charset="-120"/>
              </a:rPr>
              <a:t>FastNondominatedPartitioning</a:t>
            </a:r>
            <a:endParaRPr lang="en-US" sz="950" dirty="0"/>
          </a:p>
          <a:p>
            <a:pPr indent="0" marL="0">
              <a:buNone/>
            </a:pPr>
            <a:r>
              <a:rPr lang="en-US" sz="950" dirty="0">
                <a:solidFill>
                  <a:srgbClr val="546778"/>
                </a:solidFill>
                <a:latin typeface="Calibri" pitchFamily="34" charset="0"/>
                <a:ea typeface="Calibri" pitchFamily="34" charset="-122"/>
                <a:cs typeface="Calibri" pitchFamily="34" charset="-120"/>
              </a:rPr>
              <a:t>Hypervolume indicator HV(𝒫, r)</a:t>
            </a:r>
            <a:endParaRPr lang="en-US" sz="950" dirty="0"/>
          </a:p>
        </p:txBody>
      </p:sp>
      <p:sp>
        <p:nvSpPr>
          <p:cNvPr id="17" name="Shape 15"/>
          <p:cNvSpPr/>
          <p:nvPr/>
        </p:nvSpPr>
        <p:spPr>
          <a:xfrm>
            <a:off x="4709160" y="2907792"/>
            <a:ext cx="4114800" cy="960120"/>
          </a:xfrm>
          <a:prstGeom prst="roundRect">
            <a:avLst>
              <a:gd name="adj" fmla="val 9524"/>
            </a:avLst>
          </a:prstGeom>
          <a:solidFill>
            <a:srgbClr val="FFFFFF"/>
          </a:solidFill>
          <a:ln/>
          <a:effectLst>
            <a:outerShdw sx="100000" sy="100000" kx="0" ky="0" algn="bl" rotWithShape="0" blurRad="101600" dist="38100" dir="2700000">
              <a:srgbClr val="000000">
                <a:alpha val="10000"/>
              </a:srgbClr>
            </a:outerShdw>
          </a:effectLst>
        </p:spPr>
      </p:sp>
      <p:sp>
        <p:nvSpPr>
          <p:cNvPr id="18" name="Shape 16"/>
          <p:cNvSpPr/>
          <p:nvPr/>
        </p:nvSpPr>
        <p:spPr>
          <a:xfrm>
            <a:off x="4736592" y="3054096"/>
            <a:ext cx="457200" cy="457200"/>
          </a:xfrm>
          <a:prstGeom prst="ellipse">
            <a:avLst/>
          </a:prstGeom>
          <a:solidFill>
            <a:srgbClr val="0E6B8C"/>
          </a:solidFill>
          <a:ln w="12700">
            <a:solidFill>
              <a:srgbClr val="0E6B8C"/>
            </a:solidFill>
            <a:prstDash val="solid"/>
          </a:ln>
        </p:spPr>
      </p:sp>
      <p:sp>
        <p:nvSpPr>
          <p:cNvPr id="19" name="Text 17"/>
          <p:cNvSpPr/>
          <p:nvPr/>
        </p:nvSpPr>
        <p:spPr>
          <a:xfrm>
            <a:off x="4736592" y="305409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321808" y="2953512"/>
            <a:ext cx="338328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Optimize EHVI</a:t>
            </a:r>
            <a:endParaRPr lang="en-US" sz="1200" dirty="0"/>
          </a:p>
        </p:txBody>
      </p:sp>
      <p:sp>
        <p:nvSpPr>
          <p:cNvPr id="21" name="Text 19"/>
          <p:cNvSpPr/>
          <p:nvPr/>
        </p:nvSpPr>
        <p:spPr>
          <a:xfrm>
            <a:off x="5321808" y="3319272"/>
            <a:ext cx="3383280" cy="475488"/>
          </a:xfrm>
          <a:prstGeom prst="rect">
            <a:avLst/>
          </a:prstGeom>
          <a:noFill/>
          <a:ln/>
        </p:spPr>
        <p:txBody>
          <a:bodyPr wrap="square" rtlCol="0" anchor="ctr"/>
          <a:lstStyle/>
          <a:p>
            <a:pPr indent="0" marL="0">
              <a:buNone/>
            </a:pPr>
            <a:r>
              <a:rPr lang="en-US" sz="950" dirty="0">
                <a:solidFill>
                  <a:srgbClr val="546778"/>
                </a:solidFill>
                <a:latin typeface="Calibri" pitchFamily="34" charset="0"/>
                <a:ea typeface="Calibri" pitchFamily="34" charset="-122"/>
                <a:cs typeface="Calibri" pitchFamily="34" charset="-120"/>
              </a:rPr>
              <a:t>qLogExpectedHypervolumeImprovement</a:t>
            </a:r>
            <a:endParaRPr lang="en-US" sz="950" dirty="0"/>
          </a:p>
          <a:p>
            <a:pPr indent="0" marL="0">
              <a:buNone/>
            </a:pPr>
            <a:r>
              <a:rPr lang="en-US" sz="950" dirty="0">
                <a:solidFill>
                  <a:srgbClr val="546778"/>
                </a:solidFill>
                <a:latin typeface="Calibri" pitchFamily="34" charset="0"/>
                <a:ea typeface="Calibri" pitchFamily="34" charset="-122"/>
                <a:cs typeface="Calibri" pitchFamily="34" charset="-120"/>
              </a:rPr>
              <a:t>q=2 batch, multi-start L-BFGS-B</a:t>
            </a:r>
            <a:endParaRPr lang="en-US" sz="950" dirty="0"/>
          </a:p>
        </p:txBody>
      </p:sp>
      <p:sp>
        <p:nvSpPr>
          <p:cNvPr id="22" name="Shape 20"/>
          <p:cNvSpPr/>
          <p:nvPr/>
        </p:nvSpPr>
        <p:spPr>
          <a:xfrm>
            <a:off x="4709160" y="3959352"/>
            <a:ext cx="4114800" cy="960120"/>
          </a:xfrm>
          <a:prstGeom prst="roundRect">
            <a:avLst>
              <a:gd name="adj" fmla="val 9524"/>
            </a:avLst>
          </a:prstGeom>
          <a:solidFill>
            <a:srgbClr val="FFFFFF"/>
          </a:solidFill>
          <a:ln/>
          <a:effectLst>
            <a:outerShdw sx="100000" sy="100000" kx="0" ky="0" algn="bl" rotWithShape="0" blurRad="101600" dist="38100" dir="2700000">
              <a:srgbClr val="000000">
                <a:alpha val="10000"/>
              </a:srgbClr>
            </a:outerShdw>
          </a:effectLst>
        </p:spPr>
      </p:sp>
      <p:sp>
        <p:nvSpPr>
          <p:cNvPr id="23" name="Shape 21"/>
          <p:cNvSpPr/>
          <p:nvPr/>
        </p:nvSpPr>
        <p:spPr>
          <a:xfrm>
            <a:off x="4736592" y="4105656"/>
            <a:ext cx="457200" cy="457200"/>
          </a:xfrm>
          <a:prstGeom prst="ellipse">
            <a:avLst/>
          </a:prstGeom>
          <a:solidFill>
            <a:srgbClr val="0E6B8C"/>
          </a:solidFill>
          <a:ln w="12700">
            <a:solidFill>
              <a:srgbClr val="0E6B8C"/>
            </a:solidFill>
            <a:prstDash val="solid"/>
          </a:ln>
        </p:spPr>
      </p:sp>
      <p:sp>
        <p:nvSpPr>
          <p:cNvPr id="24" name="Text 22"/>
          <p:cNvSpPr/>
          <p:nvPr/>
        </p:nvSpPr>
        <p:spPr>
          <a:xfrm>
            <a:off x="4736592" y="4105656"/>
            <a:ext cx="4572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321808" y="4005072"/>
            <a:ext cx="338328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Evaluate &amp; Update</a:t>
            </a:r>
            <a:endParaRPr lang="en-US" sz="1200" dirty="0"/>
          </a:p>
        </p:txBody>
      </p:sp>
      <p:sp>
        <p:nvSpPr>
          <p:cNvPr id="26" name="Text 24"/>
          <p:cNvSpPr/>
          <p:nvPr/>
        </p:nvSpPr>
        <p:spPr>
          <a:xfrm>
            <a:off x="5321808" y="4370832"/>
            <a:ext cx="3383280" cy="475488"/>
          </a:xfrm>
          <a:prstGeom prst="rect">
            <a:avLst/>
          </a:prstGeom>
          <a:noFill/>
          <a:ln/>
        </p:spPr>
        <p:txBody>
          <a:bodyPr wrap="square" rtlCol="0" anchor="ctr"/>
          <a:lstStyle/>
          <a:p>
            <a:pPr indent="0" marL="0">
              <a:buNone/>
            </a:pPr>
            <a:r>
              <a:rPr lang="en-US" sz="950" dirty="0">
                <a:solidFill>
                  <a:srgbClr val="546778"/>
                </a:solidFill>
                <a:latin typeface="Calibri" pitchFamily="34" charset="0"/>
                <a:ea typeface="Calibri" pitchFamily="34" charset="-122"/>
                <a:cs typeface="Calibri" pitchFamily="34" charset="-120"/>
              </a:rPr>
              <a:t>Oracle evaluation at x*</a:t>
            </a:r>
            <a:endParaRPr lang="en-US" sz="950" dirty="0"/>
          </a:p>
          <a:p>
            <a:pPr indent="0" marL="0">
              <a:buNone/>
            </a:pPr>
            <a:r>
              <a:rPr lang="en-US" sz="950" dirty="0">
                <a:solidFill>
                  <a:srgbClr val="546778"/>
                </a:solidFill>
                <a:latin typeface="Calibri" pitchFamily="34" charset="0"/>
                <a:ea typeface="Calibri" pitchFamily="34" charset="-122"/>
                <a:cs typeface="Calibri" pitchFamily="34" charset="-120"/>
              </a:rPr>
              <a:t>Append (x*, y*) to dataset D</a:t>
            </a:r>
            <a:endParaRPr lang="en-US" sz="950" dirty="0"/>
          </a:p>
        </p:txBody>
      </p:sp>
      <p:sp>
        <p:nvSpPr>
          <p:cNvPr id="27" name="Shape 25"/>
          <p:cNvSpPr/>
          <p:nvPr/>
        </p:nvSpPr>
        <p:spPr>
          <a:xfrm>
            <a:off x="4956048" y="1764792"/>
            <a:ext cx="0" cy="91440"/>
          </a:xfrm>
          <a:prstGeom prst="line">
            <a:avLst/>
          </a:prstGeom>
          <a:noFill/>
          <a:ln w="19050">
            <a:solidFill>
              <a:srgbClr val="0E6B8C"/>
            </a:solidFill>
            <a:prstDash val="solid"/>
          </a:ln>
        </p:spPr>
      </p:sp>
      <p:sp>
        <p:nvSpPr>
          <p:cNvPr id="28" name="Shape 26"/>
          <p:cNvSpPr/>
          <p:nvPr/>
        </p:nvSpPr>
        <p:spPr>
          <a:xfrm>
            <a:off x="4956048" y="2816352"/>
            <a:ext cx="0" cy="91440"/>
          </a:xfrm>
          <a:prstGeom prst="line">
            <a:avLst/>
          </a:prstGeom>
          <a:noFill/>
          <a:ln w="19050">
            <a:solidFill>
              <a:srgbClr val="0E6B8C"/>
            </a:solidFill>
            <a:prstDash val="solid"/>
          </a:ln>
        </p:spPr>
      </p:sp>
      <p:sp>
        <p:nvSpPr>
          <p:cNvPr id="29" name="Shape 27"/>
          <p:cNvSpPr/>
          <p:nvPr/>
        </p:nvSpPr>
        <p:spPr>
          <a:xfrm>
            <a:off x="4956048" y="3867912"/>
            <a:ext cx="0" cy="91440"/>
          </a:xfrm>
          <a:prstGeom prst="line">
            <a:avLst/>
          </a:prstGeom>
          <a:noFill/>
          <a:ln w="19050">
            <a:solidFill>
              <a:srgbClr val="0E6B8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2  |  Surrogate Models (ModelListGP)</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8595360" cy="233172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20040" y="3182112"/>
          <a:ext cx="5303520" cy="1280160"/>
        </p:xfrm>
        <a:graphic>
          <a:graphicData uri="http://schemas.openxmlformats.org/drawingml/2006/table">
            <a:tbl>
              <a:tblPr/>
              <a:tblGrid>
                <a:gridCol w="1325880"/>
                <a:gridCol w="1325880"/>
                <a:gridCol w="1325880"/>
                <a:gridCol w="13258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Lengthscale ℓ₁ (X₁)</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Lengthscale ℓ₂ (X₂)</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Noise σ²</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r>
              <a:tr h="365760">
                <a:tc>
                  <a:txBody>
                    <a:bodyPr/>
                    <a:lstStyle/>
                    <a:p>
                      <a:pPr indent="0" marL="0">
                        <a:buNone/>
                      </a:pPr>
                      <a:r>
                        <a:rPr lang="en-US" sz="1100" b="1" dirty="0">
                          <a:solidFill>
                            <a:srgbClr val="1A2A3A"/>
                          </a:solidFill>
                          <a:latin typeface="Calibri" pitchFamily="34" charset="0"/>
                          <a:ea typeface="Calibri" pitchFamily="34" charset="-122"/>
                          <a:cs typeface="Calibri" pitchFamily="34" charset="-120"/>
                        </a:rPr>
                        <a:t>Y₁  Ablation Rate</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0.341</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0.394</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0.00594</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365760">
                <a:tc>
                  <a:txBody>
                    <a:bodyPr/>
                    <a:lstStyle/>
                    <a:p>
                      <a:pPr indent="0" marL="0">
                        <a:buNone/>
                      </a:pPr>
                      <a:r>
                        <a:rPr lang="en-US" sz="1100" b="1" dirty="0">
                          <a:solidFill>
                            <a:srgbClr val="1A2A3A"/>
                          </a:solidFill>
                          <a:latin typeface="Calibri" pitchFamily="34" charset="0"/>
                          <a:ea typeface="Calibri" pitchFamily="34" charset="-122"/>
                          <a:cs typeface="Calibri" pitchFamily="34" charset="-120"/>
                        </a:rPr>
                        <a:t>Y₂  Backside Temp</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0.602</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0.927</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0.01364</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A2A3A"/>
                          </a:solidFill>
                          <a:latin typeface="Calibri" pitchFamily="34" charset="0"/>
                          <a:ea typeface="Calibri" pitchFamily="34" charset="-122"/>
                          <a:cs typeface="Calibri" pitchFamily="34" charset="-120"/>
                        </a:rPr>
                        <a:t>Y₃  Density</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1.212</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1.810</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100" dirty="0">
                          <a:solidFill>
                            <a:srgbClr val="1A2A3A"/>
                          </a:solidFill>
                          <a:latin typeface="Calibri" pitchFamily="34" charset="0"/>
                          <a:ea typeface="Calibri" pitchFamily="34" charset="-122"/>
                          <a:cs typeface="Calibri" pitchFamily="34" charset="-120"/>
                        </a:rPr>
                        <a:t>0.00123</a:t>
                      </a:r>
                      <a:endParaRPr lang="en-US" sz="11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bl>
          </a:graphicData>
        </a:graphic>
      </p:graphicFrame>
      <p:sp>
        <p:nvSpPr>
          <p:cNvPr id="6" name="Shape 2"/>
          <p:cNvSpPr/>
          <p:nvPr/>
        </p:nvSpPr>
        <p:spPr>
          <a:xfrm>
            <a:off x="5806440" y="3182112"/>
            <a:ext cx="3017520" cy="1828800"/>
          </a:xfrm>
          <a:prstGeom prst="roundRect">
            <a:avLst>
              <a:gd name="adj" fmla="val 5000"/>
            </a:avLst>
          </a:prstGeom>
          <a:solidFill>
            <a:srgbClr val="FFFFFF"/>
          </a:solidFill>
          <a:ln/>
          <a:effectLst>
            <a:outerShdw sx="100000" sy="100000" kx="0" ky="0" algn="bl" rotWithShape="0" blurRad="101600" dist="38100" dir="2700000">
              <a:srgbClr val="000000">
                <a:alpha val="10000"/>
              </a:srgbClr>
            </a:outerShdw>
          </a:effectLst>
        </p:spPr>
      </p:sp>
      <p:sp>
        <p:nvSpPr>
          <p:cNvPr id="7" name="Text 3"/>
          <p:cNvSpPr/>
          <p:nvPr/>
        </p:nvSpPr>
        <p:spPr>
          <a:xfrm>
            <a:off x="5943600" y="3246120"/>
            <a:ext cx="274320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Interpretation</a:t>
            </a:r>
            <a:endParaRPr lang="en-US" sz="1200" dirty="0"/>
          </a:p>
        </p:txBody>
      </p:sp>
      <p:sp>
        <p:nvSpPr>
          <p:cNvPr id="8" name="Text 4"/>
          <p:cNvSpPr/>
          <p:nvPr/>
        </p:nvSpPr>
        <p:spPr>
          <a:xfrm>
            <a:off x="5943600" y="3630168"/>
            <a:ext cx="2743200" cy="1298448"/>
          </a:xfrm>
          <a:prstGeom prst="rect">
            <a:avLst/>
          </a:prstGeom>
          <a:noFill/>
          <a:ln/>
        </p:spPr>
        <p:txBody>
          <a:bodyPr wrap="square" rtlCol="0" anchor="ctr"/>
          <a:lstStyle/>
          <a:p>
            <a:pPr marL="342900" indent="-342900">
              <a:buSzPct val="100000"/>
              <a:buChar char="•"/>
            </a:pPr>
            <a:r>
              <a:rPr lang="en-US" sz="950" dirty="0">
                <a:solidFill>
                  <a:srgbClr val="1A2A3A"/>
                </a:solidFill>
                <a:latin typeface="Calibri" pitchFamily="34" charset="0"/>
                <a:ea typeface="Calibri" pitchFamily="34" charset="-122"/>
                <a:cs typeface="Calibri" pitchFamily="34" charset="-120"/>
              </a:rPr>
              <a:t>• Y₃ density: longest lengthscale → smoothest, most predictable response</a:t>
            </a:r>
            <a:endParaRPr lang="en-US" sz="950" dirty="0"/>
          </a:p>
          <a:p>
            <a:pPr marL="342900" indent="-342900">
              <a:buSzPct val="100000"/>
              <a:buChar char="•"/>
            </a:pPr>
            <a:r>
              <a:rPr lang="en-US" sz="950" dirty="0">
                <a:solidFill>
                  <a:srgbClr val="1A2A3A"/>
                </a:solidFill>
                <a:latin typeface="Calibri" pitchFamily="34" charset="0"/>
                <a:ea typeface="Calibri" pitchFamily="34" charset="-122"/>
                <a:cs typeface="Calibri" pitchFamily="34" charset="-120"/>
              </a:rPr>
              <a:t>• Y₁ ablation: shortest ℓ → sharpest spatial variation</a:t>
            </a:r>
            <a:endParaRPr lang="en-US" sz="950" dirty="0"/>
          </a:p>
          <a:p>
            <a:pPr marL="342900" indent="-342900">
              <a:buSzPct val="100000"/>
              <a:buChar char="•"/>
            </a:pPr>
            <a:r>
              <a:rPr lang="en-US" sz="950" dirty="0">
                <a:solidFill>
                  <a:srgbClr val="1A2A3A"/>
                </a:solidFill>
                <a:latin typeface="Calibri" pitchFamily="34" charset="0"/>
                <a:ea typeface="Calibri" pitchFamily="34" charset="-122"/>
                <a:cs typeface="Calibri" pitchFamily="34" charset="-120"/>
              </a:rPr>
              <a:t>• All noise very low → high-fidelity surrogates</a:t>
            </a:r>
            <a:endParaRPr lang="en-US" sz="950" dirty="0"/>
          </a:p>
        </p:txBody>
      </p:sp>
      <p:sp>
        <p:nvSpPr>
          <p:cNvPr id="9" name="Text 5"/>
          <p:cNvSpPr/>
          <p:nvPr/>
        </p:nvSpPr>
        <p:spPr>
          <a:xfrm>
            <a:off x="320040" y="4526280"/>
            <a:ext cx="8503920" cy="320040"/>
          </a:xfrm>
          <a:prstGeom prst="rect">
            <a:avLst/>
          </a:prstGeom>
          <a:noFill/>
          <a:ln/>
        </p:spPr>
        <p:txBody>
          <a:bodyPr wrap="square" rtlCol="0" anchor="ctr"/>
          <a:lstStyle/>
          <a:p>
            <a:pPr indent="0" marL="0">
              <a:buNone/>
            </a:pPr>
            <a:r>
              <a:rPr lang="en-US" sz="950" i="1" dirty="0">
                <a:solidFill>
                  <a:srgbClr val="546778"/>
                </a:solidFill>
                <a:latin typeface="Calibri" pitchFamily="34" charset="0"/>
                <a:ea typeface="Calibri" pitchFamily="34" charset="-122"/>
                <a:cs typeface="Calibri" pitchFamily="34" charset="-120"/>
              </a:rPr>
              <a:t>All three GP surrogates achieve excellent training fit (R² &gt; 0.92 for Y₁ and Y₃; Y₂ moderate at R²=0.68 reflecting measurement variability).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3  |  Initial Pareto Front (13 Design Conditions)</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8595360" cy="2560320"/>
          </a:xfrm>
          <a:prstGeom prst="rect">
            <a:avLst/>
          </a:prstGeom>
        </p:spPr>
      </p:pic>
      <p:sp>
        <p:nvSpPr>
          <p:cNvPr id="5" name="Shape 2"/>
          <p:cNvSpPr/>
          <p:nvPr/>
        </p:nvSpPr>
        <p:spPr>
          <a:xfrm>
            <a:off x="365760" y="3401568"/>
            <a:ext cx="2606040" cy="1481328"/>
          </a:xfrm>
          <a:prstGeom prst="roundRect">
            <a:avLst>
              <a:gd name="adj" fmla="val 6173"/>
            </a:avLst>
          </a:prstGeom>
          <a:solidFill>
            <a:srgbClr val="FFFFFF"/>
          </a:solidFill>
          <a:ln/>
          <a:effectLst>
            <a:outerShdw sx="100000" sy="100000" kx="0" ky="0" algn="bl" rotWithShape="0" blurRad="101600" dist="38100" dir="2700000">
              <a:srgbClr val="000000">
                <a:alpha val="10000"/>
              </a:srgbClr>
            </a:outerShdw>
          </a:effectLst>
        </p:spPr>
      </p:sp>
      <p:sp>
        <p:nvSpPr>
          <p:cNvPr id="6" name="Shape 3"/>
          <p:cNvSpPr/>
          <p:nvPr/>
        </p:nvSpPr>
        <p:spPr>
          <a:xfrm>
            <a:off x="365760" y="3401568"/>
            <a:ext cx="2606040" cy="411480"/>
          </a:xfrm>
          <a:prstGeom prst="rect">
            <a:avLst/>
          </a:prstGeom>
          <a:solidFill>
            <a:srgbClr val="0E6B8C"/>
          </a:solidFill>
          <a:ln w="12700">
            <a:solidFill>
              <a:srgbClr val="0E6B8C"/>
            </a:solidFill>
            <a:prstDash val="solid"/>
          </a:ln>
        </p:spPr>
      </p:sp>
      <p:sp>
        <p:nvSpPr>
          <p:cNvPr id="7" name="Text 4"/>
          <p:cNvSpPr/>
          <p:nvPr/>
        </p:nvSpPr>
        <p:spPr>
          <a:xfrm>
            <a:off x="411480" y="3858768"/>
            <a:ext cx="2514600" cy="548640"/>
          </a:xfrm>
          <a:prstGeom prst="rect">
            <a:avLst/>
          </a:prstGeom>
          <a:noFill/>
          <a:ln/>
        </p:spPr>
        <p:txBody>
          <a:bodyPr wrap="square" rtlCol="0" anchor="ctr"/>
          <a:lstStyle/>
          <a:p>
            <a:pPr algn="ctr" indent="0" marL="0">
              <a:buNone/>
            </a:pPr>
            <a:r>
              <a:rPr lang="en-US" sz="1700" b="1" dirty="0">
                <a:solidFill>
                  <a:srgbClr val="0D1B2A"/>
                </a:solidFill>
                <a:latin typeface="Cambria" pitchFamily="34" charset="0"/>
                <a:ea typeface="Cambria" pitchFamily="34" charset="-122"/>
                <a:cs typeface="Cambria" pitchFamily="34" charset="-120"/>
              </a:rPr>
              <a:t>12 / 13</a:t>
            </a:r>
            <a:endParaRPr lang="en-US" sz="1700" dirty="0"/>
          </a:p>
        </p:txBody>
      </p:sp>
      <p:sp>
        <p:nvSpPr>
          <p:cNvPr id="8" name="Text 5"/>
          <p:cNvSpPr/>
          <p:nvPr/>
        </p:nvSpPr>
        <p:spPr>
          <a:xfrm>
            <a:off x="411480" y="4434840"/>
            <a:ext cx="2514600" cy="384048"/>
          </a:xfrm>
          <a:prstGeom prst="rect">
            <a:avLst/>
          </a:prstGeom>
          <a:noFill/>
          <a:ln/>
        </p:spPr>
        <p:txBody>
          <a:bodyPr wrap="square" rtlCol="0" anchor="ctr"/>
          <a:lstStyle/>
          <a:p>
            <a:pPr algn="ctr" indent="0" marL="0">
              <a:buNone/>
            </a:pPr>
            <a:r>
              <a:rPr lang="en-US" sz="950" dirty="0">
                <a:solidFill>
                  <a:srgbClr val="546778"/>
                </a:solidFill>
                <a:latin typeface="Calibri" pitchFamily="34" charset="0"/>
                <a:ea typeface="Calibri" pitchFamily="34" charset="-122"/>
                <a:cs typeface="Calibri" pitchFamily="34" charset="-120"/>
              </a:rPr>
              <a:t>Pareto-optimal</a:t>
            </a:r>
            <a:endParaRPr lang="en-US" sz="950" dirty="0"/>
          </a:p>
          <a:p>
            <a:pPr algn="ctr" indent="0" marL="0">
              <a:buNone/>
            </a:pPr>
            <a:r>
              <a:rPr lang="en-US" sz="950" dirty="0">
                <a:solidFill>
                  <a:srgbClr val="546778"/>
                </a:solidFill>
                <a:latin typeface="Calibri" pitchFamily="34" charset="0"/>
                <a:ea typeface="Calibri" pitchFamily="34" charset="-122"/>
                <a:cs typeface="Calibri" pitchFamily="34" charset="-120"/>
              </a:rPr>
              <a:t>conditions</a:t>
            </a:r>
            <a:endParaRPr lang="en-US" sz="950" dirty="0"/>
          </a:p>
        </p:txBody>
      </p:sp>
      <p:sp>
        <p:nvSpPr>
          <p:cNvPr id="9" name="Shape 6"/>
          <p:cNvSpPr/>
          <p:nvPr/>
        </p:nvSpPr>
        <p:spPr>
          <a:xfrm>
            <a:off x="3246120" y="3401568"/>
            <a:ext cx="2606040" cy="1481328"/>
          </a:xfrm>
          <a:prstGeom prst="roundRect">
            <a:avLst>
              <a:gd name="adj" fmla="val 6173"/>
            </a:avLst>
          </a:prstGeom>
          <a:solidFill>
            <a:srgbClr val="FFFFFF"/>
          </a:solidFill>
          <a:ln/>
          <a:effectLst>
            <a:outerShdw sx="100000" sy="100000" kx="0" ky="0" algn="bl" rotWithShape="0" blurRad="101600" dist="38100" dir="2700000">
              <a:srgbClr val="000000">
                <a:alpha val="10000"/>
              </a:srgbClr>
            </a:outerShdw>
          </a:effectLst>
        </p:spPr>
      </p:sp>
      <p:sp>
        <p:nvSpPr>
          <p:cNvPr id="10" name="Shape 7"/>
          <p:cNvSpPr/>
          <p:nvPr/>
        </p:nvSpPr>
        <p:spPr>
          <a:xfrm>
            <a:off x="3246120" y="3401568"/>
            <a:ext cx="2606040" cy="411480"/>
          </a:xfrm>
          <a:prstGeom prst="rect">
            <a:avLst/>
          </a:prstGeom>
          <a:solidFill>
            <a:srgbClr val="1B3A5C"/>
          </a:solidFill>
          <a:ln w="12700">
            <a:solidFill>
              <a:srgbClr val="1B3A5C"/>
            </a:solidFill>
            <a:prstDash val="solid"/>
          </a:ln>
        </p:spPr>
      </p:sp>
      <p:sp>
        <p:nvSpPr>
          <p:cNvPr id="11" name="Text 8"/>
          <p:cNvSpPr/>
          <p:nvPr/>
        </p:nvSpPr>
        <p:spPr>
          <a:xfrm>
            <a:off x="3291840" y="3858768"/>
            <a:ext cx="2514600" cy="548640"/>
          </a:xfrm>
          <a:prstGeom prst="rect">
            <a:avLst/>
          </a:prstGeom>
          <a:noFill/>
          <a:ln/>
        </p:spPr>
        <p:txBody>
          <a:bodyPr wrap="square" rtlCol="0" anchor="ctr"/>
          <a:lstStyle/>
          <a:p>
            <a:pPr algn="ctr" indent="0" marL="0">
              <a:buNone/>
            </a:pPr>
            <a:r>
              <a:rPr lang="en-US" sz="1700" b="1" dirty="0">
                <a:solidFill>
                  <a:srgbClr val="0D1B2A"/>
                </a:solidFill>
                <a:latin typeface="Cambria" pitchFamily="34" charset="0"/>
                <a:ea typeface="Cambria" pitchFamily="34" charset="-122"/>
                <a:cs typeface="Cambria" pitchFamily="34" charset="-120"/>
              </a:rPr>
              <a:t>HV = 51.17</a:t>
            </a:r>
            <a:endParaRPr lang="en-US" sz="1700" dirty="0"/>
          </a:p>
        </p:txBody>
      </p:sp>
      <p:sp>
        <p:nvSpPr>
          <p:cNvPr id="12" name="Text 9"/>
          <p:cNvSpPr/>
          <p:nvPr/>
        </p:nvSpPr>
        <p:spPr>
          <a:xfrm>
            <a:off x="3291840" y="4434840"/>
            <a:ext cx="2514600" cy="384048"/>
          </a:xfrm>
          <a:prstGeom prst="rect">
            <a:avLst/>
          </a:prstGeom>
          <a:noFill/>
          <a:ln/>
        </p:spPr>
        <p:txBody>
          <a:bodyPr wrap="square" rtlCol="0" anchor="ctr"/>
          <a:lstStyle/>
          <a:p>
            <a:pPr algn="ctr" indent="0" marL="0">
              <a:buNone/>
            </a:pPr>
            <a:r>
              <a:rPr lang="en-US" sz="950" dirty="0">
                <a:solidFill>
                  <a:srgbClr val="546778"/>
                </a:solidFill>
                <a:latin typeface="Calibri" pitchFamily="34" charset="0"/>
                <a:ea typeface="Calibri" pitchFamily="34" charset="-122"/>
                <a:cs typeface="Calibri" pitchFamily="34" charset="-120"/>
              </a:rPr>
              <a:t>Initial hypervolume</a:t>
            </a:r>
            <a:endParaRPr lang="en-US" sz="950" dirty="0"/>
          </a:p>
          <a:p>
            <a:pPr algn="ctr" indent="0" marL="0">
              <a:buNone/>
            </a:pPr>
            <a:r>
              <a:rPr lang="en-US" sz="950" dirty="0">
                <a:solidFill>
                  <a:srgbClr val="546778"/>
                </a:solidFill>
                <a:latin typeface="Calibri" pitchFamily="34" charset="0"/>
                <a:ea typeface="Calibri" pitchFamily="34" charset="-122"/>
                <a:cs typeface="Calibri" pitchFamily="34" charset="-120"/>
              </a:rPr>
              <a:t>indicator</a:t>
            </a:r>
            <a:endParaRPr lang="en-US" sz="950" dirty="0"/>
          </a:p>
        </p:txBody>
      </p:sp>
      <p:sp>
        <p:nvSpPr>
          <p:cNvPr id="13" name="Shape 10"/>
          <p:cNvSpPr/>
          <p:nvPr/>
        </p:nvSpPr>
        <p:spPr>
          <a:xfrm>
            <a:off x="6126480" y="3401568"/>
            <a:ext cx="2606040" cy="1481328"/>
          </a:xfrm>
          <a:prstGeom prst="roundRect">
            <a:avLst>
              <a:gd name="adj" fmla="val 6173"/>
            </a:avLst>
          </a:prstGeom>
          <a:solidFill>
            <a:srgbClr val="FFFFFF"/>
          </a:solidFill>
          <a:ln/>
          <a:effectLst>
            <a:outerShdw sx="100000" sy="100000" kx="0" ky="0" algn="bl" rotWithShape="0" blurRad="101600" dist="38100" dir="2700000">
              <a:srgbClr val="000000">
                <a:alpha val="10000"/>
              </a:srgbClr>
            </a:outerShdw>
          </a:effectLst>
        </p:spPr>
      </p:sp>
      <p:sp>
        <p:nvSpPr>
          <p:cNvPr id="14" name="Shape 11"/>
          <p:cNvSpPr/>
          <p:nvPr/>
        </p:nvSpPr>
        <p:spPr>
          <a:xfrm>
            <a:off x="6126480" y="3401568"/>
            <a:ext cx="2606040" cy="411480"/>
          </a:xfrm>
          <a:prstGeom prst="rect">
            <a:avLst/>
          </a:prstGeom>
          <a:solidFill>
            <a:srgbClr val="D97706"/>
          </a:solidFill>
          <a:ln w="12700">
            <a:solidFill>
              <a:srgbClr val="D97706"/>
            </a:solidFill>
            <a:prstDash val="solid"/>
          </a:ln>
        </p:spPr>
      </p:sp>
      <p:sp>
        <p:nvSpPr>
          <p:cNvPr id="15" name="Text 12"/>
          <p:cNvSpPr/>
          <p:nvPr/>
        </p:nvSpPr>
        <p:spPr>
          <a:xfrm>
            <a:off x="6172200" y="3858768"/>
            <a:ext cx="2514600" cy="548640"/>
          </a:xfrm>
          <a:prstGeom prst="rect">
            <a:avLst/>
          </a:prstGeom>
          <a:noFill/>
          <a:ln/>
        </p:spPr>
        <p:txBody>
          <a:bodyPr wrap="square" rtlCol="0" anchor="ctr"/>
          <a:lstStyle/>
          <a:p>
            <a:pPr algn="ctr" indent="0" marL="0">
              <a:buNone/>
            </a:pPr>
            <a:r>
              <a:rPr lang="en-US" sz="1700" b="1" dirty="0">
                <a:solidFill>
                  <a:srgbClr val="0D1B2A"/>
                </a:solidFill>
                <a:latin typeface="Cambria" pitchFamily="34" charset="0"/>
                <a:ea typeface="Cambria" pitchFamily="34" charset="-122"/>
                <a:cs typeface="Cambria" pitchFamily="34" charset="-120"/>
              </a:rPr>
              <a:t>r = (−19.8,</a:t>
            </a:r>
            <a:endParaRPr lang="en-US" sz="1700" dirty="0"/>
          </a:p>
          <a:p>
            <a:pPr algn="ctr" indent="0" marL="0">
              <a:buNone/>
            </a:pPr>
            <a:r>
              <a:rPr lang="en-US" sz="1700" b="1" dirty="0">
                <a:solidFill>
                  <a:srgbClr val="0D1B2A"/>
                </a:solidFill>
                <a:latin typeface="Cambria" pitchFamily="34" charset="0"/>
                <a:ea typeface="Cambria" pitchFamily="34" charset="-122"/>
                <a:cs typeface="Cambria" pitchFamily="34" charset="-120"/>
              </a:rPr>
              <a:t>−224.1, −1.26)</a:t>
            </a:r>
            <a:endParaRPr lang="en-US" sz="1700" dirty="0"/>
          </a:p>
        </p:txBody>
      </p:sp>
      <p:sp>
        <p:nvSpPr>
          <p:cNvPr id="16" name="Text 13"/>
          <p:cNvSpPr/>
          <p:nvPr/>
        </p:nvSpPr>
        <p:spPr>
          <a:xfrm>
            <a:off x="6172200" y="4434840"/>
            <a:ext cx="2514600" cy="384048"/>
          </a:xfrm>
          <a:prstGeom prst="rect">
            <a:avLst/>
          </a:prstGeom>
          <a:noFill/>
          <a:ln/>
        </p:spPr>
        <p:txBody>
          <a:bodyPr wrap="square" rtlCol="0" anchor="ctr"/>
          <a:lstStyle/>
          <a:p>
            <a:pPr algn="ctr" indent="0" marL="0">
              <a:buNone/>
            </a:pPr>
            <a:r>
              <a:rPr lang="en-US" sz="950" dirty="0">
                <a:solidFill>
                  <a:srgbClr val="546778"/>
                </a:solidFill>
                <a:latin typeface="Calibri" pitchFamily="34" charset="0"/>
                <a:ea typeface="Calibri" pitchFamily="34" charset="-122"/>
                <a:cs typeface="Calibri" pitchFamily="34" charset="-120"/>
              </a:rPr>
              <a:t>Reference point</a:t>
            </a:r>
            <a:endParaRPr lang="en-US" sz="950" dirty="0"/>
          </a:p>
          <a:p>
            <a:pPr algn="ctr" indent="0" marL="0">
              <a:buNone/>
            </a:pPr>
            <a:r>
              <a:rPr lang="en-US" sz="950" dirty="0">
                <a:solidFill>
                  <a:srgbClr val="546778"/>
                </a:solidFill>
                <a:latin typeface="Calibri" pitchFamily="34" charset="0"/>
                <a:ea typeface="Calibri" pitchFamily="34" charset="-122"/>
                <a:cs typeface="Calibri" pitchFamily="34" charset="-120"/>
              </a:rPr>
              <a:t>(negated space)</a:t>
            </a:r>
            <a:endParaRPr lang="en-US" sz="950" dirty="0"/>
          </a:p>
        </p:txBody>
      </p:sp>
      <p:sp>
        <p:nvSpPr>
          <p:cNvPr id="17" name="Text 14"/>
          <p:cNvSpPr/>
          <p:nvPr/>
        </p:nvSpPr>
        <p:spPr>
          <a:xfrm>
            <a:off x="320040" y="4919472"/>
            <a:ext cx="8503920" cy="182880"/>
          </a:xfrm>
          <a:prstGeom prst="rect">
            <a:avLst/>
          </a:prstGeom>
          <a:noFill/>
          <a:ln/>
        </p:spPr>
        <p:txBody>
          <a:bodyPr wrap="square" rtlCol="0" anchor="ctr"/>
          <a:lstStyle/>
          <a:p>
            <a:pPr indent="0" marL="0">
              <a:buNone/>
            </a:pPr>
            <a:r>
              <a:rPr lang="en-US" sz="900" i="1" dirty="0">
                <a:solidFill>
                  <a:srgbClr val="546778"/>
                </a:solidFill>
                <a:latin typeface="Calibri" pitchFamily="34" charset="0"/>
                <a:ea typeface="Calibri" pitchFamily="34" charset="-122"/>
                <a:cs typeface="Calibri" pitchFamily="34" charset="-120"/>
              </a:rPr>
              <a:t>Only 1 of 13 conditions is dominated (X₁=12.5, X₂=5 is dominated by (20,5) and (12.5,3)). The design space already covers a rich Pareto front, but denser exploration near high X₁ / low X₂ is expected to push HV further.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4  |  Expected Hypervolume Improvement (EHVI)</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4754880" cy="3493008"/>
          </a:xfrm>
          <a:prstGeom prst="rect">
            <a:avLst/>
          </a:prstGeom>
        </p:spPr>
      </p:pic>
      <p:sp>
        <p:nvSpPr>
          <p:cNvPr id="5" name="Shape 2"/>
          <p:cNvSpPr/>
          <p:nvPr/>
        </p:nvSpPr>
        <p:spPr>
          <a:xfrm>
            <a:off x="5212080" y="777240"/>
            <a:ext cx="3657600" cy="4297680"/>
          </a:xfrm>
          <a:prstGeom prst="roundRect">
            <a:avLst>
              <a:gd name="adj" fmla="val 2500"/>
            </a:avLst>
          </a:prstGeom>
          <a:solidFill>
            <a:srgbClr val="FFFFFF"/>
          </a:solidFill>
          <a:ln/>
          <a:effectLst>
            <a:outerShdw sx="100000" sy="100000" kx="0" ky="0" algn="bl" rotWithShape="0" blurRad="101600" dist="38100" dir="2700000">
              <a:srgbClr val="000000">
                <a:alpha val="10000"/>
              </a:srgbClr>
            </a:outerShdw>
          </a:effectLst>
        </p:spPr>
      </p:sp>
      <p:sp>
        <p:nvSpPr>
          <p:cNvPr id="6" name="Text 3"/>
          <p:cNvSpPr/>
          <p:nvPr/>
        </p:nvSpPr>
        <p:spPr>
          <a:xfrm>
            <a:off x="5349240" y="841248"/>
            <a:ext cx="3383280" cy="384048"/>
          </a:xfrm>
          <a:prstGeom prst="rect">
            <a:avLst/>
          </a:prstGeom>
          <a:noFill/>
          <a:ln/>
        </p:spPr>
        <p:txBody>
          <a:bodyPr wrap="square" rtlCol="0" anchor="ctr"/>
          <a:lstStyle/>
          <a:p>
            <a:pPr indent="0" marL="0">
              <a:buNone/>
            </a:pPr>
            <a:r>
              <a:rPr lang="en-US" sz="1300" b="1" dirty="0">
                <a:solidFill>
                  <a:srgbClr val="0D1B2A"/>
                </a:solidFill>
                <a:latin typeface="Cambria" pitchFamily="34" charset="0"/>
                <a:ea typeface="Cambria" pitchFamily="34" charset="-122"/>
                <a:cs typeface="Cambria" pitchFamily="34" charset="-120"/>
              </a:rPr>
              <a:t>qLogEHVI Formula</a:t>
            </a:r>
            <a:endParaRPr lang="en-US" sz="1300" dirty="0"/>
          </a:p>
        </p:txBody>
      </p:sp>
      <p:sp>
        <p:nvSpPr>
          <p:cNvPr id="7" name="Text 4"/>
          <p:cNvSpPr/>
          <p:nvPr/>
        </p:nvSpPr>
        <p:spPr>
          <a:xfrm>
            <a:off x="5349240" y="1261872"/>
            <a:ext cx="3383280" cy="822960"/>
          </a:xfrm>
          <a:prstGeom prst="rect">
            <a:avLst/>
          </a:prstGeom>
          <a:noFill/>
          <a:ln/>
        </p:spPr>
        <p:txBody>
          <a:bodyPr wrap="square" rtlCol="0" anchor="ctr"/>
          <a:lstStyle/>
          <a:p>
            <a:pPr indent="0" marL="0">
              <a:buNone/>
            </a:pPr>
            <a:r>
              <a:rPr lang="en-US" sz="1200" b="1" i="1" dirty="0">
                <a:solidFill>
                  <a:srgbClr val="0E6B8C"/>
                </a:solidFill>
                <a:latin typeface="Cambria" pitchFamily="34" charset="0"/>
                <a:ea typeface="Cambria" pitchFamily="34" charset="-122"/>
                <a:cs typeface="Cambria" pitchFamily="34" charset="-120"/>
              </a:rPr>
              <a:t>α(x₁:q) = log 𝔼[</a:t>
            </a:r>
            <a:endParaRPr lang="en-US" sz="1200" dirty="0"/>
          </a:p>
          <a:p>
            <a:pPr indent="0" marL="0">
              <a:buNone/>
            </a:pPr>
            <a:r>
              <a:rPr lang="en-US" sz="1200" b="1" i="1" dirty="0">
                <a:solidFill>
                  <a:srgbClr val="0E6B8C"/>
                </a:solidFill>
                <a:latin typeface="Cambria" pitchFamily="34" charset="0"/>
                <a:ea typeface="Cambria" pitchFamily="34" charset="-122"/>
                <a:cs typeface="Cambria" pitchFamily="34" charset="-120"/>
              </a:rPr>
              <a:t>ΔHV(𝒫, f(x₁:q), r)]</a:t>
            </a:r>
            <a:endParaRPr lang="en-US" sz="1200" dirty="0"/>
          </a:p>
        </p:txBody>
      </p:sp>
      <p:sp>
        <p:nvSpPr>
          <p:cNvPr id="8" name="Text 5"/>
          <p:cNvSpPr/>
          <p:nvPr/>
        </p:nvSpPr>
        <p:spPr>
          <a:xfrm>
            <a:off x="5349240" y="2148840"/>
            <a:ext cx="3383280" cy="2423160"/>
          </a:xfrm>
          <a:prstGeom prst="rect">
            <a:avLst/>
          </a:prstGeom>
          <a:noFill/>
          <a:ln/>
        </p:spPr>
        <p:txBody>
          <a:bodyPr wrap="square" rtlCol="0" anchor="ctr"/>
          <a:lstStyle/>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𝒫  — current Pareto set (negated space)</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r  — reference point (nadir lower bound)</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q = 2  — batch size (two candidates per iter)</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ΔHV — hypervolume improvement from new obs.</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Log transform improves numerical stability</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FastNondom.Partitioning for efficient gradient</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Optimized via multi-start L-BFGS-B</a:t>
            </a:r>
            <a:endParaRPr lang="en-US" sz="1000" dirty="0"/>
          </a:p>
        </p:txBody>
      </p:sp>
      <p:sp>
        <p:nvSpPr>
          <p:cNvPr id="9" name="Shape 6"/>
          <p:cNvSpPr/>
          <p:nvPr/>
        </p:nvSpPr>
        <p:spPr>
          <a:xfrm>
            <a:off x="320040" y="4343400"/>
            <a:ext cx="4480560" cy="640080"/>
          </a:xfrm>
          <a:prstGeom prst="roundRect">
            <a:avLst>
              <a:gd name="adj" fmla="val 11429"/>
            </a:avLst>
          </a:prstGeom>
          <a:solidFill>
            <a:srgbClr val="FEF9EC"/>
          </a:solidFill>
          <a:ln/>
          <a:effectLst>
            <a:outerShdw sx="100000" sy="100000" kx="0" ky="0" algn="bl" rotWithShape="0" blurRad="101600" dist="38100" dir="2700000">
              <a:srgbClr val="000000">
                <a:alpha val="10000"/>
              </a:srgbClr>
            </a:outerShdw>
          </a:effectLst>
        </p:spPr>
      </p:sp>
      <p:sp>
        <p:nvSpPr>
          <p:cNvPr id="10" name="Text 7"/>
          <p:cNvSpPr/>
          <p:nvPr/>
        </p:nvSpPr>
        <p:spPr>
          <a:xfrm>
            <a:off x="457200" y="4389120"/>
            <a:ext cx="4206240" cy="530352"/>
          </a:xfrm>
          <a:prstGeom prst="rect">
            <a:avLst/>
          </a:prstGeom>
          <a:noFill/>
          <a:ln/>
        </p:spPr>
        <p:txBody>
          <a:bodyPr wrap="square" rtlCol="0" anchor="ctr"/>
          <a:lstStyle/>
          <a:p>
            <a:pPr indent="0" marL="0">
              <a:buNone/>
            </a:pPr>
            <a:r>
              <a:rPr lang="en-US" sz="1050" b="1" dirty="0">
                <a:solidFill>
                  <a:srgbClr val="0D1B2A"/>
                </a:solidFill>
                <a:latin typeface="Cambria" pitchFamily="34" charset="0"/>
                <a:ea typeface="Cambria" pitchFamily="34" charset="-122"/>
                <a:cs typeface="Cambria" pitchFamily="34" charset="-120"/>
              </a:rPr>
              <a:t>★  First recommendation: X₁ = 19.58, X₂ = 1.99  |  EHVI = 0.785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5  |  Bayesian Optimization Loop — 5 Iterations × q=2</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777240"/>
          <a:ext cx="8503920" cy="2468880"/>
        </p:xfrm>
        <a:graphic>
          <a:graphicData uri="http://schemas.openxmlformats.org/drawingml/2006/table">
            <a:tbl>
              <a:tblPr/>
              <a:tblGrid>
                <a:gridCol w="1700784"/>
                <a:gridCol w="1700784"/>
                <a:gridCol w="1700784"/>
                <a:gridCol w="1700784"/>
                <a:gridCol w="1700784"/>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Iter</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Candidates (X₁, X₂)</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Objective Values (Y₁, Y₂, Y₃)</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New HV</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ΔHV</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r>
              <a:tr h="420624">
                <a:tc>
                  <a:txBody>
                    <a:bodyPr/>
                    <a:lstStyle/>
                    <a:p>
                      <a:pPr indent="0" marL="0">
                        <a:buNone/>
                      </a:pPr>
                      <a:r>
                        <a:rPr lang="en-US" sz="1000" b="1" dirty="0">
                          <a:solidFill>
                            <a:srgbClr val="1A2A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(17.08, 1.24), (20.0, 1.95)</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(6.11, 195.6, 1.195), (5.54, 176.3, 1.217)</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54.010</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b="1" dirty="0">
                          <a:solidFill>
                            <a:srgbClr val="1A7A4A"/>
                          </a:solidFill>
                          <a:latin typeface="Calibri" pitchFamily="34" charset="0"/>
                          <a:ea typeface="Calibri" pitchFamily="34" charset="-122"/>
                          <a:cs typeface="Calibri" pitchFamily="34" charset="-120"/>
                        </a:rPr>
                        <a:t>+2.842</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420624">
                <a:tc>
                  <a:txBody>
                    <a:bodyPr/>
                    <a:lstStyle/>
                    <a:p>
                      <a:pPr indent="0" marL="0">
                        <a:buNone/>
                      </a:pPr>
                      <a:r>
                        <a:rPr lang="en-US" sz="1000" b="1" dirty="0">
                          <a:solidFill>
                            <a:srgbClr val="1A2A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(20.0, 3.87), (19.45, 1.73)</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(6.03, 167.7, 1.238), (5.55, 180.8, 1.212)</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54.778</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b="1" dirty="0">
                          <a:solidFill>
                            <a:srgbClr val="1A7A4A"/>
                          </a:solidFill>
                          <a:latin typeface="Calibri" pitchFamily="34" charset="0"/>
                          <a:ea typeface="Calibri" pitchFamily="34" charset="-122"/>
                          <a:cs typeface="Calibri" pitchFamily="34" charset="-120"/>
                        </a:rPr>
                        <a:t>+0.768</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A2A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(14.24, 1.77), (20.0, 2.42)</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(6.63, 201.8, 1.186), (5.49, 173.4, 1.222)</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55.433</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b="1" dirty="0">
                          <a:solidFill>
                            <a:srgbClr val="1A7A4A"/>
                          </a:solidFill>
                          <a:latin typeface="Calibri" pitchFamily="34" charset="0"/>
                          <a:ea typeface="Calibri" pitchFamily="34" charset="-122"/>
                          <a:cs typeface="Calibri" pitchFamily="34" charset="-120"/>
                        </a:rPr>
                        <a:t>+0.655</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420624">
                <a:tc>
                  <a:txBody>
                    <a:bodyPr/>
                    <a:lstStyle/>
                    <a:p>
                      <a:pPr indent="0" marL="0">
                        <a:buNone/>
                      </a:pPr>
                      <a:r>
                        <a:rPr lang="en-US" sz="1000" b="1" dirty="0">
                          <a:solidFill>
                            <a:srgbClr val="1A2A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(16.69, 4.83), (18.07, 1.51)</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(5.73, 182.6, 1.231), (5.71, 189.1, 1.203)</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55.753</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1000" b="1" dirty="0">
                          <a:solidFill>
                            <a:srgbClr val="1A7A4A"/>
                          </a:solidFill>
                          <a:latin typeface="Calibri" pitchFamily="34" charset="0"/>
                          <a:ea typeface="Calibri" pitchFamily="34" charset="-122"/>
                          <a:cs typeface="Calibri" pitchFamily="34" charset="-120"/>
                        </a:rPr>
                        <a:t>+0.320</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420624">
                <a:tc>
                  <a:txBody>
                    <a:bodyPr/>
                    <a:lstStyle/>
                    <a:p>
                      <a:pPr indent="0" marL="0">
                        <a:buNone/>
                      </a:pPr>
                      <a:r>
                        <a:rPr lang="en-US" sz="1000" b="1" dirty="0">
                          <a:solidFill>
                            <a:srgbClr val="1A2A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(5.0, 2.49), (7.33, 3.04)</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(13.85, 210.3, 1.148), (10.19, 207.4, 1.165)</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dirty="0">
                          <a:solidFill>
                            <a:srgbClr val="1A2A3A"/>
                          </a:solidFill>
                          <a:latin typeface="Calibri" pitchFamily="34" charset="0"/>
                          <a:ea typeface="Calibri" pitchFamily="34" charset="-122"/>
                          <a:cs typeface="Calibri" pitchFamily="34" charset="-120"/>
                        </a:rPr>
                        <a:t>56.048</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1000" b="1" dirty="0">
                          <a:solidFill>
                            <a:srgbClr val="1A7A4A"/>
                          </a:solidFill>
                          <a:latin typeface="Calibri" pitchFamily="34" charset="0"/>
                          <a:ea typeface="Calibri" pitchFamily="34" charset="-122"/>
                          <a:cs typeface="Calibri" pitchFamily="34" charset="-120"/>
                        </a:rPr>
                        <a:t>+0.295</a:t>
                      </a:r>
                      <a:endParaRPr lang="en-US" sz="10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bl>
          </a:graphicData>
        </a:graphic>
      </p:graphicFrame>
      <p:graphicFrame>
        <p:nvGraphicFramePr>
          <p:cNvPr id="5" name="Chart 0" descr=""/>
          <p:cNvGraphicFramePr/>
          <p:nvPr/>
        </p:nvGraphicFramePr>
        <p:xfrm>
          <a:off x="320040" y="3291840"/>
          <a:ext cx="4754880" cy="16459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257800" y="3291840"/>
            <a:ext cx="3566160" cy="1645920"/>
          </a:xfrm>
          <a:prstGeom prst="roundRect">
            <a:avLst>
              <a:gd name="adj" fmla="val 5556"/>
            </a:avLst>
          </a:prstGeom>
          <a:solidFill>
            <a:srgbClr val="FFFFFF"/>
          </a:solidFill>
          <a:ln/>
          <a:effectLst>
            <a:outerShdw sx="100000" sy="100000" kx="0" ky="0" algn="bl" rotWithShape="0" blurRad="101600" dist="38100" dir="2700000">
              <a:srgbClr val="000000">
                <a:alpha val="10000"/>
              </a:srgbClr>
            </a:outerShdw>
          </a:effectLst>
        </p:spPr>
      </p:sp>
      <p:sp>
        <p:nvSpPr>
          <p:cNvPr id="7" name="Text 3"/>
          <p:cNvSpPr/>
          <p:nvPr/>
        </p:nvSpPr>
        <p:spPr>
          <a:xfrm>
            <a:off x="5394960" y="3355848"/>
            <a:ext cx="329184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Optimization Summary</a:t>
            </a:r>
            <a:endParaRPr lang="en-US" sz="1200" dirty="0"/>
          </a:p>
        </p:txBody>
      </p:sp>
      <p:sp>
        <p:nvSpPr>
          <p:cNvPr id="8" name="Text 4"/>
          <p:cNvSpPr/>
          <p:nvPr/>
        </p:nvSpPr>
        <p:spPr>
          <a:xfrm>
            <a:off x="5394960" y="3749040"/>
            <a:ext cx="3291840" cy="1115568"/>
          </a:xfrm>
          <a:prstGeom prst="rect">
            <a:avLst/>
          </a:prstGeom>
          <a:noFill/>
          <a:ln/>
        </p:spPr>
        <p:txBody>
          <a:bodyPr wrap="square" rtlCol="0" anchor="ctr"/>
          <a:lstStyle/>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Initial HV  : 51.17 (13 pts, 12 Pareto)</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Final HV    : 56.05 (23 pts, 20 Pareto)</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HV gain     : +4.88  (+9.54%)</a:t>
            </a:r>
            <a:endParaRPr lang="en-US" sz="1000" dirty="0"/>
          </a:p>
          <a:p>
            <a:pPr marL="342900" indent="-342900">
              <a:buSzPct val="100000"/>
              <a:buChar char="•"/>
            </a:pPr>
            <a:r>
              <a:rPr lang="en-US" sz="1000" dirty="0">
                <a:solidFill>
                  <a:srgbClr val="1A2A3A"/>
                </a:solidFill>
                <a:latin typeface="Calibri" pitchFamily="34" charset="0"/>
                <a:ea typeface="Calibri" pitchFamily="34" charset="-122"/>
                <a:cs typeface="Calibri" pitchFamily="34" charset="-120"/>
              </a:rPr>
              <a:t>Largest gain: Iter 1 (+2.84, 58% of total)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5  |  Recommended Sampling Locations</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4937760" cy="3639312"/>
          </a:xfrm>
          <a:prstGeom prst="rect">
            <a:avLst/>
          </a:prstGeom>
        </p:spPr>
      </p:pic>
      <p:sp>
        <p:nvSpPr>
          <p:cNvPr id="5" name="Shape 2"/>
          <p:cNvSpPr/>
          <p:nvPr/>
        </p:nvSpPr>
        <p:spPr>
          <a:xfrm>
            <a:off x="5376672" y="777240"/>
            <a:ext cx="3429000" cy="1353312"/>
          </a:xfrm>
          <a:prstGeom prst="roundRect">
            <a:avLst>
              <a:gd name="adj" fmla="val 6757"/>
            </a:avLst>
          </a:prstGeom>
          <a:solidFill>
            <a:srgbClr val="FFFFFF"/>
          </a:solidFill>
          <a:ln/>
          <a:effectLst>
            <a:outerShdw sx="100000" sy="100000" kx="0" ky="0" algn="bl" rotWithShape="0" blurRad="101600" dist="38100" dir="2700000">
              <a:srgbClr val="000000">
                <a:alpha val="10000"/>
              </a:srgbClr>
            </a:outerShdw>
          </a:effectLst>
        </p:spPr>
      </p:sp>
      <p:sp>
        <p:nvSpPr>
          <p:cNvPr id="6" name="Text 3"/>
          <p:cNvSpPr/>
          <p:nvPr/>
        </p:nvSpPr>
        <p:spPr>
          <a:xfrm>
            <a:off x="5513832" y="850392"/>
            <a:ext cx="3154680" cy="38404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Iters 1–3: High X₁, Low X₂</a:t>
            </a:r>
            <a:endParaRPr lang="en-US" sz="1150" dirty="0"/>
          </a:p>
        </p:txBody>
      </p:sp>
      <p:sp>
        <p:nvSpPr>
          <p:cNvPr id="7" name="Text 4"/>
          <p:cNvSpPr/>
          <p:nvPr/>
        </p:nvSpPr>
        <p:spPr>
          <a:xfrm>
            <a:off x="5513832" y="1252728"/>
            <a:ext cx="3154680" cy="804672"/>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EHVI focuses near X₁~20, X₂~1–2. This region maximizes carbon content → minimal ablation rate. Previously under-sampled.</a:t>
            </a:r>
            <a:endParaRPr lang="en-US" sz="1000" dirty="0"/>
          </a:p>
        </p:txBody>
      </p:sp>
      <p:sp>
        <p:nvSpPr>
          <p:cNvPr id="8" name="Shape 5"/>
          <p:cNvSpPr/>
          <p:nvPr/>
        </p:nvSpPr>
        <p:spPr>
          <a:xfrm>
            <a:off x="5376672" y="2240280"/>
            <a:ext cx="3429000" cy="1353312"/>
          </a:xfrm>
          <a:prstGeom prst="roundRect">
            <a:avLst>
              <a:gd name="adj" fmla="val 6757"/>
            </a:avLst>
          </a:prstGeom>
          <a:solidFill>
            <a:srgbClr val="FFFFFF"/>
          </a:solidFill>
          <a:ln/>
          <a:effectLst>
            <a:outerShdw sx="100000" sy="100000" kx="0" ky="0" algn="bl" rotWithShape="0" blurRad="101600" dist="38100" dir="2700000">
              <a:srgbClr val="000000">
                <a:alpha val="10000"/>
              </a:srgbClr>
            </a:outerShdw>
          </a:effectLst>
        </p:spPr>
      </p:sp>
      <p:sp>
        <p:nvSpPr>
          <p:cNvPr id="9" name="Text 6"/>
          <p:cNvSpPr/>
          <p:nvPr/>
        </p:nvSpPr>
        <p:spPr>
          <a:xfrm>
            <a:off x="5513832" y="2313432"/>
            <a:ext cx="3154680" cy="38404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Iter 4: High X₁ + X₂</a:t>
            </a:r>
            <a:endParaRPr lang="en-US" sz="1150" dirty="0"/>
          </a:p>
        </p:txBody>
      </p:sp>
      <p:sp>
        <p:nvSpPr>
          <p:cNvPr id="10" name="Text 7"/>
          <p:cNvSpPr/>
          <p:nvPr/>
        </p:nvSpPr>
        <p:spPr>
          <a:xfrm>
            <a:off x="5513832" y="2715768"/>
            <a:ext cx="3154680" cy="804672"/>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Diversifies toward X₁~17–20, X₂~2–5. Explores density-temperature trade-off at high carbon loading.</a:t>
            </a:r>
            <a:endParaRPr lang="en-US" sz="1000" dirty="0"/>
          </a:p>
        </p:txBody>
      </p:sp>
      <p:sp>
        <p:nvSpPr>
          <p:cNvPr id="11" name="Shape 8"/>
          <p:cNvSpPr/>
          <p:nvPr/>
        </p:nvSpPr>
        <p:spPr>
          <a:xfrm>
            <a:off x="5376672" y="3703320"/>
            <a:ext cx="3429000" cy="1353312"/>
          </a:xfrm>
          <a:prstGeom prst="roundRect">
            <a:avLst>
              <a:gd name="adj" fmla="val 6757"/>
            </a:avLst>
          </a:prstGeom>
          <a:solidFill>
            <a:srgbClr val="FFFFFF"/>
          </a:solidFill>
          <a:ln/>
          <a:effectLst>
            <a:outerShdw sx="100000" sy="100000" kx="0" ky="0" algn="bl" rotWithShape="0" blurRad="101600" dist="38100" dir="2700000">
              <a:srgbClr val="000000">
                <a:alpha val="10000"/>
              </a:srgbClr>
            </a:outerShdw>
          </a:effectLst>
        </p:spPr>
      </p:sp>
      <p:sp>
        <p:nvSpPr>
          <p:cNvPr id="12" name="Text 9"/>
          <p:cNvSpPr/>
          <p:nvPr/>
        </p:nvSpPr>
        <p:spPr>
          <a:xfrm>
            <a:off x="5513832" y="3776472"/>
            <a:ext cx="3154680" cy="38404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Iter 5: Low X₁ region</a:t>
            </a:r>
            <a:endParaRPr lang="en-US" sz="1150" dirty="0"/>
          </a:p>
        </p:txBody>
      </p:sp>
      <p:sp>
        <p:nvSpPr>
          <p:cNvPr id="13" name="Text 10"/>
          <p:cNvSpPr/>
          <p:nvPr/>
        </p:nvSpPr>
        <p:spPr>
          <a:xfrm>
            <a:off x="5513832" y="4178808"/>
            <a:ext cx="3154680" cy="804672"/>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Returns to X₁~5–7. Refines the ablation rate frontier at low carbon black — closes knowledge gaps.</a:t>
            </a:r>
            <a:endParaRPr lang="en-US" sz="1000" dirty="0"/>
          </a:p>
        </p:txBody>
      </p:sp>
      <p:sp>
        <p:nvSpPr>
          <p:cNvPr id="14" name="Text 11"/>
          <p:cNvSpPr/>
          <p:nvPr/>
        </p:nvSpPr>
        <p:spPr>
          <a:xfrm>
            <a:off x="320040" y="4462272"/>
            <a:ext cx="8503920" cy="274320"/>
          </a:xfrm>
          <a:prstGeom prst="rect">
            <a:avLst/>
          </a:prstGeom>
          <a:noFill/>
          <a:ln/>
        </p:spPr>
        <p:txBody>
          <a:bodyPr wrap="square" rtlCol="0" anchor="ctr"/>
          <a:lstStyle/>
          <a:p>
            <a:pPr indent="0" marL="0">
              <a:buNone/>
            </a:pPr>
            <a:r>
              <a:rPr lang="en-US" sz="900" i="1" dirty="0">
                <a:solidFill>
                  <a:srgbClr val="546778"/>
                </a:solidFill>
                <a:latin typeface="Calibri" pitchFamily="34" charset="0"/>
                <a:ea typeface="Calibri" pitchFamily="34" charset="-122"/>
                <a:cs typeface="Calibri" pitchFamily="34" charset="-120"/>
              </a:rPr>
              <a:t>Background hue = ablation rate surface; star markers = BO-recommended candidates (numbered by iteration).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  |  Pareto Front Evolution — Before vs After MOBO</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8595360" cy="2395728"/>
          </a:xfrm>
          <a:prstGeom prst="rect">
            <a:avLst/>
          </a:prstGeom>
        </p:spPr>
      </p:pic>
      <p:pic>
        <p:nvPicPr>
          <p:cNvPr id="5" name="Image 1" descr="preencoded.png">    </p:cNvPr>
          <p:cNvPicPr>
            <a:picLocks noChangeAspect="1"/>
          </p:cNvPicPr>
          <p:nvPr/>
        </p:nvPicPr>
        <p:blipFill>
          <a:blip r:embed="rId2"/>
          <a:stretch>
            <a:fillRect/>
          </a:stretch>
        </p:blipFill>
        <p:spPr>
          <a:xfrm>
            <a:off x="274320" y="3200400"/>
            <a:ext cx="6217920" cy="1828800"/>
          </a:xfrm>
          <a:prstGeom prst="rect">
            <a:avLst/>
          </a:prstGeom>
        </p:spPr>
      </p:pic>
      <p:sp>
        <p:nvSpPr>
          <p:cNvPr id="6" name="Shape 2"/>
          <p:cNvSpPr/>
          <p:nvPr/>
        </p:nvSpPr>
        <p:spPr>
          <a:xfrm>
            <a:off x="6629400" y="3200400"/>
            <a:ext cx="2194560" cy="1828800"/>
          </a:xfrm>
          <a:prstGeom prst="roundRect">
            <a:avLst>
              <a:gd name="adj" fmla="val 5000"/>
            </a:avLst>
          </a:prstGeom>
          <a:solidFill>
            <a:srgbClr val="FFFFFF"/>
          </a:solidFill>
          <a:ln/>
          <a:effectLst>
            <a:outerShdw sx="100000" sy="100000" kx="0" ky="0" algn="bl" rotWithShape="0" blurRad="101600" dist="38100" dir="2700000">
              <a:srgbClr val="000000">
                <a:alpha val="10000"/>
              </a:srgbClr>
            </a:outerShdw>
          </a:effectLst>
        </p:spPr>
      </p:sp>
      <p:sp>
        <p:nvSpPr>
          <p:cNvPr id="7" name="Text 3"/>
          <p:cNvSpPr/>
          <p:nvPr/>
        </p:nvSpPr>
        <p:spPr>
          <a:xfrm>
            <a:off x="6766560" y="3264408"/>
            <a:ext cx="1920240" cy="347472"/>
          </a:xfrm>
          <a:prstGeom prst="rect">
            <a:avLst/>
          </a:prstGeom>
          <a:noFill/>
          <a:ln/>
        </p:spPr>
        <p:txBody>
          <a:bodyPr wrap="square" rtlCol="0" anchor="ctr"/>
          <a:lstStyle/>
          <a:p>
            <a:pPr indent="0" marL="0">
              <a:buNone/>
            </a:pPr>
            <a:r>
              <a:rPr lang="en-US" sz="1200" b="1" dirty="0">
                <a:solidFill>
                  <a:srgbClr val="0D1B2A"/>
                </a:solidFill>
                <a:latin typeface="Cambria" pitchFamily="34" charset="0"/>
                <a:ea typeface="Cambria" pitchFamily="34" charset="-122"/>
                <a:cs typeface="Cambria" pitchFamily="34" charset="-120"/>
              </a:rPr>
              <a:t>Legend</a:t>
            </a:r>
            <a:endParaRPr lang="en-US" sz="1200" dirty="0"/>
          </a:p>
        </p:txBody>
      </p:sp>
      <p:sp>
        <p:nvSpPr>
          <p:cNvPr id="8" name="Shape 4"/>
          <p:cNvSpPr/>
          <p:nvPr/>
        </p:nvSpPr>
        <p:spPr>
          <a:xfrm>
            <a:off x="6766560" y="3675888"/>
            <a:ext cx="201168" cy="201168"/>
          </a:xfrm>
          <a:prstGeom prst="ellipse">
            <a:avLst/>
          </a:prstGeom>
          <a:solidFill>
            <a:srgbClr val="000000"/>
          </a:solidFill>
          <a:ln w="12700">
            <a:solidFill>
              <a:srgbClr val="000000"/>
            </a:solidFill>
            <a:prstDash val="solid"/>
          </a:ln>
        </p:spPr>
      </p:sp>
      <p:sp>
        <p:nvSpPr>
          <p:cNvPr id="9" name="Text 5"/>
          <p:cNvSpPr/>
          <p:nvPr/>
        </p:nvSpPr>
        <p:spPr>
          <a:xfrm>
            <a:off x="7040880" y="3648456"/>
            <a:ext cx="1691640" cy="256032"/>
          </a:xfrm>
          <a:prstGeom prst="rect">
            <a:avLst/>
          </a:prstGeom>
          <a:noFill/>
          <a:ln/>
        </p:spPr>
        <p:txBody>
          <a:bodyPr wrap="square" rtlCol="0" anchor="ctr"/>
          <a:lstStyle/>
          <a:p>
            <a:pPr indent="0" marL="0">
              <a:buNone/>
            </a:pPr>
            <a:r>
              <a:rPr lang="en-US" sz="900" dirty="0">
                <a:solidFill>
                  <a:srgbClr val="1A2A3A"/>
                </a:solidFill>
                <a:latin typeface="Calibri" pitchFamily="34" charset="0"/>
                <a:ea typeface="Calibri" pitchFamily="34" charset="-122"/>
                <a:cs typeface="Calibri" pitchFamily="34" charset="-120"/>
              </a:rPr>
              <a:t>Initial data</a:t>
            </a:r>
            <a:endParaRPr lang="en-US" sz="900" dirty="0"/>
          </a:p>
          <a:p>
            <a:pPr indent="0" marL="0">
              <a:buNone/>
            </a:pPr>
            <a:r>
              <a:rPr lang="en-US" sz="900" dirty="0">
                <a:solidFill>
                  <a:srgbClr val="1A2A3A"/>
                </a:solidFill>
                <a:latin typeface="Calibri" pitchFamily="34" charset="0"/>
                <a:ea typeface="Calibri" pitchFamily="34" charset="-122"/>
                <a:cs typeface="Calibri" pitchFamily="34" charset="-120"/>
              </a:rPr>
              <a:t>(dominated)</a:t>
            </a:r>
            <a:endParaRPr lang="en-US" sz="900" dirty="0"/>
          </a:p>
        </p:txBody>
      </p:sp>
      <p:sp>
        <p:nvSpPr>
          <p:cNvPr id="10" name="Shape 6"/>
          <p:cNvSpPr/>
          <p:nvPr/>
        </p:nvSpPr>
        <p:spPr>
          <a:xfrm>
            <a:off x="6766560" y="3995928"/>
            <a:ext cx="201168" cy="201168"/>
          </a:xfrm>
          <a:prstGeom prst="ellipse">
            <a:avLst/>
          </a:prstGeom>
          <a:solidFill>
            <a:srgbClr val="FFA500"/>
          </a:solidFill>
          <a:ln w="12700">
            <a:solidFill>
              <a:srgbClr val="FFA500"/>
            </a:solidFill>
            <a:prstDash val="solid"/>
          </a:ln>
        </p:spPr>
      </p:sp>
      <p:sp>
        <p:nvSpPr>
          <p:cNvPr id="11" name="Text 7"/>
          <p:cNvSpPr/>
          <p:nvPr/>
        </p:nvSpPr>
        <p:spPr>
          <a:xfrm>
            <a:off x="7040880" y="3968496"/>
            <a:ext cx="1691640" cy="256032"/>
          </a:xfrm>
          <a:prstGeom prst="rect">
            <a:avLst/>
          </a:prstGeom>
          <a:noFill/>
          <a:ln/>
        </p:spPr>
        <p:txBody>
          <a:bodyPr wrap="square" rtlCol="0" anchor="ctr"/>
          <a:lstStyle/>
          <a:p>
            <a:pPr indent="0" marL="0">
              <a:buNone/>
            </a:pPr>
            <a:r>
              <a:rPr lang="en-US" sz="900" dirty="0">
                <a:solidFill>
                  <a:srgbClr val="1A2A3A"/>
                </a:solidFill>
                <a:latin typeface="Calibri" pitchFamily="34" charset="0"/>
                <a:ea typeface="Calibri" pitchFamily="34" charset="-122"/>
                <a:cs typeface="Calibri" pitchFamily="34" charset="-120"/>
              </a:rPr>
              <a:t>BO candidate</a:t>
            </a:r>
            <a:endParaRPr lang="en-US" sz="900" dirty="0"/>
          </a:p>
          <a:p>
            <a:pPr indent="0" marL="0">
              <a:buNone/>
            </a:pPr>
            <a:r>
              <a:rPr lang="en-US" sz="900" dirty="0">
                <a:solidFill>
                  <a:srgbClr val="1A2A3A"/>
                </a:solidFill>
                <a:latin typeface="Calibri" pitchFamily="34" charset="0"/>
                <a:ea typeface="Calibri" pitchFamily="34" charset="-122"/>
                <a:cs typeface="Calibri" pitchFamily="34" charset="-120"/>
              </a:rPr>
              <a:t>(dominated)</a:t>
            </a:r>
            <a:endParaRPr lang="en-US" sz="900" dirty="0"/>
          </a:p>
        </p:txBody>
      </p:sp>
      <p:sp>
        <p:nvSpPr>
          <p:cNvPr id="12" name="Shape 8"/>
          <p:cNvSpPr/>
          <p:nvPr/>
        </p:nvSpPr>
        <p:spPr>
          <a:xfrm>
            <a:off x="6766560" y="4315968"/>
            <a:ext cx="201168" cy="201168"/>
          </a:xfrm>
          <a:prstGeom prst="ellipse">
            <a:avLst/>
          </a:prstGeom>
          <a:solidFill>
            <a:srgbClr val="000000"/>
          </a:solidFill>
          <a:ln w="12700">
            <a:solidFill>
              <a:srgbClr val="000000"/>
            </a:solidFill>
            <a:prstDash val="solid"/>
          </a:ln>
        </p:spPr>
      </p:sp>
      <p:sp>
        <p:nvSpPr>
          <p:cNvPr id="13" name="Text 9"/>
          <p:cNvSpPr/>
          <p:nvPr/>
        </p:nvSpPr>
        <p:spPr>
          <a:xfrm>
            <a:off x="7040880" y="4288536"/>
            <a:ext cx="1691640" cy="256032"/>
          </a:xfrm>
          <a:prstGeom prst="rect">
            <a:avLst/>
          </a:prstGeom>
          <a:noFill/>
          <a:ln/>
        </p:spPr>
        <p:txBody>
          <a:bodyPr wrap="square" rtlCol="0" anchor="ctr"/>
          <a:lstStyle/>
          <a:p>
            <a:pPr indent="0" marL="0">
              <a:buNone/>
            </a:pPr>
            <a:r>
              <a:rPr lang="en-US" sz="900" dirty="0">
                <a:solidFill>
                  <a:srgbClr val="1A2A3A"/>
                </a:solidFill>
                <a:latin typeface="Calibri" pitchFamily="34" charset="0"/>
                <a:ea typeface="Calibri" pitchFamily="34" charset="-122"/>
                <a:cs typeface="Calibri" pitchFamily="34" charset="-120"/>
              </a:rPr>
              <a:t>Initial Pareto</a:t>
            </a:r>
            <a:endParaRPr lang="en-US" sz="900" dirty="0"/>
          </a:p>
        </p:txBody>
      </p:sp>
      <p:sp>
        <p:nvSpPr>
          <p:cNvPr id="14" name="Shape 10"/>
          <p:cNvSpPr/>
          <p:nvPr/>
        </p:nvSpPr>
        <p:spPr>
          <a:xfrm>
            <a:off x="6766560" y="4636008"/>
            <a:ext cx="201168" cy="201168"/>
          </a:xfrm>
          <a:prstGeom prst="ellipse">
            <a:avLst/>
          </a:prstGeom>
          <a:solidFill>
            <a:srgbClr val="C0392B"/>
          </a:solidFill>
          <a:ln w="12700">
            <a:solidFill>
              <a:srgbClr val="C0392B"/>
            </a:solidFill>
            <a:prstDash val="solid"/>
          </a:ln>
        </p:spPr>
      </p:sp>
      <p:sp>
        <p:nvSpPr>
          <p:cNvPr id="15" name="Text 11"/>
          <p:cNvSpPr/>
          <p:nvPr/>
        </p:nvSpPr>
        <p:spPr>
          <a:xfrm>
            <a:off x="7040880" y="4608576"/>
            <a:ext cx="1691640" cy="256032"/>
          </a:xfrm>
          <a:prstGeom prst="rect">
            <a:avLst/>
          </a:prstGeom>
          <a:noFill/>
          <a:ln/>
        </p:spPr>
        <p:txBody>
          <a:bodyPr wrap="square" rtlCol="0" anchor="ctr"/>
          <a:lstStyle/>
          <a:p>
            <a:pPr indent="0" marL="0">
              <a:buNone/>
            </a:pPr>
            <a:r>
              <a:rPr lang="en-US" sz="900" dirty="0">
                <a:solidFill>
                  <a:srgbClr val="1A2A3A"/>
                </a:solidFill>
                <a:latin typeface="Calibri" pitchFamily="34" charset="0"/>
                <a:ea typeface="Calibri" pitchFamily="34" charset="-122"/>
                <a:cs typeface="Calibri" pitchFamily="34" charset="-120"/>
              </a:rPr>
              <a:t>BO Pareto★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  |  Final Pareto Front (20 Solutions)</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8595360" cy="182880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2651760"/>
          <a:ext cx="8503920" cy="2468880"/>
        </p:xfrm>
        <a:graphic>
          <a:graphicData uri="http://schemas.openxmlformats.org/drawingml/2006/table">
            <a:tbl>
              <a:tblPr/>
              <a:tblGrid>
                <a:gridCol w="1417320"/>
                <a:gridCol w="1417320"/>
                <a:gridCol w="1417320"/>
                <a:gridCol w="1417320"/>
                <a:gridCol w="1417320"/>
                <a:gridCol w="1417320"/>
              </a:tblGrid>
              <a:tr h="2148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X₁</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X₂</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Y₁ Ablation</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Y₂ Temp</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Y₃ Density</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0D1B2A"/>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2.42</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5.491</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173.4</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1.222</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1.95</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5.535</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176.3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1.217</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19.4</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1.73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5.545</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180.8</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1.212</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18.1</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1.51</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5.708</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189.1</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1.203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3.87</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6.026</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167.7</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1.238</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6.073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169.3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1.229</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Initial</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17.1</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1.24</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6.111</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195.6</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1.195</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6.173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184.3</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1.207</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Initial</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14.2</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1.77</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6.627</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201.8</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1.186</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c>
                  <a:txBody>
                    <a:bodyPr/>
                    <a:lstStyle/>
                    <a:p>
                      <a:pPr indent="0" marL="0">
                        <a:buNone/>
                      </a:pPr>
                      <a:r>
                        <a:rPr lang="en-US" sz="950" b="1" dirty="0">
                          <a:solidFill>
                            <a:srgbClr val="0E6B8C"/>
                          </a:solidFill>
                          <a:latin typeface="Calibri" pitchFamily="34" charset="0"/>
                          <a:ea typeface="Calibri" pitchFamily="34" charset="-122"/>
                          <a:cs typeface="Calibri" pitchFamily="34" charset="-120"/>
                        </a:rPr>
                        <a:t>BO ★</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EEF2F7"/>
                    </a:solidFill>
                  </a:tcPr>
                </a:tc>
              </a:tr>
              <a:tr h="214884">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6.640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192.0</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dirty="0">
                          <a:solidFill>
                            <a:srgbClr val="1A2A3A"/>
                          </a:solidFill>
                          <a:latin typeface="Calibri" pitchFamily="34" charset="0"/>
                          <a:ea typeface="Calibri" pitchFamily="34" charset="-122"/>
                          <a:cs typeface="Calibri" pitchFamily="34" charset="-120"/>
                        </a:rPr>
                        <a:t>1.202</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A2A3A"/>
                          </a:solidFill>
                          <a:latin typeface="Calibri" pitchFamily="34" charset="0"/>
                          <a:ea typeface="Calibri" pitchFamily="34" charset="-122"/>
                          <a:cs typeface="Calibri" pitchFamily="34" charset="-120"/>
                        </a:rPr>
                        <a:t>Initial</a:t>
                      </a:r>
                      <a:endParaRPr lang="en-US" sz="950" dirty="0">
                        <a:latin typeface="Calibri" charset="0"/>
                        <a:ea typeface="Calibri" charset="0"/>
                        <a:cs typeface="Calibri" charset="0"/>
                      </a:endParaRPr>
                    </a:p>
                  </a:txBody>
                  <a:tcPr marL="91440" marR="91440" marT="45720" marB="45720">
                    <a:lnL w="6350" cap="flat" cmpd="sng" algn="ctr">
                      <a:solidFill>
                        <a:srgbClr val="C8D4E0"/>
                      </a:solidFill>
                      <a:prstDash val="solid"/>
                      <a:round/>
                      <a:headEnd type="none" w="med" len="med"/>
                      <a:tailEnd type="none" w="med" len="med"/>
                    </a:lnL>
                    <a:lnR w="6350" cap="flat" cmpd="sng" algn="ctr">
                      <a:solidFill>
                        <a:srgbClr val="C8D4E0"/>
                      </a:solidFill>
                      <a:prstDash val="solid"/>
                      <a:round/>
                      <a:headEnd type="none" w="med" len="med"/>
                      <a:tailEnd type="none" w="med" len="med"/>
                    </a:lnR>
                    <a:lnT w="6350" cap="flat" cmpd="sng" algn="ctr">
                      <a:solidFill>
                        <a:srgbClr val="C8D4E0"/>
                      </a:solidFill>
                      <a:prstDash val="solid"/>
                      <a:round/>
                      <a:headEnd type="none" w="med" len="med"/>
                      <a:tailEnd type="none" w="med" len="med"/>
                    </a:lnT>
                    <a:lnB w="6350" cap="flat" cmpd="sng" algn="ctr">
                      <a:solidFill>
                        <a:srgbClr val="C8D4E0"/>
                      </a:solidFill>
                      <a:prstDash val="solid"/>
                      <a:round/>
                      <a:headEnd type="none" w="med" len="med"/>
                      <a:tailEnd type="none" w="med" len="med"/>
                    </a:lnB>
                    <a:solidFill>
                      <a:srgbClr val="FFFFFF"/>
                    </a:solidFill>
                  </a:tcPr>
                </a:tc>
              </a:tr>
            </a:tbl>
          </a:graphicData>
        </a:graphic>
      </p:graphicFrame>
      <p:sp>
        <p:nvSpPr>
          <p:cNvPr id="6" name="Text 2"/>
          <p:cNvSpPr/>
          <p:nvPr/>
        </p:nvSpPr>
        <p:spPr>
          <a:xfrm>
            <a:off x="320040" y="5166360"/>
            <a:ext cx="8503920" cy="256032"/>
          </a:xfrm>
          <a:prstGeom prst="rect">
            <a:avLst/>
          </a:prstGeom>
          <a:noFill/>
          <a:ln/>
        </p:spPr>
        <p:txBody>
          <a:bodyPr wrap="square" rtlCol="0" anchor="ctr"/>
          <a:lstStyle/>
          <a:p>
            <a:pPr indent="0" marL="0">
              <a:buNone/>
            </a:pPr>
            <a:r>
              <a:rPr lang="en-US" sz="900" i="1" dirty="0">
                <a:solidFill>
                  <a:srgbClr val="546778"/>
                </a:solidFill>
                <a:latin typeface="Calibri" pitchFamily="34" charset="0"/>
                <a:ea typeface="Calibri" pitchFamily="34" charset="-122"/>
                <a:cs typeface="Calibri" pitchFamily="34" charset="-120"/>
              </a:rPr>
              <a:t>6 of the top-10 Pareto solutions by ablation rate are BO-recommended (not in the initial dataset). Table shows top 10 of 20 total Pareto solutions, sorted by Y₁ (ascending).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  |  Trade-off Analysis — Preference-Weighted Design Selection</a:t>
            </a:r>
            <a:endParaRPr lang="en-US" sz="2000" dirty="0"/>
          </a:p>
        </p:txBody>
      </p:sp>
      <p:pic>
        <p:nvPicPr>
          <p:cNvPr id="4" name="Image 0" descr="preencoded.png">    </p:cNvPr>
          <p:cNvPicPr>
            <a:picLocks noChangeAspect="1"/>
          </p:cNvPicPr>
          <p:nvPr/>
        </p:nvPicPr>
        <p:blipFill>
          <a:blip r:embed="rId1"/>
          <a:stretch>
            <a:fillRect/>
          </a:stretch>
        </p:blipFill>
        <p:spPr>
          <a:xfrm>
            <a:off x="274320" y="749808"/>
            <a:ext cx="8595360" cy="3749040"/>
          </a:xfrm>
          <a:prstGeom prst="rect">
            <a:avLst/>
          </a:prstGeom>
        </p:spPr>
      </p:pic>
      <p:sp>
        <p:nvSpPr>
          <p:cNvPr id="5" name="Text 2"/>
          <p:cNvSpPr/>
          <p:nvPr/>
        </p:nvSpPr>
        <p:spPr>
          <a:xfrm>
            <a:off x="320040" y="4553712"/>
            <a:ext cx="8503920" cy="274320"/>
          </a:xfrm>
          <a:prstGeom prst="rect">
            <a:avLst/>
          </a:prstGeom>
          <a:noFill/>
          <a:ln/>
        </p:spPr>
        <p:txBody>
          <a:bodyPr wrap="square" rtlCol="0" anchor="ctr"/>
          <a:lstStyle/>
          <a:p>
            <a:pPr indent="0" marL="0">
              <a:buNone/>
            </a:pPr>
            <a:r>
              <a:rPr lang="en-US" sz="950" i="1" dirty="0">
                <a:solidFill>
                  <a:srgbClr val="546778"/>
                </a:solidFill>
                <a:latin typeface="Calibri" pitchFamily="34" charset="0"/>
                <a:ea typeface="Calibri" pitchFamily="34" charset="-122"/>
                <a:cs typeface="Calibri" pitchFamily="34" charset="-120"/>
              </a:rPr>
              <a:t>Weighted utopia-point distance: lower score = preferred design for that scenario. Stars mark the best Pareto solution per preference setting.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  |  Parallel Coordinates — Pareto Solution Structure</a:t>
            </a:r>
            <a:endParaRPr lang="en-US" sz="2000" dirty="0"/>
          </a:p>
        </p:txBody>
      </p:sp>
      <p:pic>
        <p:nvPicPr>
          <p:cNvPr id="4" name="Image 0" descr="preencoded.png">    </p:cNvPr>
          <p:cNvPicPr>
            <a:picLocks noChangeAspect="1"/>
          </p:cNvPicPr>
          <p:nvPr/>
        </p:nvPicPr>
        <p:blipFill>
          <a:blip r:embed="rId1"/>
          <a:stretch>
            <a:fillRect/>
          </a:stretch>
        </p:blipFill>
        <p:spPr>
          <a:xfrm>
            <a:off x="731520" y="777240"/>
            <a:ext cx="7315200" cy="2834640"/>
          </a:xfrm>
          <a:prstGeom prst="rect">
            <a:avLst/>
          </a:prstGeom>
        </p:spPr>
      </p:pic>
      <p:sp>
        <p:nvSpPr>
          <p:cNvPr id="5" name="Shape 2"/>
          <p:cNvSpPr/>
          <p:nvPr/>
        </p:nvSpPr>
        <p:spPr>
          <a:xfrm>
            <a:off x="320040" y="3703320"/>
            <a:ext cx="2651760" cy="1325880"/>
          </a:xfrm>
          <a:prstGeom prst="roundRect">
            <a:avLst>
              <a:gd name="adj" fmla="val 6897"/>
            </a:avLst>
          </a:prstGeom>
          <a:solidFill>
            <a:srgbClr val="FFFFFF"/>
          </a:solidFill>
          <a:ln/>
          <a:effectLst>
            <a:outerShdw sx="100000" sy="100000" kx="0" ky="0" algn="bl" rotWithShape="0" blurRad="101600" dist="38100" dir="2700000">
              <a:srgbClr val="000000">
                <a:alpha val="10000"/>
              </a:srgbClr>
            </a:outerShdw>
          </a:effectLst>
        </p:spPr>
      </p:sp>
      <p:sp>
        <p:nvSpPr>
          <p:cNvPr id="6" name="Text 3"/>
          <p:cNvSpPr/>
          <p:nvPr/>
        </p:nvSpPr>
        <p:spPr>
          <a:xfrm>
            <a:off x="429768" y="3767328"/>
            <a:ext cx="2450592" cy="411480"/>
          </a:xfrm>
          <a:prstGeom prst="rect">
            <a:avLst/>
          </a:prstGeom>
          <a:noFill/>
          <a:ln/>
        </p:spPr>
        <p:txBody>
          <a:bodyPr wrap="square"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Low ablation → high density trade-off</a:t>
            </a:r>
            <a:endParaRPr lang="en-US" sz="1100" dirty="0"/>
          </a:p>
        </p:txBody>
      </p:sp>
      <p:sp>
        <p:nvSpPr>
          <p:cNvPr id="7" name="Text 4"/>
          <p:cNvSpPr/>
          <p:nvPr/>
        </p:nvSpPr>
        <p:spPr>
          <a:xfrm>
            <a:off x="429768" y="4206240"/>
            <a:ext cx="2423160" cy="749808"/>
          </a:xfrm>
          <a:prstGeom prst="rect">
            <a:avLst/>
          </a:prstGeom>
          <a:noFill/>
          <a:ln/>
        </p:spPr>
        <p:txBody>
          <a:bodyPr wrap="square" rtlCol="0" anchor="ctr"/>
          <a:lstStyle/>
          <a:p>
            <a:pPr indent="0" marL="0">
              <a:buNone/>
            </a:pPr>
            <a:r>
              <a:rPr lang="en-US" sz="950" dirty="0">
                <a:solidFill>
                  <a:srgbClr val="1A2A3A"/>
                </a:solidFill>
                <a:latin typeface="Calibri" pitchFamily="34" charset="0"/>
                <a:ea typeface="Calibri" pitchFamily="34" charset="-122"/>
                <a:cs typeface="Calibri" pitchFamily="34" charset="-120"/>
              </a:rPr>
              <a:t>Blue (initial) lines at high Y1 values have low Y3 (density). Red BO lines achieve low Y1 and high Y3 — expanding the Pareto front.</a:t>
            </a:r>
            <a:endParaRPr lang="en-US" sz="950" dirty="0"/>
          </a:p>
        </p:txBody>
      </p:sp>
      <p:sp>
        <p:nvSpPr>
          <p:cNvPr id="8" name="Shape 5"/>
          <p:cNvSpPr/>
          <p:nvPr/>
        </p:nvSpPr>
        <p:spPr>
          <a:xfrm>
            <a:off x="3182112" y="3703320"/>
            <a:ext cx="2651760" cy="1325880"/>
          </a:xfrm>
          <a:prstGeom prst="roundRect">
            <a:avLst>
              <a:gd name="adj" fmla="val 6897"/>
            </a:avLst>
          </a:prstGeom>
          <a:solidFill>
            <a:srgbClr val="FFFFFF"/>
          </a:solidFill>
          <a:ln/>
          <a:effectLst>
            <a:outerShdw sx="100000" sy="100000" kx="0" ky="0" algn="bl" rotWithShape="0" blurRad="101600" dist="38100" dir="2700000">
              <a:srgbClr val="000000">
                <a:alpha val="10000"/>
              </a:srgbClr>
            </a:outerShdw>
          </a:effectLst>
        </p:spPr>
      </p:sp>
      <p:sp>
        <p:nvSpPr>
          <p:cNvPr id="9" name="Text 6"/>
          <p:cNvSpPr/>
          <p:nvPr/>
        </p:nvSpPr>
        <p:spPr>
          <a:xfrm>
            <a:off x="3291840" y="3767328"/>
            <a:ext cx="2450592" cy="411480"/>
          </a:xfrm>
          <a:prstGeom prst="rect">
            <a:avLst/>
          </a:prstGeom>
          <a:noFill/>
          <a:ln/>
        </p:spPr>
        <p:txBody>
          <a:bodyPr wrap="square"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Temperature varies non-monotonically</a:t>
            </a:r>
            <a:endParaRPr lang="en-US" sz="1100" dirty="0"/>
          </a:p>
        </p:txBody>
      </p:sp>
      <p:sp>
        <p:nvSpPr>
          <p:cNvPr id="10" name="Text 7"/>
          <p:cNvSpPr/>
          <p:nvPr/>
        </p:nvSpPr>
        <p:spPr>
          <a:xfrm>
            <a:off x="3291840" y="4206240"/>
            <a:ext cx="2423160" cy="749808"/>
          </a:xfrm>
          <a:prstGeom prst="rect">
            <a:avLst/>
          </a:prstGeom>
          <a:noFill/>
          <a:ln/>
        </p:spPr>
        <p:txBody>
          <a:bodyPr wrap="square" rtlCol="0" anchor="ctr"/>
          <a:lstStyle/>
          <a:p>
            <a:pPr indent="0" marL="0">
              <a:buNone/>
            </a:pPr>
            <a:r>
              <a:rPr lang="en-US" sz="950" dirty="0">
                <a:solidFill>
                  <a:srgbClr val="1A2A3A"/>
                </a:solidFill>
                <a:latin typeface="Calibri" pitchFamily="34" charset="0"/>
                <a:ea typeface="Calibri" pitchFamily="34" charset="-122"/>
                <a:cs typeface="Calibri" pitchFamily="34" charset="-120"/>
              </a:rPr>
              <a:t>Y2 (temperature) does not systematically co-vary with Y1 or Y3 across Pareto solutions, confirming it is an orthogonal dimension of the trade-off space.</a:t>
            </a:r>
            <a:endParaRPr lang="en-US" sz="950" dirty="0"/>
          </a:p>
        </p:txBody>
      </p:sp>
      <p:sp>
        <p:nvSpPr>
          <p:cNvPr id="11" name="Shape 8"/>
          <p:cNvSpPr/>
          <p:nvPr/>
        </p:nvSpPr>
        <p:spPr>
          <a:xfrm>
            <a:off x="6044184" y="3703320"/>
            <a:ext cx="2651760" cy="1325880"/>
          </a:xfrm>
          <a:prstGeom prst="roundRect">
            <a:avLst>
              <a:gd name="adj" fmla="val 6897"/>
            </a:avLst>
          </a:prstGeom>
          <a:solidFill>
            <a:srgbClr val="FFFFFF"/>
          </a:solidFill>
          <a:ln/>
          <a:effectLst>
            <a:outerShdw sx="100000" sy="100000" kx="0" ky="0" algn="bl" rotWithShape="0" blurRad="101600" dist="38100" dir="2700000">
              <a:srgbClr val="000000">
                <a:alpha val="10000"/>
              </a:srgbClr>
            </a:outerShdw>
          </a:effectLst>
        </p:spPr>
      </p:sp>
      <p:sp>
        <p:nvSpPr>
          <p:cNvPr id="12" name="Text 9"/>
          <p:cNvSpPr/>
          <p:nvPr/>
        </p:nvSpPr>
        <p:spPr>
          <a:xfrm>
            <a:off x="6153912" y="3767328"/>
            <a:ext cx="2450592" cy="411480"/>
          </a:xfrm>
          <a:prstGeom prst="rect">
            <a:avLst/>
          </a:prstGeom>
          <a:noFill/>
          <a:ln/>
        </p:spPr>
        <p:txBody>
          <a:bodyPr wrap="square" rtlCol="0" anchor="ctr"/>
          <a:lstStyle/>
          <a:p>
            <a:pPr indent="0" marL="0">
              <a:buNone/>
            </a:pPr>
            <a:r>
              <a:rPr lang="en-US" sz="1100" b="1" dirty="0">
                <a:solidFill>
                  <a:srgbClr val="0D1B2A"/>
                </a:solidFill>
                <a:latin typeface="Cambria" pitchFamily="34" charset="0"/>
                <a:ea typeface="Cambria" pitchFamily="34" charset="-122"/>
                <a:cs typeface="Cambria" pitchFamily="34" charset="-120"/>
              </a:rPr>
              <a:t>BO fills the low Y1 regime</a:t>
            </a:r>
            <a:endParaRPr lang="en-US" sz="1100" dirty="0"/>
          </a:p>
        </p:txBody>
      </p:sp>
      <p:sp>
        <p:nvSpPr>
          <p:cNvPr id="13" name="Text 10"/>
          <p:cNvSpPr/>
          <p:nvPr/>
        </p:nvSpPr>
        <p:spPr>
          <a:xfrm>
            <a:off x="6153912" y="4206240"/>
            <a:ext cx="2423160" cy="749808"/>
          </a:xfrm>
          <a:prstGeom prst="rect">
            <a:avLst/>
          </a:prstGeom>
          <a:noFill/>
          <a:ln/>
        </p:spPr>
        <p:txBody>
          <a:bodyPr wrap="square" rtlCol="0" anchor="ctr"/>
          <a:lstStyle/>
          <a:p>
            <a:pPr indent="0" marL="0">
              <a:buNone/>
            </a:pPr>
            <a:r>
              <a:rPr lang="en-US" sz="950" dirty="0">
                <a:solidFill>
                  <a:srgbClr val="1A2A3A"/>
                </a:solidFill>
                <a:latin typeface="Calibri" pitchFamily="34" charset="0"/>
                <a:ea typeface="Calibri" pitchFamily="34" charset="-122"/>
                <a:cs typeface="Calibri" pitchFamily="34" charset="-120"/>
              </a:rPr>
              <a:t>Most BO-recommended (red) solutions cluster in the low Y1 / low Y2 / high Y3 corner, systematically addressing the under-sampled high-X₁ region.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sp>
      <p:sp>
        <p:nvSpPr>
          <p:cNvPr id="3" name="Text 1"/>
          <p:cNvSpPr/>
          <p:nvPr/>
        </p:nvSpPr>
        <p:spPr>
          <a:xfrm>
            <a:off x="320040" y="0"/>
            <a:ext cx="8503920" cy="658368"/>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8  |  Discussion</a:t>
            </a:r>
            <a:endParaRPr lang="en-US" sz="2000" dirty="0"/>
          </a:p>
        </p:txBody>
      </p:sp>
      <p:sp>
        <p:nvSpPr>
          <p:cNvPr id="4" name="Shape 2"/>
          <p:cNvSpPr/>
          <p:nvPr/>
        </p:nvSpPr>
        <p:spPr>
          <a:xfrm>
            <a:off x="320040" y="804672"/>
            <a:ext cx="4069080" cy="2011680"/>
          </a:xfrm>
          <a:prstGeom prst="roundRect">
            <a:avLst>
              <a:gd name="adj" fmla="val 5455"/>
            </a:avLst>
          </a:prstGeom>
          <a:solidFill>
            <a:srgbClr val="FFFFFF"/>
          </a:solidFill>
          <a:ln/>
          <a:effectLst>
            <a:outerShdw sx="100000" sy="100000" kx="0" ky="0" algn="bl" rotWithShape="0" blurRad="101600" dist="38100" dir="2700000">
              <a:srgbClr val="000000">
                <a:alpha val="10000"/>
              </a:srgbClr>
            </a:outerShdw>
          </a:effectLst>
        </p:spPr>
      </p:sp>
      <p:sp>
        <p:nvSpPr>
          <p:cNvPr id="5" name="Shape 3"/>
          <p:cNvSpPr/>
          <p:nvPr/>
        </p:nvSpPr>
        <p:spPr>
          <a:xfrm>
            <a:off x="429768" y="914400"/>
            <a:ext cx="475488" cy="475488"/>
          </a:xfrm>
          <a:prstGeom prst="ellipse">
            <a:avLst/>
          </a:prstGeom>
          <a:solidFill>
            <a:srgbClr val="0E6B8C"/>
          </a:solidFill>
          <a:ln w="12700">
            <a:solidFill>
              <a:srgbClr val="0E6B8C"/>
            </a:solidFill>
            <a:prstDash val="solid"/>
          </a:ln>
        </p:spPr>
      </p:sp>
      <p:sp>
        <p:nvSpPr>
          <p:cNvPr id="6" name="Text 4"/>
          <p:cNvSpPr/>
          <p:nvPr/>
        </p:nvSpPr>
        <p:spPr>
          <a:xfrm>
            <a:off x="429768" y="914400"/>
            <a:ext cx="475488" cy="475488"/>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014984" y="896112"/>
            <a:ext cx="3246120" cy="47548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Why MOBO over Random / Grid Search?</a:t>
            </a:r>
            <a:endParaRPr lang="en-US" sz="1150" dirty="0"/>
          </a:p>
        </p:txBody>
      </p:sp>
      <p:sp>
        <p:nvSpPr>
          <p:cNvPr id="8" name="Text 6"/>
          <p:cNvSpPr/>
          <p:nvPr/>
        </p:nvSpPr>
        <p:spPr>
          <a:xfrm>
            <a:off x="457200" y="1426464"/>
            <a:ext cx="3840480" cy="1325880"/>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EHVI concentrates evaluations where expected HV gain is highest — achieving 9.54% HV improvement in only 10 new evaluations vs ~50+ needed by random search for equivalent coverage.</a:t>
            </a:r>
            <a:endParaRPr lang="en-US" sz="1000" dirty="0"/>
          </a:p>
        </p:txBody>
      </p:sp>
      <p:sp>
        <p:nvSpPr>
          <p:cNvPr id="9" name="Shape 7"/>
          <p:cNvSpPr/>
          <p:nvPr/>
        </p:nvSpPr>
        <p:spPr>
          <a:xfrm>
            <a:off x="4663440" y="804672"/>
            <a:ext cx="4069080" cy="2011680"/>
          </a:xfrm>
          <a:prstGeom prst="roundRect">
            <a:avLst>
              <a:gd name="adj" fmla="val 5455"/>
            </a:avLst>
          </a:prstGeom>
          <a:solidFill>
            <a:srgbClr val="FFFFFF"/>
          </a:solidFill>
          <a:ln/>
          <a:effectLst>
            <a:outerShdw sx="100000" sy="100000" kx="0" ky="0" algn="bl" rotWithShape="0" blurRad="101600" dist="38100" dir="2700000">
              <a:srgbClr val="000000">
                <a:alpha val="10000"/>
              </a:srgbClr>
            </a:outerShdw>
          </a:effectLst>
        </p:spPr>
      </p:sp>
      <p:sp>
        <p:nvSpPr>
          <p:cNvPr id="10" name="Shape 8"/>
          <p:cNvSpPr/>
          <p:nvPr/>
        </p:nvSpPr>
        <p:spPr>
          <a:xfrm>
            <a:off x="4773168" y="914400"/>
            <a:ext cx="475488" cy="475488"/>
          </a:xfrm>
          <a:prstGeom prst="ellipse">
            <a:avLst/>
          </a:prstGeom>
          <a:solidFill>
            <a:srgbClr val="1B3A5C"/>
          </a:solidFill>
          <a:ln w="12700">
            <a:solidFill>
              <a:srgbClr val="1B3A5C"/>
            </a:solidFill>
            <a:prstDash val="solid"/>
          </a:ln>
        </p:spPr>
      </p:sp>
      <p:sp>
        <p:nvSpPr>
          <p:cNvPr id="11" name="Text 9"/>
          <p:cNvSpPr/>
          <p:nvPr/>
        </p:nvSpPr>
        <p:spPr>
          <a:xfrm>
            <a:off x="4773168" y="914400"/>
            <a:ext cx="475488" cy="475488"/>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5358384" y="896112"/>
            <a:ext cx="3246120" cy="47548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Conflict Between Objectives</a:t>
            </a:r>
            <a:endParaRPr lang="en-US" sz="1150" dirty="0"/>
          </a:p>
        </p:txBody>
      </p:sp>
      <p:sp>
        <p:nvSpPr>
          <p:cNvPr id="13" name="Text 11"/>
          <p:cNvSpPr/>
          <p:nvPr/>
        </p:nvSpPr>
        <p:spPr>
          <a:xfrm>
            <a:off x="4800600" y="1426464"/>
            <a:ext cx="3840480" cy="1325880"/>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All three objectives are conflicting: high X₁ reduces Y₁ (ablation) but increases Y₃ (density). No single optimal point exists. The Pareto front is the correct answer to the problem.</a:t>
            </a:r>
            <a:endParaRPr lang="en-US" sz="1000" dirty="0"/>
          </a:p>
        </p:txBody>
      </p:sp>
      <p:sp>
        <p:nvSpPr>
          <p:cNvPr id="14" name="Shape 12"/>
          <p:cNvSpPr/>
          <p:nvPr/>
        </p:nvSpPr>
        <p:spPr>
          <a:xfrm>
            <a:off x="320040" y="2980944"/>
            <a:ext cx="4069080" cy="2011680"/>
          </a:xfrm>
          <a:prstGeom prst="roundRect">
            <a:avLst>
              <a:gd name="adj" fmla="val 5455"/>
            </a:avLst>
          </a:prstGeom>
          <a:solidFill>
            <a:srgbClr val="FFFFFF"/>
          </a:solidFill>
          <a:ln/>
          <a:effectLst>
            <a:outerShdw sx="100000" sy="100000" kx="0" ky="0" algn="bl" rotWithShape="0" blurRad="101600" dist="38100" dir="2700000">
              <a:srgbClr val="000000">
                <a:alpha val="10000"/>
              </a:srgbClr>
            </a:outerShdw>
          </a:effectLst>
        </p:spPr>
      </p:sp>
      <p:sp>
        <p:nvSpPr>
          <p:cNvPr id="15" name="Shape 13"/>
          <p:cNvSpPr/>
          <p:nvPr/>
        </p:nvSpPr>
        <p:spPr>
          <a:xfrm>
            <a:off x="429768" y="3090672"/>
            <a:ext cx="475488" cy="475488"/>
          </a:xfrm>
          <a:prstGeom prst="ellipse">
            <a:avLst/>
          </a:prstGeom>
          <a:solidFill>
            <a:srgbClr val="D97706"/>
          </a:solidFill>
          <a:ln w="12700">
            <a:solidFill>
              <a:srgbClr val="D97706"/>
            </a:solidFill>
            <a:prstDash val="solid"/>
          </a:ln>
        </p:spPr>
      </p:sp>
      <p:sp>
        <p:nvSpPr>
          <p:cNvPr id="16" name="Text 14"/>
          <p:cNvSpPr/>
          <p:nvPr/>
        </p:nvSpPr>
        <p:spPr>
          <a:xfrm>
            <a:off x="429768" y="3090672"/>
            <a:ext cx="475488" cy="475488"/>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014984" y="3072384"/>
            <a:ext cx="3246120" cy="47548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Surrogates as Digital Twins</a:t>
            </a:r>
            <a:endParaRPr lang="en-US" sz="1150" dirty="0"/>
          </a:p>
        </p:txBody>
      </p:sp>
      <p:sp>
        <p:nvSpPr>
          <p:cNvPr id="18" name="Text 16"/>
          <p:cNvSpPr/>
          <p:nvPr/>
        </p:nvSpPr>
        <p:spPr>
          <a:xfrm>
            <a:off x="457200" y="3602736"/>
            <a:ext cx="3840480" cy="1325880"/>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The fitted GP surrogates serve as lightweight digital twins of the experiment. They enable zero-cost evaluation of thousands of candidates to find the most informative next experiment.</a:t>
            </a:r>
            <a:endParaRPr lang="en-US" sz="1000" dirty="0"/>
          </a:p>
        </p:txBody>
      </p:sp>
      <p:sp>
        <p:nvSpPr>
          <p:cNvPr id="19" name="Shape 17"/>
          <p:cNvSpPr/>
          <p:nvPr/>
        </p:nvSpPr>
        <p:spPr>
          <a:xfrm>
            <a:off x="4663440" y="2980944"/>
            <a:ext cx="4069080" cy="2011680"/>
          </a:xfrm>
          <a:prstGeom prst="roundRect">
            <a:avLst>
              <a:gd name="adj" fmla="val 5455"/>
            </a:avLst>
          </a:prstGeom>
          <a:solidFill>
            <a:srgbClr val="FFFFFF"/>
          </a:solidFill>
          <a:ln/>
          <a:effectLst>
            <a:outerShdw sx="100000" sy="100000" kx="0" ky="0" algn="bl" rotWithShape="0" blurRad="101600" dist="38100" dir="2700000">
              <a:srgbClr val="000000">
                <a:alpha val="10000"/>
              </a:srgbClr>
            </a:outerShdw>
          </a:effectLst>
        </p:spPr>
      </p:sp>
      <p:sp>
        <p:nvSpPr>
          <p:cNvPr id="20" name="Shape 18"/>
          <p:cNvSpPr/>
          <p:nvPr/>
        </p:nvSpPr>
        <p:spPr>
          <a:xfrm>
            <a:off x="4773168" y="3090672"/>
            <a:ext cx="475488" cy="475488"/>
          </a:xfrm>
          <a:prstGeom prst="ellipse">
            <a:avLst/>
          </a:prstGeom>
          <a:solidFill>
            <a:srgbClr val="1A7A4A"/>
          </a:solidFill>
          <a:ln w="12700">
            <a:solidFill>
              <a:srgbClr val="1A7A4A"/>
            </a:solidFill>
            <a:prstDash val="solid"/>
          </a:ln>
        </p:spPr>
      </p:sp>
      <p:sp>
        <p:nvSpPr>
          <p:cNvPr id="21" name="Text 19"/>
          <p:cNvSpPr/>
          <p:nvPr/>
        </p:nvSpPr>
        <p:spPr>
          <a:xfrm>
            <a:off x="4773168" y="3090672"/>
            <a:ext cx="475488" cy="475488"/>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5358384" y="3072384"/>
            <a:ext cx="3246120" cy="475488"/>
          </a:xfrm>
          <a:prstGeom prst="rect">
            <a:avLst/>
          </a:prstGeom>
          <a:noFill/>
          <a:ln/>
        </p:spPr>
        <p:txBody>
          <a:bodyPr wrap="square" rtlCol="0" anchor="ctr"/>
          <a:lstStyle/>
          <a:p>
            <a:pPr indent="0" marL="0">
              <a:buNone/>
            </a:pPr>
            <a:r>
              <a:rPr lang="en-US" sz="1150" b="1" dirty="0">
                <a:solidFill>
                  <a:srgbClr val="0D1B2A"/>
                </a:solidFill>
                <a:latin typeface="Cambria" pitchFamily="34" charset="0"/>
                <a:ea typeface="Cambria" pitchFamily="34" charset="-122"/>
                <a:cs typeface="Cambria" pitchFamily="34" charset="-120"/>
              </a:rPr>
              <a:t>Heteroscedastic Extension</a:t>
            </a:r>
            <a:endParaRPr lang="en-US" sz="1150" dirty="0"/>
          </a:p>
        </p:txBody>
      </p:sp>
      <p:sp>
        <p:nvSpPr>
          <p:cNvPr id="23" name="Text 21"/>
          <p:cNvSpPr/>
          <p:nvPr/>
        </p:nvSpPr>
        <p:spPr>
          <a:xfrm>
            <a:off x="4800600" y="3602736"/>
            <a:ext cx="3840480" cy="1325880"/>
          </a:xfrm>
          <a:prstGeom prst="rect">
            <a:avLst/>
          </a:prstGeom>
          <a:noFill/>
          <a:ln/>
        </p:spPr>
        <p:txBody>
          <a:bodyPr wrap="square" rtlCol="0" anchor="ctr"/>
          <a:lstStyle/>
          <a:p>
            <a:pPr indent="0" marL="0">
              <a:buNone/>
            </a:pPr>
            <a:r>
              <a:rPr lang="en-US" sz="1000" dirty="0">
                <a:solidFill>
                  <a:srgbClr val="1A2A3A"/>
                </a:solidFill>
                <a:latin typeface="Calibri" pitchFamily="34" charset="0"/>
                <a:ea typeface="Calibri" pitchFamily="34" charset="-122"/>
                <a:cs typeface="Calibri" pitchFamily="34" charset="-120"/>
              </a:rPr>
              <a:t>Replacing SingleTaskGP with a heteroscedastic likelihood (as in the MOGP analysis) would properly account for replicate variance per condition — further improving surrogate reliability for noisy responses (Y₂).</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217920" y="-548640"/>
            <a:ext cx="5029200" cy="5029200"/>
          </a:xfrm>
          <a:prstGeom prst="ellipse">
            <a:avLst/>
          </a:prstGeom>
          <a:solidFill>
            <a:srgbClr val="1B3A5C">
              <a:alpha val="40000"/>
            </a:srgbClr>
          </a:solidFill>
          <a:ln w="12700">
            <a:solidFill>
              <a:srgbClr val="1B3A5C">
                <a:alpha val="40000"/>
              </a:srgbClr>
            </a:solidFill>
            <a:prstDash val="solid"/>
          </a:ln>
        </p:spPr>
      </p:sp>
      <p:sp>
        <p:nvSpPr>
          <p:cNvPr id="3" name="Shape 1"/>
          <p:cNvSpPr/>
          <p:nvPr/>
        </p:nvSpPr>
        <p:spPr>
          <a:xfrm>
            <a:off x="-457200" y="3474720"/>
            <a:ext cx="2743200" cy="2743200"/>
          </a:xfrm>
          <a:prstGeom prst="ellipse">
            <a:avLst/>
          </a:prstGeom>
          <a:solidFill>
            <a:srgbClr val="0E6B8C">
              <a:alpha val="30000"/>
            </a:srgbClr>
          </a:solidFill>
          <a:ln w="12700">
            <a:solidFill>
              <a:srgbClr val="0E6B8C">
                <a:alpha val="30000"/>
              </a:srgbClr>
            </a:solidFill>
            <a:prstDash val="solid"/>
          </a:ln>
        </p:spPr>
      </p:sp>
      <p:sp>
        <p:nvSpPr>
          <p:cNvPr id="4" name="Text 2"/>
          <p:cNvSpPr/>
          <p:nvPr/>
        </p:nvSpPr>
        <p:spPr>
          <a:xfrm>
            <a:off x="457200" y="228600"/>
            <a:ext cx="5486400" cy="713232"/>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Conclusions</a:t>
            </a:r>
            <a:endParaRPr lang="en-US" sz="3600" dirty="0"/>
          </a:p>
        </p:txBody>
      </p:sp>
      <p:sp>
        <p:nvSpPr>
          <p:cNvPr id="5" name="Shape 3"/>
          <p:cNvSpPr/>
          <p:nvPr/>
        </p:nvSpPr>
        <p:spPr>
          <a:xfrm>
            <a:off x="457200" y="987552"/>
            <a:ext cx="2194560" cy="54864"/>
          </a:xfrm>
          <a:prstGeom prst="rect">
            <a:avLst/>
          </a:prstGeom>
          <a:solidFill>
            <a:srgbClr val="E6A817"/>
          </a:solidFill>
          <a:ln w="12700">
            <a:solidFill>
              <a:srgbClr val="E6A817"/>
            </a:solidFill>
            <a:prstDash val="solid"/>
          </a:ln>
        </p:spPr>
      </p:sp>
      <p:sp>
        <p:nvSpPr>
          <p:cNvPr id="6" name="Shape 4"/>
          <p:cNvSpPr/>
          <p:nvPr/>
        </p:nvSpPr>
        <p:spPr>
          <a:xfrm>
            <a:off x="457200" y="1179576"/>
            <a:ext cx="402336" cy="402336"/>
          </a:xfrm>
          <a:prstGeom prst="ellipse">
            <a:avLst/>
          </a:prstGeom>
          <a:solidFill>
            <a:srgbClr val="0E6B8C"/>
          </a:solidFill>
          <a:ln w="12700">
            <a:solidFill>
              <a:srgbClr val="0E6B8C"/>
            </a:solidFill>
            <a:prstDash val="solid"/>
          </a:ln>
        </p:spPr>
      </p:sp>
      <p:sp>
        <p:nvSpPr>
          <p:cNvPr id="7" name="Text 5"/>
          <p:cNvSpPr/>
          <p:nvPr/>
        </p:nvSpPr>
        <p:spPr>
          <a:xfrm>
            <a:off x="457200" y="1179576"/>
            <a:ext cx="402336"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969264" y="1115568"/>
            <a:ext cx="7589520" cy="713232"/>
          </a:xfrm>
          <a:prstGeom prst="rect">
            <a:avLst/>
          </a:prstGeom>
          <a:noFill/>
          <a:ln/>
        </p:spPr>
        <p:txBody>
          <a:bodyPr wrap="square" rtlCol="0" anchor="ctr"/>
          <a:lstStyle/>
          <a:p>
            <a:pPr indent="0" marL="0">
              <a:buNone/>
            </a:pPr>
            <a:r>
              <a:rPr lang="en-US" sz="1050" dirty="0">
                <a:solidFill>
                  <a:srgbClr val="C8DCF0"/>
                </a:solidFill>
                <a:latin typeface="Calibri" pitchFamily="34" charset="0"/>
                <a:ea typeface="Calibri" pitchFamily="34" charset="-122"/>
                <a:cs typeface="Calibri" pitchFamily="34" charset="-120"/>
              </a:rPr>
              <a:t>qLogEHVI with ModelListGP achieves a 9.54% hypervolume improvement (51.17→56.05) in just 10 new evaluations — far more efficient than exhaustive search over the continuous design space.</a:t>
            </a:r>
            <a:endParaRPr lang="en-US" sz="1050" dirty="0"/>
          </a:p>
        </p:txBody>
      </p:sp>
      <p:sp>
        <p:nvSpPr>
          <p:cNvPr id="9" name="Shape 7"/>
          <p:cNvSpPr/>
          <p:nvPr/>
        </p:nvSpPr>
        <p:spPr>
          <a:xfrm>
            <a:off x="457200" y="1947672"/>
            <a:ext cx="402336" cy="402336"/>
          </a:xfrm>
          <a:prstGeom prst="ellipse">
            <a:avLst/>
          </a:prstGeom>
          <a:solidFill>
            <a:srgbClr val="0E6B8C"/>
          </a:solidFill>
          <a:ln w="12700">
            <a:solidFill>
              <a:srgbClr val="0E6B8C"/>
            </a:solidFill>
            <a:prstDash val="solid"/>
          </a:ln>
        </p:spPr>
      </p:sp>
      <p:sp>
        <p:nvSpPr>
          <p:cNvPr id="10" name="Text 8"/>
          <p:cNvSpPr/>
          <p:nvPr/>
        </p:nvSpPr>
        <p:spPr>
          <a:xfrm>
            <a:off x="457200" y="1947672"/>
            <a:ext cx="402336"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969264" y="1883664"/>
            <a:ext cx="7589520" cy="713232"/>
          </a:xfrm>
          <a:prstGeom prst="rect">
            <a:avLst/>
          </a:prstGeom>
          <a:noFill/>
          <a:ln/>
        </p:spPr>
        <p:txBody>
          <a:bodyPr wrap="square" rtlCol="0" anchor="ctr"/>
          <a:lstStyle/>
          <a:p>
            <a:pPr indent="0" marL="0">
              <a:buNone/>
            </a:pPr>
            <a:r>
              <a:rPr lang="en-US" sz="1050" dirty="0">
                <a:solidFill>
                  <a:srgbClr val="C8DCF0"/>
                </a:solidFill>
                <a:latin typeface="Calibri" pitchFamily="34" charset="0"/>
                <a:ea typeface="Calibri" pitchFamily="34" charset="-122"/>
                <a:cs typeface="Calibri" pitchFamily="34" charset="-120"/>
              </a:rPr>
              <a:t>6 of the top-10 Pareto solutions by ablation rate are BO-recommended points not in the original 13-condition dataset. MOBO genuinely discovers better material formulations.</a:t>
            </a:r>
            <a:endParaRPr lang="en-US" sz="1050" dirty="0"/>
          </a:p>
        </p:txBody>
      </p:sp>
      <p:sp>
        <p:nvSpPr>
          <p:cNvPr id="12" name="Shape 10"/>
          <p:cNvSpPr/>
          <p:nvPr/>
        </p:nvSpPr>
        <p:spPr>
          <a:xfrm>
            <a:off x="457200" y="2715768"/>
            <a:ext cx="402336" cy="402336"/>
          </a:xfrm>
          <a:prstGeom prst="ellipse">
            <a:avLst/>
          </a:prstGeom>
          <a:solidFill>
            <a:srgbClr val="0E6B8C"/>
          </a:solidFill>
          <a:ln w="12700">
            <a:solidFill>
              <a:srgbClr val="0E6B8C"/>
            </a:solidFill>
            <a:prstDash val="solid"/>
          </a:ln>
        </p:spPr>
      </p:sp>
      <p:sp>
        <p:nvSpPr>
          <p:cNvPr id="13" name="Text 11"/>
          <p:cNvSpPr/>
          <p:nvPr/>
        </p:nvSpPr>
        <p:spPr>
          <a:xfrm>
            <a:off x="457200" y="2715768"/>
            <a:ext cx="402336"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4" name="Text 12"/>
          <p:cNvSpPr/>
          <p:nvPr/>
        </p:nvSpPr>
        <p:spPr>
          <a:xfrm>
            <a:off x="969264" y="2651760"/>
            <a:ext cx="7589520" cy="713232"/>
          </a:xfrm>
          <a:prstGeom prst="rect">
            <a:avLst/>
          </a:prstGeom>
          <a:noFill/>
          <a:ln/>
        </p:spPr>
        <p:txBody>
          <a:bodyPr wrap="square" rtlCol="0" anchor="ctr"/>
          <a:lstStyle/>
          <a:p>
            <a:pPr indent="0" marL="0">
              <a:buNone/>
            </a:pPr>
            <a:r>
              <a:rPr lang="en-US" sz="1050" dirty="0">
                <a:solidFill>
                  <a:srgbClr val="C8DCF0"/>
                </a:solidFill>
                <a:latin typeface="Calibri" pitchFamily="34" charset="0"/>
                <a:ea typeface="Calibri" pitchFamily="34" charset="-122"/>
                <a:cs typeface="Calibri" pitchFamily="34" charset="-120"/>
              </a:rPr>
              <a:t>The acquisition function correctly identifies high X₁ / low X₂ as the most informative region early on, then diversifies to fill gaps in the temperature and density dimensions of the trade-off space.</a:t>
            </a:r>
            <a:endParaRPr lang="en-US" sz="1050" dirty="0"/>
          </a:p>
        </p:txBody>
      </p:sp>
      <p:sp>
        <p:nvSpPr>
          <p:cNvPr id="15" name="Shape 13"/>
          <p:cNvSpPr/>
          <p:nvPr/>
        </p:nvSpPr>
        <p:spPr>
          <a:xfrm>
            <a:off x="457200" y="3483864"/>
            <a:ext cx="402336" cy="402336"/>
          </a:xfrm>
          <a:prstGeom prst="ellipse">
            <a:avLst/>
          </a:prstGeom>
          <a:solidFill>
            <a:srgbClr val="0E6B8C"/>
          </a:solidFill>
          <a:ln w="12700">
            <a:solidFill>
              <a:srgbClr val="0E6B8C"/>
            </a:solidFill>
            <a:prstDash val="solid"/>
          </a:ln>
        </p:spPr>
      </p:sp>
      <p:sp>
        <p:nvSpPr>
          <p:cNvPr id="16" name="Text 14"/>
          <p:cNvSpPr/>
          <p:nvPr/>
        </p:nvSpPr>
        <p:spPr>
          <a:xfrm>
            <a:off x="457200" y="3483864"/>
            <a:ext cx="402336"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7" name="Text 15"/>
          <p:cNvSpPr/>
          <p:nvPr/>
        </p:nvSpPr>
        <p:spPr>
          <a:xfrm>
            <a:off x="969264" y="3419856"/>
            <a:ext cx="7589520" cy="713232"/>
          </a:xfrm>
          <a:prstGeom prst="rect">
            <a:avLst/>
          </a:prstGeom>
          <a:noFill/>
          <a:ln/>
        </p:spPr>
        <p:txBody>
          <a:bodyPr wrap="square" rtlCol="0" anchor="ctr"/>
          <a:lstStyle/>
          <a:p>
            <a:pPr indent="0" marL="0">
              <a:buNone/>
            </a:pPr>
            <a:r>
              <a:rPr lang="en-US" sz="1050" dirty="0">
                <a:solidFill>
                  <a:srgbClr val="C8DCF0"/>
                </a:solidFill>
                <a:latin typeface="Calibri" pitchFamily="34" charset="0"/>
                <a:ea typeface="Calibri" pitchFamily="34" charset="-122"/>
                <a:cs typeface="Calibri" pitchFamily="34" charset="-120"/>
              </a:rPr>
              <a:t>Parallel coordinates and weighted-sum analysis provide actionable design guidance: for ablation priority, X₁≈20%, X₂≈2% is optimal; for density priority, X₁&lt;10% is preferred.</a:t>
            </a:r>
            <a:endParaRPr lang="en-US" sz="1050" dirty="0"/>
          </a:p>
        </p:txBody>
      </p:sp>
      <p:sp>
        <p:nvSpPr>
          <p:cNvPr id="18" name="Shape 16"/>
          <p:cNvSpPr/>
          <p:nvPr/>
        </p:nvSpPr>
        <p:spPr>
          <a:xfrm>
            <a:off x="457200" y="4251960"/>
            <a:ext cx="402336" cy="402336"/>
          </a:xfrm>
          <a:prstGeom prst="ellipse">
            <a:avLst/>
          </a:prstGeom>
          <a:solidFill>
            <a:srgbClr val="0E6B8C"/>
          </a:solidFill>
          <a:ln w="12700">
            <a:solidFill>
              <a:srgbClr val="0E6B8C"/>
            </a:solidFill>
            <a:prstDash val="solid"/>
          </a:ln>
        </p:spPr>
      </p:sp>
      <p:sp>
        <p:nvSpPr>
          <p:cNvPr id="19" name="Text 17"/>
          <p:cNvSpPr/>
          <p:nvPr/>
        </p:nvSpPr>
        <p:spPr>
          <a:xfrm>
            <a:off x="457200" y="4251960"/>
            <a:ext cx="402336" cy="402336"/>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0" name="Text 18"/>
          <p:cNvSpPr/>
          <p:nvPr/>
        </p:nvSpPr>
        <p:spPr>
          <a:xfrm>
            <a:off x="969264" y="4187952"/>
            <a:ext cx="7589520" cy="713232"/>
          </a:xfrm>
          <a:prstGeom prst="rect">
            <a:avLst/>
          </a:prstGeom>
          <a:noFill/>
          <a:ln/>
        </p:spPr>
        <p:txBody>
          <a:bodyPr wrap="square" rtlCol="0" anchor="ctr"/>
          <a:lstStyle/>
          <a:p>
            <a:pPr indent="0" marL="0">
              <a:buNone/>
            </a:pPr>
            <a:r>
              <a:rPr lang="en-US" sz="1050" dirty="0">
                <a:solidFill>
                  <a:srgbClr val="C8DCF0"/>
                </a:solidFill>
                <a:latin typeface="Calibri" pitchFamily="34" charset="0"/>
                <a:ea typeface="Calibri" pitchFamily="34" charset="-122"/>
                <a:cs typeface="Calibri" pitchFamily="34" charset="-120"/>
              </a:rPr>
              <a:t>Natural extensions: (a) heteroscedastic noise model per replicate for noisy Y₂; (b) qualitative LVGP for discrete material families; (c) constraint-aware EHVI for density thresholds; (d) real closed-loop experiments.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389439E2A531468C2989BBF9A9C81A" ma:contentTypeVersion="16" ma:contentTypeDescription="Create a new document." ma:contentTypeScope="" ma:versionID="4ceb4fcf51495b177876125e57bc3341">
  <xsd:schema xmlns:xsd="http://www.w3.org/2001/XMLSchema" xmlns:xs="http://www.w3.org/2001/XMLSchema" xmlns:p="http://schemas.microsoft.com/office/2006/metadata/properties" xmlns:ns2="99105928-cc30-4e54-a14d-6047f68b3baf" xmlns:ns3="ee25710c-554a-4a3d-9f4e-c54f95b0093e" targetNamespace="http://schemas.microsoft.com/office/2006/metadata/properties" ma:root="true" ma:fieldsID="a6a216cbc6628072d181584a9ac54692" ns2:_="" ns3:_="">
    <xsd:import namespace="99105928-cc30-4e54-a14d-6047f68b3baf"/>
    <xsd:import namespace="ee25710c-554a-4a3d-9f4e-c54f95b009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3:TaxCatchAll" minOccurs="0"/>
                <xsd:element ref="ns2:MediaServiceOCR"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05928-cc30-4e54-a14d-6047f68b3b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2d55d72-5afa-45f9-90b6-e0708aeee9a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25710c-554a-4a3d-9f4e-c54f95b0093e"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0c41e8d4-87de-4fc6-932f-61733bd3b2c5}" ma:internalName="TaxCatchAll" ma:showField="CatchAllData" ma:web="ee25710c-554a-4a3d-9f4e-c54f95b0093e">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105928-cc30-4e54-a14d-6047f68b3baf">
      <Terms xmlns="http://schemas.microsoft.com/office/infopath/2007/PartnerControls"/>
    </lcf76f155ced4ddcb4097134ff3c332f>
    <TaxCatchAll xmlns="ee25710c-554a-4a3d-9f4e-c54f95b0093e" xsi:nil="true"/>
  </documentManagement>
</p:properties>
</file>

<file path=customXml/itemProps1.xml><?xml version="1.0" encoding="utf-8"?>
<ds:datastoreItem xmlns:ds="http://schemas.openxmlformats.org/officeDocument/2006/customXml" ds:itemID="{4D50EB62-D3EE-4875-BE8F-F96950DA61AA}"/>
</file>

<file path=customXml/itemProps2.xml><?xml version="1.0" encoding="utf-8"?>
<ds:datastoreItem xmlns:ds="http://schemas.openxmlformats.org/officeDocument/2006/customXml" ds:itemID="{FC3C2D55-78FB-44FF-B72F-80784DABEE77}"/>
</file>

<file path=customXml/itemProps3.xml><?xml version="1.0" encoding="utf-8"?>
<ds:datastoreItem xmlns:ds="http://schemas.openxmlformats.org/officeDocument/2006/customXml" ds:itemID="{BC487A2B-5FCE-4EB7-AD21-9A167DE426D1}"/>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Multi-Objective Bayesian Optimization – Ablation Experiment</dc:title>
  <dc:subject>PptxGenJS Presentation</dc:subject>
  <dc:creator>PptxGenJS</dc:creator>
  <cp:lastModifiedBy>PptxGenJS</cp:lastModifiedBy>
  <cp:revision>1</cp:revision>
  <dcterms:created xsi:type="dcterms:W3CDTF">2026-07-10T16:42:34Z</dcterms:created>
  <dcterms:modified xsi:type="dcterms:W3CDTF">2026-07-10T16:42:34Z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0x0101009C389439E2A531468C2989BBF9A9C81A</vt:lpwstr>
  </property>
</Properties>
</file>