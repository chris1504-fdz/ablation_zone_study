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9144000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Multi-Objective Bayesian Optimization — v2</a:t>
            </a:r>
          </a:p>
          <a:p>
            <a:r>
              <a:rPr sz="1500">
                <a:solidFill>
                  <a:srgbClr val="D9E2F3"/>
                </a:solidFill>
              </a:rPr>
              <a:t>Ablation Zone Design  ·  Real Campaign Update  ·  August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63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864"/>
                </a:solidFill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11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observations · 14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063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864"/>
                </a:solidFill>
              </a:rPr>
              <a:t>53.24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611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hypervolume (from 51.17)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63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864"/>
                </a:solidFill>
              </a:rPr>
              <a:t>17.4 /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611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iteration-2 proposal (wt%)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Christian Fernandez  ·  IDEAL, Northwestern University  ·  UIC–NU MIRO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FFFFF"/>
                </a:solidFill>
              </a:rPr>
              <a:t>Campaign Timeline — From Simulation to Real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Jul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868680"/>
            <a:ext cx="7223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NU proposes iteration-1 sample: X₁ = 19.58, X₂ = 1.99 (qLogEHVI = 0.785) → fabricated as 19.6 / 2.0 wt%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5506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Jul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55064"/>
            <a:ext cx="7223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GP predictions sent to UIC: Y₁ 5.97 µm/s · Y₂ 177.7 °C · Y₃ 1.2160 g/cm³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414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Jul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41448"/>
            <a:ext cx="7223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UIC tests 3 replicates: Y₁ = 5.65 / 5.68 / 6.27 µm/s — the lowest ablation rates of the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2783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Jul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27832"/>
            <a:ext cx="7223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Updated front: hypervolume 51.168 → 53.240 (14 Pareto solutions) · project handover Rick → Christian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1421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Aug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014216"/>
            <a:ext cx="7223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July sample merged into dataset (42 obs) · v3 replicate-noise model · iteration-2 sample proposed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FFFFF"/>
                </a:solidFill>
              </a:rPr>
              <a:t>Iteration 1 — Predicted vs. Observed (X₁ = 19.6, X₂ = 2.0)</a:t>
            </a:r>
          </a:p>
        </p:txBody>
      </p:sp>
      <p:pic>
        <p:nvPicPr>
          <p:cNvPr id="3" name="Picture 2" descr="v3_cell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595360" cy="24484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EF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200">
                <a:solidFill>
                  <a:srgbClr val="1F3864"/>
                </a:solidFill>
              </a:rPr>
              <a:t>Y₁ and Y₃ verified (3/3 replicates in band). Y₂ replicates exceeded the latent CI — but all 3 fall inside the 95% prediction interval once replicate noise is modeled (v3). Prediction quality confirmed.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FFFFF"/>
                </a:solidFill>
              </a:rPr>
              <a:t>Updated Pareto Front — 14 Conditions</a:t>
            </a:r>
          </a:p>
        </p:txBody>
      </p:sp>
      <p:pic>
        <p:nvPicPr>
          <p:cNvPr id="3" name="Picture 2" descr="v3_cell3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22960"/>
            <a:ext cx="8503920" cy="23765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EF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200">
                <a:solidFill>
                  <a:srgbClr val="1F3864"/>
                </a:solidFill>
              </a:rPr>
              <a:t>Hypervolume 51.17 → 51.97 on condition means (53.24 with replicates-as-points, the Jul-21 email convention). The new sample sets the campaign-best ablation rate at moderate density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FFFFF"/>
                </a:solidFill>
              </a:rPr>
              <a:t>Model Upgrade (v3) — Replicate-Informed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Each GP now receives the measured replicate variance as known observation noise (train_Yvar = s²/n per condition) instead of learning one homoscedastic level.</a:t>
            </a:r>
          </a:p>
          <a:p>
            <a:pPr algn="l"/>
            <a:r>
              <a:rPr sz="1400" b="0">
                <a:solidFill>
                  <a:srgbClr val="444444"/>
                </a:solidFill>
              </a:rPr>
              <a:t>Predictions report two bands: the latent-mean 95% CI and a 95% prediction interval (PI) that adds the pooled replicate scatter — the correct band for judging individual replicates.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Backside temperature at the iteration-1 sample: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v1/v2 latent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177.7 ± 2.8 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</a:rPr>
              <a:t>2 of 3 replicates outside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v3 95% 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179.2 ± 22.2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3 of 3 replicates inside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EF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200">
                <a:solidFill>
                  <a:srgbClr val="1F3864"/>
                </a:solidFill>
              </a:rPr>
              <a:t>Y₂'s learned noise varies ~250× across conditions — the GP was never wrong about the mean, it was reporting the wrong kind of interval. v3 is the active model for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FFFFF"/>
                </a:solidFill>
              </a:rPr>
              <a:t>Iteration 2 — Recommended Sample</a:t>
            </a:r>
          </a:p>
        </p:txBody>
      </p:sp>
      <p:pic>
        <p:nvPicPr>
          <p:cNvPr id="3" name="Picture 2" descr="v3_cell3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0"/>
            <a:ext cx="5098093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868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</a:rPr>
              <a:t>X₁ = 17.4 wt% carbon black</a:t>
            </a:r>
          </a:p>
          <a:p>
            <a:pPr algn="l"/>
            <a:r>
              <a:rPr sz="1700" b="1">
                <a:solidFill>
                  <a:srgbClr val="1F3864"/>
                </a:solidFill>
              </a:rPr>
              <a:t>X₂ = 1.0 wt% regolith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196596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qLogEHVI = 0.53 (v3 model)</a:t>
            </a:r>
          </a:p>
          <a:p>
            <a:pPr algn="l"/>
          </a:p>
          <a:p>
            <a:pPr algn="l"/>
            <a:r>
              <a:rPr sz="1300" b="0">
                <a:solidFill>
                  <a:srgbClr val="444444"/>
                </a:solidFill>
              </a:rPr>
              <a:t>Predicted (mean · 95% PI):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Y₁  5.62 µm/s · [3.2, 8.0]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Y₂  194.2 °C · [172.5, 215.8]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Y₃  1.1943 g/cm³ · [1.1918, 1.1968]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EF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200">
                <a:solidFill>
                  <a:srgbClr val="1F3864"/>
                </a:solidFill>
              </a:rPr>
              <a:t>Targets the lightweight end of the front: ablation ≈ iteration 1 at markedly lower density. Robust choice — v2 (homoscedastic) proposes 17.3 / 1.1, v3 proposes 17.4 / 1.0.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FFFFF"/>
                </a:solidFill>
              </a:rPr>
              <a:t>Conclusions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The MOBO pipeline is validated end-to-end: proposal → prediction → fabrication → verification (iteration 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Replicate-informed noise (v3) fixes the Y₂ calibration miss; prediction intervals now cover all observed replicates.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Iteration-2 sample recommended: X₁ = 17.4, X₂ = 1.0 wt% — agreed on by both model variants.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2044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Next: UIC fabricates &amp; tests iteration 2 → append replicates to ablation_data.xlsx → re-run v3 for iteration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