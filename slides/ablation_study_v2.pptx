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9" r:id="rId12"/>
    <p:sldId id="266" r:id="rId13"/>
    <p:sldId id="267" r:id="rId14"/>
    <p:sldId id="268"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3" d="100"/>
          <a:sy n="143" d="100"/>
        </p:scale>
        <p:origin x="60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microsoft.com/office/2016/11/relationships/changesInfo" Target="changesInfos/changesInfo1.xml"/><Relationship Id="rId22" Type="http://schemas.openxmlformats.org/officeDocument/2006/relationships/customXml" Target="../customXml/item1.xml"/><Relationship Id="rId23" Type="http://schemas.openxmlformats.org/officeDocument/2006/relationships/customXml" Target="../customXml/item2.xml"/><Relationship Id="rId24"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ing-Kuan (Rick) Tsai" userId="71c2de2f-4d21-4c41-b594-bea206d76827" providerId="ADAL" clId="{5F72A704-310D-4C49-B454-0D0B7CDA9564}"/>
    <pc:docChg chg="undo custSel addSld delSld modSld">
      <pc:chgData name="Ying-Kuan (Rick) Tsai" userId="71c2de2f-4d21-4c41-b594-bea206d76827" providerId="ADAL" clId="{5F72A704-310D-4C49-B454-0D0B7CDA9564}" dt="2026-06-20T01:29:53.548" v="49" actId="14100"/>
      <pc:docMkLst>
        <pc:docMk/>
      </pc:docMkLst>
      <pc:sldChg chg="addSp modSp mod">
        <pc:chgData name="Ying-Kuan (Rick) Tsai" userId="71c2de2f-4d21-4c41-b594-bea206d76827" providerId="ADAL" clId="{5F72A704-310D-4C49-B454-0D0B7CDA9564}" dt="2026-06-20T01:28:06.761" v="38" actId="14100"/>
        <pc:sldMkLst>
          <pc:docMk/>
          <pc:sldMk cId="0" sldId="261"/>
        </pc:sldMkLst>
        <pc:spChg chg="add mod">
          <ac:chgData name="Ying-Kuan (Rick) Tsai" userId="71c2de2f-4d21-4c41-b594-bea206d76827" providerId="ADAL" clId="{5F72A704-310D-4C49-B454-0D0B7CDA9564}" dt="2026-06-20T01:28:06.761" v="38" actId="14100"/>
          <ac:spMkLst>
            <pc:docMk/>
            <pc:sldMk cId="0" sldId="261"/>
            <ac:spMk id="8" creationId="{3EA39F78-C1A1-764E-C3F6-3A156E737981}"/>
          </ac:spMkLst>
        </pc:spChg>
        <pc:picChg chg="mod">
          <ac:chgData name="Ying-Kuan (Rick) Tsai" userId="71c2de2f-4d21-4c41-b594-bea206d76827" providerId="ADAL" clId="{5F72A704-310D-4C49-B454-0D0B7CDA9564}" dt="2026-06-20T01:26:57.866" v="1" actId="1076"/>
          <ac:picMkLst>
            <pc:docMk/>
            <pc:sldMk cId="0" sldId="261"/>
            <ac:picMk id="5" creationId="{00000000-0000-0000-0000-000000000000}"/>
          </ac:picMkLst>
        </pc:picChg>
      </pc:sldChg>
      <pc:sldChg chg="addSp delSp modSp add del mod">
        <pc:chgData name="Ying-Kuan (Rick) Tsai" userId="71c2de2f-4d21-4c41-b594-bea206d76827" providerId="ADAL" clId="{5F72A704-310D-4C49-B454-0D0B7CDA9564}" dt="2026-06-20T01:29:43.675" v="46" actId="2696"/>
        <pc:sldMkLst>
          <pc:docMk/>
          <pc:sldMk cId="0" sldId="265"/>
        </pc:sldMkLst>
      </pc:sldChg>
      <pc:sldChg chg="delSp modSp add mod">
        <pc:chgData name="Ying-Kuan (Rick) Tsai" userId="71c2de2f-4d21-4c41-b594-bea206d76827" providerId="ADAL" clId="{5F72A704-310D-4C49-B454-0D0B7CDA9564}" dt="2026-06-20T01:29:53.548" v="49" actId="14100"/>
        <pc:sldMkLst>
          <pc:docMk/>
          <pc:sldMk cId="2452919032" sldId="269"/>
        </pc:sldMkLst>
        <pc:picChg chg="mod">
          <ac:chgData name="Ying-Kuan (Rick) Tsai" userId="71c2de2f-4d21-4c41-b594-bea206d76827" providerId="ADAL" clId="{5F72A704-310D-4C49-B454-0D0B7CDA9564}" dt="2026-06-20T01:29:53.548" v="49" actId="14100"/>
          <ac:picMkLst>
            <pc:docMk/>
            <pc:sldMk cId="2452919032" sldId="269"/>
            <ac:picMk id="18" creationId="{62D2BA00-13C8-95A1-B726-00A1F86C90C2}"/>
          </ac:picMkLst>
        </pc:picChg>
      </pc:sldChg>
    </pc:docChg>
  </pc:docChgLst>
  <pc:docChgLst>
    <pc:chgData name="Ying-Kuan (Rick) Tsai" userId="71c2de2f-4d21-4c41-b594-bea206d76827" providerId="ADAL" clId="{B83EABEB-929B-44FD-8209-A727ECD70BFE}"/>
    <pc:docChg chg="custSel modSld">
      <pc:chgData name="Ying-Kuan (Rick) Tsai" userId="71c2de2f-4d21-4c41-b594-bea206d76827" providerId="ADAL" clId="{B83EABEB-929B-44FD-8209-A727ECD70BFE}" dt="2026-06-30T19:13:25.043" v="55" actId="14100"/>
      <pc:docMkLst>
        <pc:docMk/>
      </pc:docMkLst>
      <pc:sldChg chg="modSp mod">
        <pc:chgData name="Ying-Kuan (Rick) Tsai" userId="71c2de2f-4d21-4c41-b594-bea206d76827" providerId="ADAL" clId="{B83EABEB-929B-44FD-8209-A727ECD70BFE}" dt="2026-06-25T21:01:38.643" v="0" actId="1076"/>
        <pc:sldMkLst>
          <pc:docMk/>
          <pc:sldMk cId="0" sldId="257"/>
        </pc:sldMkLst>
        <pc:picChg chg="mod">
          <ac:chgData name="Ying-Kuan (Rick) Tsai" userId="71c2de2f-4d21-4c41-b594-bea206d76827" providerId="ADAL" clId="{B83EABEB-929B-44FD-8209-A727ECD70BFE}" dt="2026-06-25T21:01:38.643" v="0" actId="1076"/>
          <ac:picMkLst>
            <pc:docMk/>
            <pc:sldMk cId="0" sldId="257"/>
            <ac:picMk id="18" creationId="{00000000-0000-0000-0000-000000000000}"/>
          </ac:picMkLst>
        </pc:picChg>
      </pc:sldChg>
      <pc:sldChg chg="modSp mod">
        <pc:chgData name="Ying-Kuan (Rick) Tsai" userId="71c2de2f-4d21-4c41-b594-bea206d76827" providerId="ADAL" clId="{B83EABEB-929B-44FD-8209-A727ECD70BFE}" dt="2026-06-30T19:13:25.043" v="55" actId="14100"/>
        <pc:sldMkLst>
          <pc:docMk/>
          <pc:sldMk cId="0" sldId="263"/>
        </pc:sldMkLst>
        <pc:picChg chg="mod">
          <ac:chgData name="Ying-Kuan (Rick) Tsai" userId="71c2de2f-4d21-4c41-b594-bea206d76827" providerId="ADAL" clId="{B83EABEB-929B-44FD-8209-A727ECD70BFE}" dt="2026-06-30T19:13:25.043" v="55" actId="14100"/>
          <ac:picMkLst>
            <pc:docMk/>
            <pc:sldMk cId="0" sldId="263"/>
            <ac:picMk id="21" creationId="{00000000-0000-0000-0000-000000000000}"/>
          </ac:picMkLst>
        </pc:picChg>
      </pc:sldChg>
      <pc:sldChg chg="modSp mod">
        <pc:chgData name="Ying-Kuan (Rick) Tsai" userId="71c2de2f-4d21-4c41-b594-bea206d76827" providerId="ADAL" clId="{B83EABEB-929B-44FD-8209-A727ECD70BFE}" dt="2026-06-30T18:54:42.254" v="3" actId="113"/>
        <pc:sldMkLst>
          <pc:docMk/>
          <pc:sldMk cId="0" sldId="264"/>
        </pc:sldMkLst>
        <pc:spChg chg="mod">
          <ac:chgData name="Ying-Kuan (Rick) Tsai" userId="71c2de2f-4d21-4c41-b594-bea206d76827" providerId="ADAL" clId="{B83EABEB-929B-44FD-8209-A727ECD70BFE}" dt="2026-06-30T18:54:34.948" v="1" actId="113"/>
          <ac:spMkLst>
            <pc:docMk/>
            <pc:sldMk cId="0" sldId="264"/>
            <ac:spMk id="8" creationId="{00000000-0000-0000-0000-000000000000}"/>
          </ac:spMkLst>
        </pc:spChg>
        <pc:spChg chg="mod">
          <ac:chgData name="Ying-Kuan (Rick) Tsai" userId="71c2de2f-4d21-4c41-b594-bea206d76827" providerId="ADAL" clId="{B83EABEB-929B-44FD-8209-A727ECD70BFE}" dt="2026-06-30T18:54:39.344" v="2" actId="113"/>
          <ac:spMkLst>
            <pc:docMk/>
            <pc:sldMk cId="0" sldId="264"/>
            <ac:spMk id="11" creationId="{00000000-0000-0000-0000-000000000000}"/>
          </ac:spMkLst>
        </pc:spChg>
        <pc:spChg chg="mod">
          <ac:chgData name="Ying-Kuan (Rick) Tsai" userId="71c2de2f-4d21-4c41-b594-bea206d76827" providerId="ADAL" clId="{B83EABEB-929B-44FD-8209-A727ECD70BFE}" dt="2026-06-30T18:54:42.254" v="3" actId="113"/>
          <ac:spMkLst>
            <pc:docMk/>
            <pc:sldMk cId="0" sldId="264"/>
            <ac:spMk id="14" creationId="{00000000-0000-0000-0000-000000000000}"/>
          </ac:spMkLst>
        </pc:spChg>
      </pc:sldChg>
      <pc:sldChg chg="delSp modSp mod">
        <pc:chgData name="Ying-Kuan (Rick) Tsai" userId="71c2de2f-4d21-4c41-b594-bea206d76827" providerId="ADAL" clId="{B83EABEB-929B-44FD-8209-A727ECD70BFE}" dt="2026-06-30T18:55:21.987" v="31" actId="14100"/>
        <pc:sldMkLst>
          <pc:docMk/>
          <pc:sldMk cId="0" sldId="265"/>
        </pc:sldMkLst>
        <pc:spChg chg="mod">
          <ac:chgData name="Ying-Kuan (Rick) Tsai" userId="71c2de2f-4d21-4c41-b594-bea206d76827" providerId="ADAL" clId="{B83EABEB-929B-44FD-8209-A727ECD70BFE}" dt="2026-06-30T18:55:19.284" v="30" actId="1036"/>
          <ac:spMkLst>
            <pc:docMk/>
            <pc:sldMk cId="0" sldId="265"/>
            <ac:spMk id="6" creationId="{00000000-0000-0000-0000-000000000000}"/>
          </ac:spMkLst>
        </pc:spChg>
        <pc:spChg chg="mod">
          <ac:chgData name="Ying-Kuan (Rick) Tsai" userId="71c2de2f-4d21-4c41-b594-bea206d76827" providerId="ADAL" clId="{B83EABEB-929B-44FD-8209-A727ECD70BFE}" dt="2026-06-30T18:55:19.284" v="30" actId="1036"/>
          <ac:spMkLst>
            <pc:docMk/>
            <pc:sldMk cId="0" sldId="265"/>
            <ac:spMk id="8" creationId="{00000000-0000-0000-0000-000000000000}"/>
          </ac:spMkLst>
        </pc:spChg>
        <pc:spChg chg="mod">
          <ac:chgData name="Ying-Kuan (Rick) Tsai" userId="71c2de2f-4d21-4c41-b594-bea206d76827" providerId="ADAL" clId="{B83EABEB-929B-44FD-8209-A727ECD70BFE}" dt="2026-06-30T18:55:19.284" v="30" actId="1036"/>
          <ac:spMkLst>
            <pc:docMk/>
            <pc:sldMk cId="0" sldId="265"/>
            <ac:spMk id="9" creationId="{00000000-0000-0000-0000-000000000000}"/>
          </ac:spMkLst>
        </pc:spChg>
        <pc:spChg chg="mod">
          <ac:chgData name="Ying-Kuan (Rick) Tsai" userId="71c2de2f-4d21-4c41-b594-bea206d76827" providerId="ADAL" clId="{B83EABEB-929B-44FD-8209-A727ECD70BFE}" dt="2026-06-30T18:55:19.284" v="30" actId="1036"/>
          <ac:spMkLst>
            <pc:docMk/>
            <pc:sldMk cId="0" sldId="265"/>
            <ac:spMk id="10" creationId="{00000000-0000-0000-0000-000000000000}"/>
          </ac:spMkLst>
        </pc:spChg>
        <pc:spChg chg="mod">
          <ac:chgData name="Ying-Kuan (Rick) Tsai" userId="71c2de2f-4d21-4c41-b594-bea206d76827" providerId="ADAL" clId="{B83EABEB-929B-44FD-8209-A727ECD70BFE}" dt="2026-06-30T18:55:19.284" v="30" actId="1036"/>
          <ac:spMkLst>
            <pc:docMk/>
            <pc:sldMk cId="0" sldId="265"/>
            <ac:spMk id="11" creationId="{00000000-0000-0000-0000-000000000000}"/>
          </ac:spMkLst>
        </pc:spChg>
        <pc:spChg chg="mod">
          <ac:chgData name="Ying-Kuan (Rick) Tsai" userId="71c2de2f-4d21-4c41-b594-bea206d76827" providerId="ADAL" clId="{B83EABEB-929B-44FD-8209-A727ECD70BFE}" dt="2026-06-30T18:55:19.284" v="30" actId="1036"/>
          <ac:spMkLst>
            <pc:docMk/>
            <pc:sldMk cId="0" sldId="265"/>
            <ac:spMk id="12" creationId="{00000000-0000-0000-0000-000000000000}"/>
          </ac:spMkLst>
        </pc:spChg>
        <pc:spChg chg="mod">
          <ac:chgData name="Ying-Kuan (Rick) Tsai" userId="71c2de2f-4d21-4c41-b594-bea206d76827" providerId="ADAL" clId="{B83EABEB-929B-44FD-8209-A727ECD70BFE}" dt="2026-06-30T18:55:19.284" v="30" actId="1036"/>
          <ac:spMkLst>
            <pc:docMk/>
            <pc:sldMk cId="0" sldId="265"/>
            <ac:spMk id="13" creationId="{00000000-0000-0000-0000-000000000000}"/>
          </ac:spMkLst>
        </pc:spChg>
        <pc:spChg chg="mod">
          <ac:chgData name="Ying-Kuan (Rick) Tsai" userId="71c2de2f-4d21-4c41-b594-bea206d76827" providerId="ADAL" clId="{B83EABEB-929B-44FD-8209-A727ECD70BFE}" dt="2026-06-30T18:55:19.284" v="30" actId="1036"/>
          <ac:spMkLst>
            <pc:docMk/>
            <pc:sldMk cId="0" sldId="265"/>
            <ac:spMk id="14" creationId="{00000000-0000-0000-0000-000000000000}"/>
          </ac:spMkLst>
        </pc:spChg>
        <pc:spChg chg="mod">
          <ac:chgData name="Ying-Kuan (Rick) Tsai" userId="71c2de2f-4d21-4c41-b594-bea206d76827" providerId="ADAL" clId="{B83EABEB-929B-44FD-8209-A727ECD70BFE}" dt="2026-06-30T18:55:19.284" v="30" actId="1036"/>
          <ac:spMkLst>
            <pc:docMk/>
            <pc:sldMk cId="0" sldId="265"/>
            <ac:spMk id="15" creationId="{00000000-0000-0000-0000-000000000000}"/>
          </ac:spMkLst>
        </pc:spChg>
        <pc:spChg chg="mod">
          <ac:chgData name="Ying-Kuan (Rick) Tsai" userId="71c2de2f-4d21-4c41-b594-bea206d76827" providerId="ADAL" clId="{B83EABEB-929B-44FD-8209-A727ECD70BFE}" dt="2026-06-30T18:55:19.284" v="30" actId="1036"/>
          <ac:spMkLst>
            <pc:docMk/>
            <pc:sldMk cId="0" sldId="265"/>
            <ac:spMk id="16" creationId="{00000000-0000-0000-0000-000000000000}"/>
          </ac:spMkLst>
        </pc:spChg>
        <pc:spChg chg="del">
          <ac:chgData name="Ying-Kuan (Rick) Tsai" userId="71c2de2f-4d21-4c41-b594-bea206d76827" providerId="ADAL" clId="{B83EABEB-929B-44FD-8209-A727ECD70BFE}" dt="2026-06-30T18:55:13.718" v="6" actId="478"/>
          <ac:spMkLst>
            <pc:docMk/>
            <pc:sldMk cId="0" sldId="265"/>
            <ac:spMk id="19" creationId="{00000000-0000-0000-0000-000000000000}"/>
          </ac:spMkLst>
        </pc:spChg>
        <pc:picChg chg="mod">
          <ac:chgData name="Ying-Kuan (Rick) Tsai" userId="71c2de2f-4d21-4c41-b594-bea206d76827" providerId="ADAL" clId="{B83EABEB-929B-44FD-8209-A727ECD70BFE}" dt="2026-06-30T18:55:21.987" v="31" actId="14100"/>
          <ac:picMkLst>
            <pc:docMk/>
            <pc:sldMk cId="0" sldId="265"/>
            <ac:picMk id="4" creationId="{00000000-0000-0000-0000-000000000000}"/>
          </ac:picMkLst>
        </pc:picChg>
        <pc:picChg chg="del mod">
          <ac:chgData name="Ying-Kuan (Rick) Tsai" userId="71c2de2f-4d21-4c41-b594-bea206d76827" providerId="ADAL" clId="{B83EABEB-929B-44FD-8209-A727ECD70BFE}" dt="2026-06-30T18:55:05.849" v="5" actId="478"/>
          <ac:picMkLst>
            <pc:docMk/>
            <pc:sldMk cId="0" sldId="265"/>
            <ac:picMk id="18" creationId="{00000000-0000-0000-0000-000000000000}"/>
          </ac:picMkLst>
        </pc:picChg>
      </pc:sldChg>
      <pc:sldChg chg="modSp mod">
        <pc:chgData name="Ying-Kuan (Rick) Tsai" userId="71c2de2f-4d21-4c41-b594-bea206d76827" providerId="ADAL" clId="{B83EABEB-929B-44FD-8209-A727ECD70BFE}" dt="2026-06-30T18:55:35.952" v="54" actId="14100"/>
        <pc:sldMkLst>
          <pc:docMk/>
          <pc:sldMk cId="0" sldId="266"/>
        </pc:sldMkLst>
        <pc:spChg chg="mod">
          <ac:chgData name="Ying-Kuan (Rick) Tsai" userId="71c2de2f-4d21-4c41-b594-bea206d76827" providerId="ADAL" clId="{B83EABEB-929B-44FD-8209-A727ECD70BFE}" dt="2026-06-30T18:55:35.952" v="54" actId="14100"/>
          <ac:spMkLst>
            <pc:docMk/>
            <pc:sldMk cId="0" sldId="266"/>
            <ac:spMk id="5" creationId="{00000000-0000-0000-0000-000000000000}"/>
          </ac:spMkLst>
        </pc:spChg>
        <pc:spChg chg="mod">
          <ac:chgData name="Ying-Kuan (Rick) Tsai" userId="71c2de2f-4d21-4c41-b594-bea206d76827" providerId="ADAL" clId="{B83EABEB-929B-44FD-8209-A727ECD70BFE}" dt="2026-06-30T18:55:30.943" v="53" actId="1036"/>
          <ac:spMkLst>
            <pc:docMk/>
            <pc:sldMk cId="0" sldId="266"/>
            <ac:spMk id="6" creationId="{00000000-0000-0000-0000-000000000000}"/>
          </ac:spMkLst>
        </pc:spChg>
        <pc:spChg chg="mod">
          <ac:chgData name="Ying-Kuan (Rick) Tsai" userId="71c2de2f-4d21-4c41-b594-bea206d76827" providerId="ADAL" clId="{B83EABEB-929B-44FD-8209-A727ECD70BFE}" dt="2026-06-30T18:55:30.943" v="53" actId="1036"/>
          <ac:spMkLst>
            <pc:docMk/>
            <pc:sldMk cId="0" sldId="266"/>
            <ac:spMk id="7" creationId="{00000000-0000-0000-0000-000000000000}"/>
          </ac:spMkLst>
        </pc:spChg>
        <pc:spChg chg="mod">
          <ac:chgData name="Ying-Kuan (Rick) Tsai" userId="71c2de2f-4d21-4c41-b594-bea206d76827" providerId="ADAL" clId="{B83EABEB-929B-44FD-8209-A727ECD70BFE}" dt="2026-06-30T18:55:35.952" v="54" actId="14100"/>
          <ac:spMkLst>
            <pc:docMk/>
            <pc:sldMk cId="0" sldId="266"/>
            <ac:spMk id="9" creationId="{00000000-0000-0000-0000-000000000000}"/>
          </ac:spMkLst>
        </pc:spChg>
        <pc:spChg chg="mod">
          <ac:chgData name="Ying-Kuan (Rick) Tsai" userId="71c2de2f-4d21-4c41-b594-bea206d76827" providerId="ADAL" clId="{B83EABEB-929B-44FD-8209-A727ECD70BFE}" dt="2026-06-30T18:55:30.943" v="53" actId="1036"/>
          <ac:spMkLst>
            <pc:docMk/>
            <pc:sldMk cId="0" sldId="266"/>
            <ac:spMk id="10" creationId="{00000000-0000-0000-0000-000000000000}"/>
          </ac:spMkLst>
        </pc:spChg>
        <pc:spChg chg="mod">
          <ac:chgData name="Ying-Kuan (Rick) Tsai" userId="71c2de2f-4d21-4c41-b594-bea206d76827" providerId="ADAL" clId="{B83EABEB-929B-44FD-8209-A727ECD70BFE}" dt="2026-06-30T18:55:30.943" v="53" actId="1036"/>
          <ac:spMkLst>
            <pc:docMk/>
            <pc:sldMk cId="0" sldId="266"/>
            <ac:spMk id="1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56916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13 experimental conditions with 3 replicates each. Two inputs (carbon black and Fe-rich regolith weight percentages) and three responses (ablation rate, backside temperature, density).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covers 5 levels of carbon black (5–20 wt%) and up to 5 levels of Fe-rich regolith (1–5 wt%). The 13 conditions are not a full factorial but a space-filling subset. Each condition was repeated 3 times for a total of 39 runs.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Perfect orthogonality requires κ &lt; 30. Our centred design achieves κ = 77.9, which is acceptable (moderate condition number). The Pearson r = 0.00 between X1 and X2 confirms that main effects are estimable independently.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factors (X1, X2, and their interaction) are statistically significant for all three outputs. X1 dominates Y1 (ablation rate) with F=1247. Y3 (density) is essentially deterministic — noise-free by design. Y2 (temperature) shows lower R²=0.747, indicating more measurement variability.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interaction X1×X2 being significant means a full response surface model is needed — a simple additive model would be insufficient. Density being R²=1 is because it is a calculated property from formulation, not a measured response with noise.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quadratic linear regression models show good fit. Y1 and Y3 are particularly well-captured. The lack of significance for linear X1 and X2 terms in Y2 but significance of X1² suggests a nonlinear relationship between carbon black and temperature.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response surfaces confirm the nonlinear relationship. The steep descent in Y1 from X1=5 to X1=10 is the most critical region for ablation rate control. Y3 surfaces show near-perfect planarity, confirming density is a first-principles calculation.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Intrinsic Coregionalisation Model (ICM) kernel is k_ICM(x,x') = k_RBF(x,x') * B where B is a 3x3 positive semidefinite inter-task covariance matrix learned jointly with all other parameters. The heteroscedastic likelihood assigns a separate noise level to each output.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inter-task correlation matrix reveals physically meaningful relationships learned automatically by the GP. The negative Y1-Y3 correlation (-0.61) confirms that denser formulations ablate more slowly, which matches material science intuition.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GP captures the data well (Y1 R²=0.969, Y3 R²=1.00). Y2 is lower (R²=0.683) which is consistent with high experimental variability in temperature measurements. The uncertainty maps show highest uncertainty at X1=5 with high X2 levels where fewer design points exist.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42941-D6BA-07E3-D240-5D22AE857B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62D472-3BCA-724C-2628-A992B1D541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A95212-FDA9-87B4-E1E6-8E7EC59B8829}"/>
              </a:ext>
            </a:extLst>
          </p:cNvPr>
          <p:cNvSpPr>
            <a:spLocks noGrp="1"/>
          </p:cNvSpPr>
          <p:nvPr>
            <p:ph type="body" idx="1"/>
          </p:nvPr>
        </p:nvSpPr>
        <p:spPr/>
        <p:txBody>
          <a:bodyPr/>
          <a:lstStyle/>
          <a:p>
            <a:r>
              <a:rPr lang="en-US" dirty="0"/>
              <a:t>The GP captures the data well (Y1 R²=0.969, Y3 R²=1.00). Y2 is lower (R²=0.683) which is consistent with high experimental variability in temperature measurements. The uncertainty maps show highest uncertainty at X1=5 with high X2 levels where fewer design points exist.</a:t>
            </a:r>
          </a:p>
        </p:txBody>
      </p:sp>
      <p:sp>
        <p:nvSpPr>
          <p:cNvPr id="4" name="Slide Number Placeholder 3">
            <a:extLst>
              <a:ext uri="{FF2B5EF4-FFF2-40B4-BE49-F238E27FC236}">
                <a16:creationId xmlns:a16="http://schemas.microsoft.com/office/drawing/2014/main" id="{8F3D04B4-1CCA-952D-23CC-9D7FC070C522}"/>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528429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MOGP wins for Y1 because it captures more of the spatial structure through the nonparametric kernel. LR wins for Y2 on training data but this may reflect slight overfitting by GP. For Y3 both are essentially tied. The key practical differentiator is uncertainty quantification from the GP.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saturation effect in ablation rate beyond 12.5 wt% carbon black has important practical implications: beyond this threshold, adding more carbon increases material cost and density without proportional ablation performance improvement.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conclusions slide. The five key takeaways are: dominance of X1, role of X2, quality of linear regression, advantages of MOGP (uncertainty + inter-task learning), and the path forward with active learning / Bayesian optimization.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6583680" y="-914400"/>
            <a:ext cx="5029200" cy="5029200"/>
          </a:xfrm>
          <a:prstGeom prst="ellipse">
            <a:avLst/>
          </a:prstGeom>
          <a:solidFill>
            <a:srgbClr val="1B3A5C">
              <a:alpha val="40000"/>
            </a:srgbClr>
          </a:solidFill>
          <a:ln w="12700">
            <a:solidFill>
              <a:srgbClr val="1B3A5C">
                <a:alpha val="40000"/>
              </a:srgbClr>
            </a:solidFill>
            <a:prstDash val="solid"/>
          </a:ln>
        </p:spPr>
        <p:txBody>
          <a:bodyPr/>
          <a:lstStyle/>
          <a:p>
            <a:endParaRPr lang="en-US"/>
          </a:p>
        </p:txBody>
      </p:sp>
      <p:sp>
        <p:nvSpPr>
          <p:cNvPr id="3" name="Shape 1"/>
          <p:cNvSpPr/>
          <p:nvPr/>
        </p:nvSpPr>
        <p:spPr>
          <a:xfrm>
            <a:off x="-1371600" y="3200400"/>
            <a:ext cx="3200400" cy="3200400"/>
          </a:xfrm>
          <a:prstGeom prst="ellipse">
            <a:avLst/>
          </a:prstGeom>
          <a:solidFill>
            <a:srgbClr val="0E6B8C">
              <a:alpha val="30000"/>
            </a:srgbClr>
          </a:solidFill>
          <a:ln w="12700">
            <a:solidFill>
              <a:srgbClr val="0E6B8C">
                <a:alpha val="30000"/>
              </a:srgbClr>
            </a:solidFill>
            <a:prstDash val="solid"/>
          </a:ln>
        </p:spPr>
        <p:txBody>
          <a:bodyPr/>
          <a:lstStyle/>
          <a:p>
            <a:endParaRPr lang="en-US"/>
          </a:p>
        </p:txBody>
      </p:sp>
      <p:sp>
        <p:nvSpPr>
          <p:cNvPr id="4" name="Text 2"/>
          <p:cNvSpPr/>
          <p:nvPr/>
        </p:nvSpPr>
        <p:spPr>
          <a:xfrm>
            <a:off x="548640" y="914400"/>
            <a:ext cx="7863840" cy="1005840"/>
          </a:xfrm>
          <a:prstGeom prst="rect">
            <a:avLst/>
          </a:prstGeom>
          <a:noFill/>
          <a:ln/>
        </p:spPr>
        <p:txBody>
          <a:bodyPr wrap="square"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Ablation Experiment Study — v2 (Aug 2026)</a:t>
            </a:r>
            <a:endParaRPr lang="en-US" sz="4000" dirty="0"/>
          </a:p>
        </p:txBody>
      </p:sp>
      <p:sp>
        <p:nvSpPr>
          <p:cNvPr id="5" name="Text 3"/>
          <p:cNvSpPr/>
          <p:nvPr/>
        </p:nvSpPr>
        <p:spPr>
          <a:xfrm>
            <a:off x="548640" y="2011680"/>
            <a:ext cx="8046720" cy="502920"/>
          </a:xfrm>
          <a:prstGeom prst="rect">
            <a:avLst/>
          </a:prstGeom>
          <a:noFill/>
          <a:ln/>
        </p:spPr>
        <p:txBody>
          <a:bodyPr wrap="square" rtlCol="0" anchor="ctr"/>
          <a:lstStyle/>
          <a:p>
            <a:pPr marL="0" indent="0" algn="l">
              <a:buNone/>
            </a:pPr>
            <a:r>
              <a:rPr lang="en-US" sz="1500" dirty="0">
                <a:solidFill>
                  <a:srgbClr val="C8DCF0"/>
                </a:solidFill>
                <a:latin typeface="Calibri" pitchFamily="34" charset="0"/>
                <a:ea typeface="Calibri" pitchFamily="34" charset="-122"/>
                <a:cs typeface="Calibri" pitchFamily="34" charset="-120"/>
              </a:rPr>
              <a:t>ANOVA · Linear Regression · Heteroscedastic Multi-Output Gaussian Process</a:t>
            </a:r>
            <a:endParaRPr lang="en-US" sz="1500" dirty="0"/>
          </a:p>
        </p:txBody>
      </p:sp>
      <p:sp>
        <p:nvSpPr>
          <p:cNvPr id="6" name="Shape 4"/>
          <p:cNvSpPr/>
          <p:nvPr/>
        </p:nvSpPr>
        <p:spPr>
          <a:xfrm>
            <a:off x="548640" y="2606040"/>
            <a:ext cx="2560320" cy="54864"/>
          </a:xfrm>
          <a:prstGeom prst="rect">
            <a:avLst/>
          </a:prstGeom>
          <a:solidFill>
            <a:srgbClr val="E6A817"/>
          </a:solidFill>
          <a:ln w="12700">
            <a:solidFill>
              <a:srgbClr val="E6A817"/>
            </a:solidFill>
            <a:prstDash val="solid"/>
          </a:ln>
        </p:spPr>
        <p:txBody>
          <a:bodyPr/>
          <a:lstStyle/>
          <a:p>
            <a:endParaRPr lang="en-US"/>
          </a:p>
        </p:txBody>
      </p:sp>
      <p:sp>
        <p:nvSpPr>
          <p:cNvPr id="7" name="Shape 5"/>
          <p:cNvSpPr/>
          <p:nvPr/>
        </p:nvSpPr>
        <p:spPr>
          <a:xfrm>
            <a:off x="548640" y="2926080"/>
            <a:ext cx="1965960" cy="1691640"/>
          </a:xfrm>
          <a:prstGeom prst="roundRect">
            <a:avLst>
              <a:gd name="adj" fmla="val 6486"/>
            </a:avLst>
          </a:prstGeom>
          <a:solidFill>
            <a:srgbClr val="1B3A5C"/>
          </a:solidFill>
          <a:ln/>
          <a:effectLst>
            <a:outerShdw blurRad="101600" dist="38100" dir="2700000" algn="bl" rotWithShape="0">
              <a:srgbClr val="000000">
                <a:alpha val="10000"/>
              </a:srgbClr>
            </a:outerShdw>
          </a:effectLst>
        </p:spPr>
        <p:txBody>
          <a:bodyPr/>
          <a:lstStyle/>
          <a:p>
            <a:endParaRPr lang="en-US"/>
          </a:p>
        </p:txBody>
      </p:sp>
      <p:sp>
        <p:nvSpPr>
          <p:cNvPr id="8" name="Text 6"/>
          <p:cNvSpPr/>
          <p:nvPr/>
        </p:nvSpPr>
        <p:spPr>
          <a:xfrm>
            <a:off x="548640" y="2971800"/>
            <a:ext cx="1965960" cy="685800"/>
          </a:xfrm>
          <a:prstGeom prst="rect">
            <a:avLst/>
          </a:prstGeom>
          <a:noFill/>
          <a:ln/>
        </p:spPr>
        <p:txBody>
          <a:bodyPr wrap="square" rtlCol="0" anchor="ctr"/>
          <a:lstStyle/>
          <a:p>
            <a:pPr marL="0" indent="0" algn="ctr">
              <a:buNone/>
            </a:pPr>
            <a:r>
              <a:rPr lang="en-US" sz="2400" b="1" dirty="0">
                <a:solidFill>
                  <a:srgbClr val="E6A817"/>
                </a:solidFill>
                <a:latin typeface="Cambria" pitchFamily="34" charset="0"/>
                <a:ea typeface="Cambria" pitchFamily="34" charset="-122"/>
                <a:cs typeface="Cambria" pitchFamily="34" charset="-120"/>
              </a:rPr>
              <a:t>2</a:t>
            </a:r>
            <a:endParaRPr lang="en-US" sz="2400" dirty="0"/>
          </a:p>
        </p:txBody>
      </p:sp>
      <p:sp>
        <p:nvSpPr>
          <p:cNvPr id="9" name="Text 7"/>
          <p:cNvSpPr/>
          <p:nvPr/>
        </p:nvSpPr>
        <p:spPr>
          <a:xfrm>
            <a:off x="548640" y="3611880"/>
            <a:ext cx="196596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Inputs</a:t>
            </a:r>
            <a:endParaRPr lang="en-US" sz="1100" dirty="0"/>
          </a:p>
        </p:txBody>
      </p:sp>
      <p:sp>
        <p:nvSpPr>
          <p:cNvPr id="10" name="Text 8"/>
          <p:cNvSpPr/>
          <p:nvPr/>
        </p:nvSpPr>
        <p:spPr>
          <a:xfrm>
            <a:off x="548640" y="3913632"/>
            <a:ext cx="1965960" cy="548640"/>
          </a:xfrm>
          <a:prstGeom prst="rect">
            <a:avLst/>
          </a:prstGeom>
          <a:noFill/>
          <a:ln/>
        </p:spPr>
        <p:txBody>
          <a:bodyPr wrap="square" rtlCol="0" anchor="ctr"/>
          <a:lstStyle/>
          <a:p>
            <a:pPr marL="0" indent="0" algn="ctr">
              <a:buNone/>
            </a:pPr>
            <a:r>
              <a:rPr lang="en-US" sz="900" dirty="0">
                <a:solidFill>
                  <a:srgbClr val="C8DCF0"/>
                </a:solidFill>
                <a:latin typeface="Calibri" pitchFamily="34" charset="0"/>
                <a:ea typeface="Calibri" pitchFamily="34" charset="-122"/>
                <a:cs typeface="Calibri" pitchFamily="34" charset="-120"/>
              </a:rPr>
              <a:t>Carbon black wt%</a:t>
            </a:r>
            <a:endParaRPr lang="en-US" sz="900" dirty="0"/>
          </a:p>
          <a:p>
            <a:pPr marL="0" indent="0" algn="ctr">
              <a:buNone/>
            </a:pPr>
            <a:r>
              <a:rPr lang="en-US" sz="900" dirty="0">
                <a:solidFill>
                  <a:srgbClr val="C8DCF0"/>
                </a:solidFill>
                <a:latin typeface="Calibri" pitchFamily="34" charset="0"/>
                <a:ea typeface="Calibri" pitchFamily="34" charset="-122"/>
                <a:cs typeface="Calibri" pitchFamily="34" charset="-120"/>
              </a:rPr>
              <a:t>Fe-rich regolith wt%</a:t>
            </a:r>
            <a:endParaRPr lang="en-US" sz="900" dirty="0"/>
          </a:p>
        </p:txBody>
      </p:sp>
      <p:sp>
        <p:nvSpPr>
          <p:cNvPr id="11" name="Shape 9"/>
          <p:cNvSpPr/>
          <p:nvPr/>
        </p:nvSpPr>
        <p:spPr>
          <a:xfrm>
            <a:off x="2697480" y="2926080"/>
            <a:ext cx="1965960" cy="1691640"/>
          </a:xfrm>
          <a:prstGeom prst="roundRect">
            <a:avLst>
              <a:gd name="adj" fmla="val 6486"/>
            </a:avLst>
          </a:prstGeom>
          <a:solidFill>
            <a:srgbClr val="1B3A5C"/>
          </a:solidFill>
          <a:ln/>
          <a:effectLst>
            <a:outerShdw blurRad="101600" dist="38100" dir="2700000" algn="bl" rotWithShape="0">
              <a:srgbClr val="000000">
                <a:alpha val="10000"/>
              </a:srgbClr>
            </a:outerShdw>
          </a:effectLst>
        </p:spPr>
        <p:txBody>
          <a:bodyPr/>
          <a:lstStyle/>
          <a:p>
            <a:endParaRPr lang="en-US"/>
          </a:p>
        </p:txBody>
      </p:sp>
      <p:sp>
        <p:nvSpPr>
          <p:cNvPr id="12" name="Text 10"/>
          <p:cNvSpPr/>
          <p:nvPr/>
        </p:nvSpPr>
        <p:spPr>
          <a:xfrm>
            <a:off x="2697480" y="2971800"/>
            <a:ext cx="1965960" cy="685800"/>
          </a:xfrm>
          <a:prstGeom prst="rect">
            <a:avLst/>
          </a:prstGeom>
          <a:noFill/>
          <a:ln/>
        </p:spPr>
        <p:txBody>
          <a:bodyPr wrap="square" rtlCol="0" anchor="ctr"/>
          <a:lstStyle/>
          <a:p>
            <a:pPr marL="0" indent="0" algn="ctr">
              <a:buNone/>
            </a:pPr>
            <a:r>
              <a:rPr lang="en-US" sz="2400" b="1" dirty="0">
                <a:solidFill>
                  <a:srgbClr val="E6A817"/>
                </a:solidFill>
                <a:latin typeface="Cambria" pitchFamily="34" charset="0"/>
                <a:ea typeface="Cambria" pitchFamily="34" charset="-122"/>
                <a:cs typeface="Cambria" pitchFamily="34" charset="-120"/>
              </a:rPr>
              <a:t>3</a:t>
            </a:r>
            <a:endParaRPr lang="en-US" sz="2400" dirty="0"/>
          </a:p>
        </p:txBody>
      </p:sp>
      <p:sp>
        <p:nvSpPr>
          <p:cNvPr id="13" name="Text 11"/>
          <p:cNvSpPr/>
          <p:nvPr/>
        </p:nvSpPr>
        <p:spPr>
          <a:xfrm>
            <a:off x="2697480" y="3611880"/>
            <a:ext cx="196596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Outputs</a:t>
            </a:r>
            <a:endParaRPr lang="en-US" sz="1100" dirty="0"/>
          </a:p>
        </p:txBody>
      </p:sp>
      <p:sp>
        <p:nvSpPr>
          <p:cNvPr id="14" name="Text 12"/>
          <p:cNvSpPr/>
          <p:nvPr/>
        </p:nvSpPr>
        <p:spPr>
          <a:xfrm>
            <a:off x="2697480" y="3913632"/>
            <a:ext cx="1965960" cy="548640"/>
          </a:xfrm>
          <a:prstGeom prst="rect">
            <a:avLst/>
          </a:prstGeom>
          <a:noFill/>
          <a:ln/>
        </p:spPr>
        <p:txBody>
          <a:bodyPr wrap="square" rtlCol="0" anchor="ctr"/>
          <a:lstStyle/>
          <a:p>
            <a:pPr marL="0" indent="0" algn="ctr">
              <a:buNone/>
            </a:pPr>
            <a:r>
              <a:rPr lang="en-US" sz="900" dirty="0">
                <a:solidFill>
                  <a:srgbClr val="C8DCF0"/>
                </a:solidFill>
                <a:latin typeface="Calibri" pitchFamily="34" charset="0"/>
                <a:ea typeface="Calibri" pitchFamily="34" charset="-122"/>
                <a:cs typeface="Calibri" pitchFamily="34" charset="-120"/>
              </a:rPr>
              <a:t>Ablation rate · Temp · Density</a:t>
            </a:r>
            <a:endParaRPr lang="en-US" sz="900" dirty="0"/>
          </a:p>
        </p:txBody>
      </p:sp>
      <p:sp>
        <p:nvSpPr>
          <p:cNvPr id="15" name="Shape 13"/>
          <p:cNvSpPr/>
          <p:nvPr/>
        </p:nvSpPr>
        <p:spPr>
          <a:xfrm>
            <a:off x="4846320" y="2926080"/>
            <a:ext cx="1965960" cy="1691640"/>
          </a:xfrm>
          <a:prstGeom prst="roundRect">
            <a:avLst>
              <a:gd name="adj" fmla="val 6486"/>
            </a:avLst>
          </a:prstGeom>
          <a:solidFill>
            <a:srgbClr val="1B3A5C"/>
          </a:solidFill>
          <a:ln/>
          <a:effectLst>
            <a:outerShdw blurRad="101600" dist="38100" dir="2700000" algn="bl" rotWithShape="0">
              <a:srgbClr val="000000">
                <a:alpha val="10000"/>
              </a:srgbClr>
            </a:outerShdw>
          </a:effectLst>
        </p:spPr>
        <p:txBody>
          <a:bodyPr/>
          <a:lstStyle/>
          <a:p>
            <a:endParaRPr lang="en-US"/>
          </a:p>
        </p:txBody>
      </p:sp>
      <p:sp>
        <p:nvSpPr>
          <p:cNvPr id="16" name="Text 14"/>
          <p:cNvSpPr/>
          <p:nvPr/>
        </p:nvSpPr>
        <p:spPr>
          <a:xfrm>
            <a:off x="4846320" y="2971800"/>
            <a:ext cx="1965960" cy="685800"/>
          </a:xfrm>
          <a:prstGeom prst="rect">
            <a:avLst/>
          </a:prstGeom>
          <a:noFill/>
          <a:ln/>
        </p:spPr>
        <p:txBody>
          <a:bodyPr wrap="square" rtlCol="0" anchor="ctr"/>
          <a:lstStyle/>
          <a:p>
            <a:pPr marL="0" indent="0" algn="ctr">
              <a:buNone/>
            </a:pPr>
            <a:r>
              <a:rPr lang="en-US" sz="2400" b="1" dirty="0">
                <a:solidFill>
                  <a:srgbClr val="E6A817"/>
                </a:solidFill>
                <a:latin typeface="Cambria" pitchFamily="34" charset="0"/>
                <a:ea typeface="Cambria" pitchFamily="34" charset="-122"/>
                <a:cs typeface="Cambria" pitchFamily="34" charset="-120"/>
              </a:rPr>
              <a:t>14</a:t>
            </a:r>
            <a:endParaRPr lang="en-US" sz="2400" dirty="0"/>
          </a:p>
        </p:txBody>
      </p:sp>
      <p:sp>
        <p:nvSpPr>
          <p:cNvPr id="17" name="Text 15"/>
          <p:cNvSpPr/>
          <p:nvPr/>
        </p:nvSpPr>
        <p:spPr>
          <a:xfrm>
            <a:off x="4846320" y="3611880"/>
            <a:ext cx="196596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Conditions</a:t>
            </a:r>
            <a:endParaRPr lang="en-US" sz="1100" dirty="0"/>
          </a:p>
        </p:txBody>
      </p:sp>
      <p:sp>
        <p:nvSpPr>
          <p:cNvPr id="18" name="Text 16"/>
          <p:cNvSpPr/>
          <p:nvPr/>
        </p:nvSpPr>
        <p:spPr>
          <a:xfrm>
            <a:off x="4846320" y="3913632"/>
            <a:ext cx="1965960" cy="548640"/>
          </a:xfrm>
          <a:prstGeom prst="rect">
            <a:avLst/>
          </a:prstGeom>
          <a:noFill/>
          <a:ln/>
        </p:spPr>
        <p:txBody>
          <a:bodyPr wrap="square" rtlCol="0" anchor="ctr"/>
          <a:lstStyle/>
          <a:p>
            <a:pPr marL="0" indent="0" algn="ctr">
              <a:buNone/>
            </a:pPr>
            <a:r>
              <a:rPr lang="en-US" sz="900" dirty="0">
                <a:solidFill>
                  <a:srgbClr val="C8DCF0"/>
                </a:solidFill>
                <a:latin typeface="Calibri" pitchFamily="34" charset="0"/>
                <a:ea typeface="Calibri" pitchFamily="34" charset="-122"/>
                <a:cs typeface="Calibri" pitchFamily="34" charset="-120"/>
              </a:rPr>
              <a:t>Unique X₁ × X₂ combinations</a:t>
            </a:r>
            <a:endParaRPr lang="en-US" sz="900" dirty="0"/>
          </a:p>
        </p:txBody>
      </p:sp>
      <p:sp>
        <p:nvSpPr>
          <p:cNvPr id="19" name="Shape 17"/>
          <p:cNvSpPr/>
          <p:nvPr/>
        </p:nvSpPr>
        <p:spPr>
          <a:xfrm>
            <a:off x="6995160" y="2926080"/>
            <a:ext cx="1965960" cy="1691640"/>
          </a:xfrm>
          <a:prstGeom prst="roundRect">
            <a:avLst>
              <a:gd name="adj" fmla="val 6486"/>
            </a:avLst>
          </a:prstGeom>
          <a:solidFill>
            <a:srgbClr val="1B3A5C"/>
          </a:solidFill>
          <a:ln/>
          <a:effectLst>
            <a:outerShdw blurRad="101600" dist="38100" dir="2700000" algn="bl" rotWithShape="0">
              <a:srgbClr val="000000">
                <a:alpha val="10000"/>
              </a:srgbClr>
            </a:outerShdw>
          </a:effectLst>
        </p:spPr>
        <p:txBody>
          <a:bodyPr/>
          <a:lstStyle/>
          <a:p>
            <a:endParaRPr lang="en-US"/>
          </a:p>
        </p:txBody>
      </p:sp>
      <p:sp>
        <p:nvSpPr>
          <p:cNvPr id="20" name="Text 18"/>
          <p:cNvSpPr/>
          <p:nvPr/>
        </p:nvSpPr>
        <p:spPr>
          <a:xfrm>
            <a:off x="6995160" y="2971800"/>
            <a:ext cx="1965960" cy="685800"/>
          </a:xfrm>
          <a:prstGeom prst="rect">
            <a:avLst/>
          </a:prstGeom>
          <a:noFill/>
          <a:ln/>
        </p:spPr>
        <p:txBody>
          <a:bodyPr wrap="square" rtlCol="0" anchor="ctr"/>
          <a:lstStyle/>
          <a:p>
            <a:pPr marL="0" indent="0" algn="ctr">
              <a:buNone/>
            </a:pPr>
            <a:r>
              <a:rPr lang="en-US" sz="2400" b="1" dirty="0">
                <a:solidFill>
                  <a:srgbClr val="E6A817"/>
                </a:solidFill>
                <a:latin typeface="Cambria" pitchFamily="34" charset="0"/>
                <a:ea typeface="Cambria" pitchFamily="34" charset="-122"/>
                <a:cs typeface="Cambria" pitchFamily="34" charset="-120"/>
              </a:rPr>
              <a:t>3 / condition</a:t>
            </a:r>
            <a:endParaRPr lang="en-US" sz="2400" dirty="0"/>
          </a:p>
        </p:txBody>
      </p:sp>
      <p:sp>
        <p:nvSpPr>
          <p:cNvPr id="21" name="Text 19"/>
          <p:cNvSpPr/>
          <p:nvPr/>
        </p:nvSpPr>
        <p:spPr>
          <a:xfrm>
            <a:off x="6995160" y="3611880"/>
            <a:ext cx="196596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Replicates</a:t>
            </a:r>
            <a:endParaRPr lang="en-US" sz="1100" dirty="0"/>
          </a:p>
        </p:txBody>
      </p:sp>
      <p:sp>
        <p:nvSpPr>
          <p:cNvPr id="22" name="Text 20"/>
          <p:cNvSpPr/>
          <p:nvPr/>
        </p:nvSpPr>
        <p:spPr>
          <a:xfrm>
            <a:off x="6995160" y="3913632"/>
            <a:ext cx="1965960" cy="548640"/>
          </a:xfrm>
          <a:prstGeom prst="rect">
            <a:avLst/>
          </a:prstGeom>
          <a:noFill/>
          <a:ln/>
        </p:spPr>
        <p:txBody>
          <a:bodyPr wrap="square" rtlCol="0" anchor="ctr"/>
          <a:lstStyle/>
          <a:p>
            <a:pPr marL="0" indent="0" algn="ctr">
              <a:buNone/>
            </a:pPr>
            <a:r>
              <a:rPr lang="en-US" sz="900" dirty="0">
                <a:solidFill>
                  <a:srgbClr val="C8DCF0"/>
                </a:solidFill>
                <a:latin typeface="Calibri" pitchFamily="34" charset="0"/>
                <a:ea typeface="Calibri" pitchFamily="34" charset="-122"/>
                <a:cs typeface="Calibri" pitchFamily="34" charset="-120"/>
              </a:rPr>
              <a:t>42 total observations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20040" y="0"/>
            <a:ext cx="8503920" cy="658368"/>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1  |  Experimental Design &amp; Data Overview</a:t>
            </a:r>
            <a:endParaRPr lang="en-US" sz="2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65760" y="822960"/>
          <a:ext cx="3657600" cy="2194560"/>
        </p:xfrm>
        <a:graphic>
          <a:graphicData uri="http://schemas.openxmlformats.org/drawingml/2006/table">
            <a:tbl>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36576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X₁ (CB wt%)</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X₂ (Fe wt%)</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1, 2, 3, 4, 5</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12.5</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1, 3, 5</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19.6</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1, 3, 5</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365760" y="3200400"/>
            <a:ext cx="3840480" cy="457200"/>
          </a:xfrm>
          <a:prstGeom prst="rect">
            <a:avLst/>
          </a:prstGeom>
          <a:noFill/>
          <a:ln/>
        </p:spPr>
        <p:txBody>
          <a:bodyPr wrap="square" rtlCol="0" anchor="ctr"/>
          <a:lstStyle/>
          <a:p>
            <a:pPr marL="0" indent="0">
              <a:buNone/>
            </a:pPr>
            <a:r>
              <a:rPr lang="en-US" sz="1000" i="1" dirty="0">
                <a:solidFill>
                  <a:srgbClr val="546778"/>
                </a:solidFill>
                <a:latin typeface="Calibri" pitchFamily="34" charset="0"/>
                <a:ea typeface="Calibri" pitchFamily="34" charset="-122"/>
                <a:cs typeface="Calibri" pitchFamily="34" charset="-120"/>
              </a:rPr>
              <a:t>Design: Space-filling, D-optimal style across 14 unique (X₁, X₂) combinations.</a:t>
            </a:r>
            <a:endParaRPr lang="en-US" sz="1000" dirty="0"/>
          </a:p>
        </p:txBody>
      </p:sp>
      <p:sp>
        <p:nvSpPr>
          <p:cNvPr id="6" name="Shape 3"/>
          <p:cNvSpPr/>
          <p:nvPr/>
        </p:nvSpPr>
        <p:spPr>
          <a:xfrm>
            <a:off x="4572000" y="914400"/>
            <a:ext cx="4114800" cy="1097280"/>
          </a:xfrm>
          <a:prstGeom prst="roundRect">
            <a:avLst>
              <a:gd name="adj" fmla="val 8333"/>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7" name="Text 4"/>
          <p:cNvSpPr/>
          <p:nvPr/>
        </p:nvSpPr>
        <p:spPr>
          <a:xfrm>
            <a:off x="4709160" y="987552"/>
            <a:ext cx="3840480" cy="320040"/>
          </a:xfrm>
          <a:prstGeom prst="rect">
            <a:avLst/>
          </a:prstGeom>
          <a:noFill/>
          <a:ln/>
        </p:spPr>
        <p:txBody>
          <a:bodyPr wrap="square"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Y₁  Ablation Rate</a:t>
            </a:r>
            <a:endParaRPr lang="en-US" sz="1200" dirty="0"/>
          </a:p>
        </p:txBody>
      </p:sp>
      <p:sp>
        <p:nvSpPr>
          <p:cNvPr id="8" name="Text 5"/>
          <p:cNvSpPr/>
          <p:nvPr/>
        </p:nvSpPr>
        <p:spPr>
          <a:xfrm>
            <a:off x="4709160" y="1325880"/>
            <a:ext cx="2560320" cy="256032"/>
          </a:xfrm>
          <a:prstGeom prst="rect">
            <a:avLst/>
          </a:prstGeom>
          <a:noFill/>
          <a:ln/>
        </p:spPr>
        <p:txBody>
          <a:bodyPr wrap="square" rtlCol="0" anchor="ctr"/>
          <a:lstStyle/>
          <a:p>
            <a:pPr marL="0" indent="0">
              <a:buNone/>
            </a:pPr>
            <a:r>
              <a:rPr lang="en-US" sz="1000" dirty="0">
                <a:solidFill>
                  <a:srgbClr val="1A2A3A"/>
                </a:solidFill>
                <a:latin typeface="Calibri" pitchFamily="34" charset="0"/>
                <a:ea typeface="Calibri" pitchFamily="34" charset="-122"/>
                <a:cs typeface="Calibri" pitchFamily="34" charset="-120"/>
              </a:rPr>
              <a:t>5.53 – 19.21 µm/s</a:t>
            </a:r>
            <a:endParaRPr lang="en-US" sz="1000" dirty="0"/>
          </a:p>
        </p:txBody>
      </p:sp>
      <p:sp>
        <p:nvSpPr>
          <p:cNvPr id="9" name="Text 6"/>
          <p:cNvSpPr/>
          <p:nvPr/>
        </p:nvSpPr>
        <p:spPr>
          <a:xfrm>
            <a:off x="7178040" y="1325880"/>
            <a:ext cx="1371600" cy="256032"/>
          </a:xfrm>
          <a:prstGeom prst="rect">
            <a:avLst/>
          </a:prstGeom>
          <a:noFill/>
          <a:ln/>
        </p:spPr>
        <p:txBody>
          <a:bodyPr wrap="square" rtlCol="0" anchor="ctr"/>
          <a:lstStyle/>
          <a:p>
            <a:pPr marL="0" indent="0" algn="r">
              <a:buNone/>
            </a:pPr>
            <a:r>
              <a:rPr lang="en-US" sz="1100" b="1" dirty="0">
                <a:solidFill>
                  <a:srgbClr val="0E6B8C"/>
                </a:solidFill>
                <a:latin typeface="Calibri" pitchFamily="34" charset="0"/>
                <a:ea typeface="Calibri" pitchFamily="34" charset="-122"/>
                <a:cs typeface="Calibri" pitchFamily="34" charset="-120"/>
              </a:rPr>
              <a:t>μ = 8.98</a:t>
            </a:r>
            <a:endParaRPr lang="en-US" sz="1100" dirty="0"/>
          </a:p>
        </p:txBody>
      </p:sp>
      <p:sp>
        <p:nvSpPr>
          <p:cNvPr id="10" name="Shape 7"/>
          <p:cNvSpPr/>
          <p:nvPr/>
        </p:nvSpPr>
        <p:spPr>
          <a:xfrm>
            <a:off x="4572000" y="2194560"/>
            <a:ext cx="4114800" cy="1097280"/>
          </a:xfrm>
          <a:prstGeom prst="roundRect">
            <a:avLst>
              <a:gd name="adj" fmla="val 8333"/>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11" name="Text 8"/>
          <p:cNvSpPr/>
          <p:nvPr/>
        </p:nvSpPr>
        <p:spPr>
          <a:xfrm>
            <a:off x="4709160" y="2267712"/>
            <a:ext cx="3840480" cy="320040"/>
          </a:xfrm>
          <a:prstGeom prst="rect">
            <a:avLst/>
          </a:prstGeom>
          <a:noFill/>
          <a:ln/>
        </p:spPr>
        <p:txBody>
          <a:bodyPr wrap="square"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Y₂  Backside Temp</a:t>
            </a:r>
            <a:endParaRPr lang="en-US" sz="1200" dirty="0"/>
          </a:p>
        </p:txBody>
      </p:sp>
      <p:sp>
        <p:nvSpPr>
          <p:cNvPr id="12" name="Text 9"/>
          <p:cNvSpPr/>
          <p:nvPr/>
        </p:nvSpPr>
        <p:spPr>
          <a:xfrm>
            <a:off x="4709160" y="2606040"/>
            <a:ext cx="2560320" cy="256032"/>
          </a:xfrm>
          <a:prstGeom prst="rect">
            <a:avLst/>
          </a:prstGeom>
          <a:noFill/>
          <a:ln/>
        </p:spPr>
        <p:txBody>
          <a:bodyPr wrap="square" rtlCol="0" anchor="ctr"/>
          <a:lstStyle/>
          <a:p>
            <a:pPr marL="0" indent="0">
              <a:buNone/>
            </a:pPr>
            <a:r>
              <a:rPr lang="en-US" sz="1000" dirty="0">
                <a:solidFill>
                  <a:srgbClr val="1A2A3A"/>
                </a:solidFill>
                <a:latin typeface="Calibri" pitchFamily="34" charset="0"/>
                <a:ea typeface="Calibri" pitchFamily="34" charset="-122"/>
                <a:cs typeface="Calibri" pitchFamily="34" charset="-120"/>
              </a:rPr>
              <a:t>161 – 227 °C</a:t>
            </a:r>
            <a:endParaRPr lang="en-US" sz="1000" dirty="0"/>
          </a:p>
        </p:txBody>
      </p:sp>
      <p:sp>
        <p:nvSpPr>
          <p:cNvPr id="13" name="Text 10"/>
          <p:cNvSpPr/>
          <p:nvPr/>
        </p:nvSpPr>
        <p:spPr>
          <a:xfrm>
            <a:off x="7178040" y="2606040"/>
            <a:ext cx="1371600" cy="256032"/>
          </a:xfrm>
          <a:prstGeom prst="rect">
            <a:avLst/>
          </a:prstGeom>
          <a:noFill/>
          <a:ln/>
        </p:spPr>
        <p:txBody>
          <a:bodyPr wrap="square" rtlCol="0" anchor="ctr"/>
          <a:lstStyle/>
          <a:p>
            <a:pPr marL="0" indent="0" algn="r">
              <a:buNone/>
            </a:pPr>
            <a:r>
              <a:rPr lang="en-US" sz="1100" b="1" dirty="0">
                <a:solidFill>
                  <a:srgbClr val="0E6B8C"/>
                </a:solidFill>
                <a:latin typeface="Calibri" pitchFamily="34" charset="0"/>
                <a:ea typeface="Calibri" pitchFamily="34" charset="-122"/>
                <a:cs typeface="Calibri" pitchFamily="34" charset="-120"/>
              </a:rPr>
              <a:t>μ = 197.3</a:t>
            </a:r>
            <a:endParaRPr lang="en-US" sz="1100" dirty="0"/>
          </a:p>
        </p:txBody>
      </p:sp>
      <p:sp>
        <p:nvSpPr>
          <p:cNvPr id="14" name="Shape 11"/>
          <p:cNvSpPr/>
          <p:nvPr/>
        </p:nvSpPr>
        <p:spPr>
          <a:xfrm>
            <a:off x="4572000" y="3474720"/>
            <a:ext cx="4114800" cy="1097280"/>
          </a:xfrm>
          <a:prstGeom prst="roundRect">
            <a:avLst>
              <a:gd name="adj" fmla="val 8333"/>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15" name="Text 12"/>
          <p:cNvSpPr/>
          <p:nvPr/>
        </p:nvSpPr>
        <p:spPr>
          <a:xfrm>
            <a:off x="4709160" y="3547872"/>
            <a:ext cx="3840480" cy="320040"/>
          </a:xfrm>
          <a:prstGeom prst="rect">
            <a:avLst/>
          </a:prstGeom>
          <a:noFill/>
          <a:ln/>
        </p:spPr>
        <p:txBody>
          <a:bodyPr wrap="square"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Y₃  Density</a:t>
            </a:r>
            <a:endParaRPr lang="en-US" sz="1200" dirty="0"/>
          </a:p>
        </p:txBody>
      </p:sp>
      <p:sp>
        <p:nvSpPr>
          <p:cNvPr id="16" name="Text 13"/>
          <p:cNvSpPr/>
          <p:nvPr/>
        </p:nvSpPr>
        <p:spPr>
          <a:xfrm>
            <a:off x="4709160" y="3886200"/>
            <a:ext cx="2560320" cy="256032"/>
          </a:xfrm>
          <a:prstGeom prst="rect">
            <a:avLst/>
          </a:prstGeom>
          <a:noFill/>
          <a:ln/>
        </p:spPr>
        <p:txBody>
          <a:bodyPr wrap="square" rtlCol="0" anchor="ctr"/>
          <a:lstStyle/>
          <a:p>
            <a:pPr marL="0" indent="0">
              <a:buNone/>
            </a:pPr>
            <a:r>
              <a:rPr lang="en-US" sz="1000" dirty="0">
                <a:solidFill>
                  <a:srgbClr val="1A2A3A"/>
                </a:solidFill>
                <a:latin typeface="Calibri" pitchFamily="34" charset="0"/>
                <a:ea typeface="Calibri" pitchFamily="34" charset="-122"/>
                <a:cs typeface="Calibri" pitchFamily="34" charset="-120"/>
              </a:rPr>
              <a:t>1.135 – 1.251 g/cm³</a:t>
            </a:r>
            <a:endParaRPr lang="en-US" sz="1000" dirty="0"/>
          </a:p>
        </p:txBody>
      </p:sp>
      <p:sp>
        <p:nvSpPr>
          <p:cNvPr id="17" name="Text 14"/>
          <p:cNvSpPr/>
          <p:nvPr/>
        </p:nvSpPr>
        <p:spPr>
          <a:xfrm>
            <a:off x="7178040" y="3886200"/>
            <a:ext cx="1371600" cy="256032"/>
          </a:xfrm>
          <a:prstGeom prst="rect">
            <a:avLst/>
          </a:prstGeom>
          <a:noFill/>
          <a:ln/>
        </p:spPr>
        <p:txBody>
          <a:bodyPr wrap="square" rtlCol="0" anchor="ctr"/>
          <a:lstStyle/>
          <a:p>
            <a:pPr marL="0" indent="0" algn="r">
              <a:buNone/>
            </a:pPr>
            <a:r>
              <a:rPr lang="en-US" sz="1100" b="1" dirty="0">
                <a:solidFill>
                  <a:srgbClr val="0E6B8C"/>
                </a:solidFill>
                <a:latin typeface="Calibri" pitchFamily="34" charset="0"/>
                <a:ea typeface="Calibri" pitchFamily="34" charset="-122"/>
                <a:cs typeface="Calibri" pitchFamily="34" charset="-120"/>
              </a:rPr>
              <a:t>μ = 1.187</a:t>
            </a:r>
            <a:endParaRPr lang="en-US" sz="1100" dirty="0"/>
          </a:p>
        </p:txBody>
      </p:sp>
      <p:pic>
        <p:nvPicPr>
          <p:cNvPr id="18" name="Image 0" descr="preencoded.png"/>
          <p:cNvPicPr>
            <a:picLocks noChangeAspect="1"/>
          </p:cNvPicPr>
          <p:nvPr/>
        </p:nvPicPr>
        <p:blipFill>
          <a:blip r:embed="rId3"/>
          <a:stretch>
            <a:fillRect/>
          </a:stretch>
        </p:blipFill>
        <p:spPr>
          <a:xfrm>
            <a:off x="274320" y="3260203"/>
            <a:ext cx="8595360" cy="1828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20040" y="0"/>
            <a:ext cx="8503920" cy="658368"/>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2  |  Orthogonality Check</a:t>
            </a:r>
            <a:endParaRPr lang="en-US" sz="2000" dirty="0"/>
          </a:p>
        </p:txBody>
      </p:sp>
      <p:sp>
        <p:nvSpPr>
          <p:cNvPr id="4" name="Shape 2"/>
          <p:cNvSpPr/>
          <p:nvPr/>
        </p:nvSpPr>
        <p:spPr>
          <a:xfrm>
            <a:off x="365760" y="777240"/>
            <a:ext cx="2606040" cy="1417320"/>
          </a:xfrm>
          <a:prstGeom prst="roundRect">
            <a:avLst>
              <a:gd name="adj" fmla="val 7742"/>
            </a:avLst>
          </a:prstGeom>
          <a:solidFill>
            <a:srgbClr val="EBF7EF"/>
          </a:solidFill>
          <a:ln/>
          <a:effectLst>
            <a:outerShdw blurRad="101600" dist="38100" dir="2700000" algn="bl" rotWithShape="0">
              <a:srgbClr val="000000">
                <a:alpha val="10000"/>
              </a:srgbClr>
            </a:outerShdw>
          </a:effectLst>
        </p:spPr>
        <p:txBody>
          <a:bodyPr/>
          <a:lstStyle/>
          <a:p>
            <a:endParaRPr lang="en-US"/>
          </a:p>
        </p:txBody>
      </p:sp>
      <p:sp>
        <p:nvSpPr>
          <p:cNvPr id="5" name="Text 3"/>
          <p:cNvSpPr/>
          <p:nvPr/>
        </p:nvSpPr>
        <p:spPr>
          <a:xfrm>
            <a:off x="457200" y="822960"/>
            <a:ext cx="457200" cy="457200"/>
          </a:xfrm>
          <a:prstGeom prst="rect">
            <a:avLst/>
          </a:prstGeom>
          <a:noFill/>
          <a:ln/>
        </p:spPr>
        <p:txBody>
          <a:bodyPr wrap="square" rtlCol="0" anchor="ctr"/>
          <a:lstStyle/>
          <a:p>
            <a:pPr marL="0" indent="0">
              <a:buNone/>
            </a:pPr>
            <a:r>
              <a:rPr lang="en-US" sz="2000" b="1" dirty="0">
                <a:solidFill>
                  <a:srgbClr val="1A7A4A"/>
                </a:solidFill>
                <a:latin typeface="Calibri" pitchFamily="34" charset="0"/>
                <a:ea typeface="Calibri" pitchFamily="34" charset="-122"/>
                <a:cs typeface="Calibri" pitchFamily="34" charset="-120"/>
              </a:rPr>
              <a:t>✓</a:t>
            </a:r>
            <a:endParaRPr lang="en-US" sz="2000" dirty="0"/>
          </a:p>
        </p:txBody>
      </p:sp>
      <p:sp>
        <p:nvSpPr>
          <p:cNvPr id="6" name="Text 4"/>
          <p:cNvSpPr/>
          <p:nvPr/>
        </p:nvSpPr>
        <p:spPr>
          <a:xfrm>
            <a:off x="411480" y="1261872"/>
            <a:ext cx="2514600" cy="411480"/>
          </a:xfrm>
          <a:prstGeom prst="rect">
            <a:avLst/>
          </a:prstGeom>
          <a:noFill/>
          <a:ln/>
        </p:spPr>
        <p:txBody>
          <a:bodyPr wrap="square" rtlCol="0" anchor="ctr"/>
          <a:lstStyle/>
          <a:p>
            <a:pPr marL="0" indent="0" algn="ctr">
              <a:buNone/>
            </a:pPr>
            <a:r>
              <a:rPr lang="en-US" sz="2200" b="1" dirty="0">
                <a:solidFill>
                  <a:srgbClr val="0D1B2A"/>
                </a:solidFill>
                <a:latin typeface="Cambria" pitchFamily="34" charset="0"/>
                <a:ea typeface="Cambria" pitchFamily="34" charset="-122"/>
                <a:cs typeface="Cambria" pitchFamily="34" charset="-120"/>
              </a:rPr>
              <a:t>r = –0.07</a:t>
            </a:r>
            <a:endParaRPr lang="en-US" sz="2200" dirty="0"/>
          </a:p>
        </p:txBody>
      </p:sp>
      <p:sp>
        <p:nvSpPr>
          <p:cNvPr id="7" name="Text 5"/>
          <p:cNvSpPr/>
          <p:nvPr/>
        </p:nvSpPr>
        <p:spPr>
          <a:xfrm>
            <a:off x="411480" y="1664208"/>
            <a:ext cx="2514600" cy="457200"/>
          </a:xfrm>
          <a:prstGeom prst="rect">
            <a:avLst/>
          </a:prstGeom>
          <a:noFill/>
          <a:ln/>
        </p:spPr>
        <p:txBody>
          <a:bodyPr wrap="square" rtlCol="0" anchor="ctr"/>
          <a:lstStyle/>
          <a:p>
            <a:pPr marL="0" indent="0" algn="ctr">
              <a:buNone/>
            </a:pPr>
            <a:r>
              <a:rPr lang="en-US" sz="950" dirty="0">
                <a:solidFill>
                  <a:srgbClr val="546778"/>
                </a:solidFill>
                <a:latin typeface="Calibri" pitchFamily="34" charset="0"/>
                <a:ea typeface="Calibri" pitchFamily="34" charset="-122"/>
                <a:cs typeface="Calibri" pitchFamily="34" charset="-120"/>
              </a:rPr>
              <a:t>Pearson correlation X₁ vs X₂</a:t>
            </a:r>
            <a:endParaRPr lang="en-US" sz="950" dirty="0"/>
          </a:p>
          <a:p>
            <a:pPr marL="0" indent="0" algn="ctr">
              <a:buNone/>
            </a:pPr>
            <a:r>
              <a:rPr lang="en-US" sz="950" dirty="0">
                <a:solidFill>
                  <a:srgbClr val="546778"/>
                </a:solidFill>
                <a:latin typeface="Calibri" pitchFamily="34" charset="0"/>
                <a:ea typeface="Calibri" pitchFamily="34" charset="-122"/>
                <a:cs typeface="Calibri" pitchFamily="34" charset="-120"/>
              </a:rPr>
              <a:t>(p = 0.68)</a:t>
            </a:r>
            <a:endParaRPr lang="en-US" sz="950" dirty="0"/>
          </a:p>
        </p:txBody>
      </p:sp>
      <p:sp>
        <p:nvSpPr>
          <p:cNvPr id="8" name="Shape 6"/>
          <p:cNvSpPr/>
          <p:nvPr/>
        </p:nvSpPr>
        <p:spPr>
          <a:xfrm>
            <a:off x="3200400" y="777240"/>
            <a:ext cx="2606040" cy="1417320"/>
          </a:xfrm>
          <a:prstGeom prst="roundRect">
            <a:avLst>
              <a:gd name="adj" fmla="val 7742"/>
            </a:avLst>
          </a:prstGeom>
          <a:solidFill>
            <a:srgbClr val="EBF7EF"/>
          </a:solidFill>
          <a:ln/>
          <a:effectLst>
            <a:outerShdw blurRad="101600" dist="38100" dir="2700000" algn="bl" rotWithShape="0">
              <a:srgbClr val="000000">
                <a:alpha val="10000"/>
              </a:srgbClr>
            </a:outerShdw>
          </a:effectLst>
        </p:spPr>
        <p:txBody>
          <a:bodyPr/>
          <a:lstStyle/>
          <a:p>
            <a:endParaRPr lang="en-US"/>
          </a:p>
        </p:txBody>
      </p:sp>
      <p:sp>
        <p:nvSpPr>
          <p:cNvPr id="9" name="Text 7"/>
          <p:cNvSpPr/>
          <p:nvPr/>
        </p:nvSpPr>
        <p:spPr>
          <a:xfrm>
            <a:off x="3291840" y="822960"/>
            <a:ext cx="457200" cy="457200"/>
          </a:xfrm>
          <a:prstGeom prst="rect">
            <a:avLst/>
          </a:prstGeom>
          <a:noFill/>
          <a:ln/>
        </p:spPr>
        <p:txBody>
          <a:bodyPr wrap="square" rtlCol="0" anchor="ctr"/>
          <a:lstStyle/>
          <a:p>
            <a:pPr marL="0" indent="0">
              <a:buNone/>
            </a:pPr>
            <a:r>
              <a:rPr lang="en-US" sz="2000" b="1" dirty="0">
                <a:solidFill>
                  <a:srgbClr val="1A7A4A"/>
                </a:solidFill>
                <a:latin typeface="Calibri" pitchFamily="34" charset="0"/>
                <a:ea typeface="Calibri" pitchFamily="34" charset="-122"/>
                <a:cs typeface="Calibri" pitchFamily="34" charset="-120"/>
              </a:rPr>
              <a:t>✓</a:t>
            </a:r>
            <a:endParaRPr lang="en-US" sz="2000" dirty="0"/>
          </a:p>
        </p:txBody>
      </p:sp>
      <p:sp>
        <p:nvSpPr>
          <p:cNvPr id="10" name="Text 8"/>
          <p:cNvSpPr/>
          <p:nvPr/>
        </p:nvSpPr>
        <p:spPr>
          <a:xfrm>
            <a:off x="3246120" y="1261872"/>
            <a:ext cx="2514600" cy="411480"/>
          </a:xfrm>
          <a:prstGeom prst="rect">
            <a:avLst/>
          </a:prstGeom>
          <a:noFill/>
          <a:ln/>
        </p:spPr>
        <p:txBody>
          <a:bodyPr wrap="square" rtlCol="0" anchor="ctr"/>
          <a:lstStyle/>
          <a:p>
            <a:pPr marL="0" indent="0" algn="ctr">
              <a:buNone/>
            </a:pPr>
            <a:r>
              <a:rPr lang="en-US" sz="2200" b="1" dirty="0">
                <a:solidFill>
                  <a:srgbClr val="0D1B2A"/>
                </a:solidFill>
                <a:latin typeface="Cambria" pitchFamily="34" charset="0"/>
                <a:ea typeface="Cambria" pitchFamily="34" charset="-122"/>
                <a:cs typeface="Cambria" pitchFamily="34" charset="-120"/>
              </a:rPr>
              <a:t>κ = 75.9</a:t>
            </a:r>
            <a:endParaRPr lang="en-US" sz="2200" dirty="0"/>
          </a:p>
        </p:txBody>
      </p:sp>
      <p:sp>
        <p:nvSpPr>
          <p:cNvPr id="11" name="Text 9"/>
          <p:cNvSpPr/>
          <p:nvPr/>
        </p:nvSpPr>
        <p:spPr>
          <a:xfrm>
            <a:off x="3246120" y="1664208"/>
            <a:ext cx="2514600" cy="457200"/>
          </a:xfrm>
          <a:prstGeom prst="rect">
            <a:avLst/>
          </a:prstGeom>
          <a:noFill/>
          <a:ln/>
        </p:spPr>
        <p:txBody>
          <a:bodyPr wrap="square" rtlCol="0" anchor="ctr"/>
          <a:lstStyle/>
          <a:p>
            <a:pPr marL="0" indent="0" algn="ctr">
              <a:buNone/>
            </a:pPr>
            <a:r>
              <a:rPr lang="en-US" sz="950" dirty="0">
                <a:solidFill>
                  <a:srgbClr val="546778"/>
                </a:solidFill>
                <a:latin typeface="Calibri" pitchFamily="34" charset="0"/>
                <a:ea typeface="Calibri" pitchFamily="34" charset="-122"/>
                <a:cs typeface="Calibri" pitchFamily="34" charset="-120"/>
              </a:rPr>
              <a:t>Condition number of centred</a:t>
            </a:r>
            <a:endParaRPr lang="en-US" sz="950" dirty="0"/>
          </a:p>
          <a:p>
            <a:pPr marL="0" indent="0" algn="ctr">
              <a:buNone/>
            </a:pPr>
            <a:r>
              <a:rPr lang="en-US" sz="950" dirty="0">
                <a:solidFill>
                  <a:srgbClr val="546778"/>
                </a:solidFill>
                <a:latin typeface="Calibri" pitchFamily="34" charset="0"/>
                <a:ea typeface="Calibri" pitchFamily="34" charset="-122"/>
                <a:cs typeface="Calibri" pitchFamily="34" charset="-120"/>
              </a:rPr>
              <a:t>design matrix X'X</a:t>
            </a:r>
            <a:endParaRPr lang="en-US" sz="950" dirty="0"/>
          </a:p>
        </p:txBody>
      </p:sp>
      <p:sp>
        <p:nvSpPr>
          <p:cNvPr id="12" name="Shape 10"/>
          <p:cNvSpPr/>
          <p:nvPr/>
        </p:nvSpPr>
        <p:spPr>
          <a:xfrm>
            <a:off x="6035040" y="777240"/>
            <a:ext cx="2606040" cy="1417320"/>
          </a:xfrm>
          <a:prstGeom prst="roundRect">
            <a:avLst>
              <a:gd name="adj" fmla="val 7742"/>
            </a:avLst>
          </a:prstGeom>
          <a:solidFill>
            <a:srgbClr val="EBF7EF"/>
          </a:solidFill>
          <a:ln/>
          <a:effectLst>
            <a:outerShdw blurRad="101600" dist="38100" dir="2700000" algn="bl" rotWithShape="0">
              <a:srgbClr val="000000">
                <a:alpha val="10000"/>
              </a:srgbClr>
            </a:outerShdw>
          </a:effectLst>
        </p:spPr>
        <p:txBody>
          <a:bodyPr/>
          <a:lstStyle/>
          <a:p>
            <a:endParaRPr lang="en-US"/>
          </a:p>
        </p:txBody>
      </p:sp>
      <p:sp>
        <p:nvSpPr>
          <p:cNvPr id="13" name="Text 11"/>
          <p:cNvSpPr/>
          <p:nvPr/>
        </p:nvSpPr>
        <p:spPr>
          <a:xfrm>
            <a:off x="6126480" y="822960"/>
            <a:ext cx="457200" cy="457200"/>
          </a:xfrm>
          <a:prstGeom prst="rect">
            <a:avLst/>
          </a:prstGeom>
          <a:noFill/>
          <a:ln/>
        </p:spPr>
        <p:txBody>
          <a:bodyPr wrap="square" rtlCol="0" anchor="ctr"/>
          <a:lstStyle/>
          <a:p>
            <a:pPr marL="0" indent="0">
              <a:buNone/>
            </a:pPr>
            <a:r>
              <a:rPr lang="en-US" sz="2000" b="1" dirty="0">
                <a:solidFill>
                  <a:srgbClr val="1A7A4A"/>
                </a:solidFill>
                <a:latin typeface="Calibri" pitchFamily="34" charset="0"/>
                <a:ea typeface="Calibri" pitchFamily="34" charset="-122"/>
                <a:cs typeface="Calibri" pitchFamily="34" charset="-120"/>
              </a:rPr>
              <a:t>✓</a:t>
            </a:r>
            <a:endParaRPr lang="en-US" sz="2000" dirty="0"/>
          </a:p>
        </p:txBody>
      </p:sp>
      <p:sp>
        <p:nvSpPr>
          <p:cNvPr id="14" name="Text 12"/>
          <p:cNvSpPr/>
          <p:nvPr/>
        </p:nvSpPr>
        <p:spPr>
          <a:xfrm>
            <a:off x="6080760" y="1261872"/>
            <a:ext cx="2514600" cy="411480"/>
          </a:xfrm>
          <a:prstGeom prst="rect">
            <a:avLst/>
          </a:prstGeom>
          <a:noFill/>
          <a:ln/>
        </p:spPr>
        <p:txBody>
          <a:bodyPr wrap="square" rtlCol="0" anchor="ctr"/>
          <a:lstStyle/>
          <a:p>
            <a:pPr marL="0" indent="0" algn="ctr">
              <a:buNone/>
            </a:pPr>
            <a:r>
              <a:rPr lang="en-US" sz="2200" b="1" dirty="0">
                <a:solidFill>
                  <a:srgbClr val="0D1B2A"/>
                </a:solidFill>
                <a:latin typeface="Cambria" pitchFamily="34" charset="0"/>
                <a:ea typeface="Cambria" pitchFamily="34" charset="-122"/>
                <a:cs typeface="Cambria" pitchFamily="34" charset="-120"/>
              </a:rPr>
              <a:t>Off-diag ≈ 0</a:t>
            </a:r>
            <a:endParaRPr lang="en-US" sz="2200" dirty="0"/>
          </a:p>
        </p:txBody>
      </p:sp>
      <p:sp>
        <p:nvSpPr>
          <p:cNvPr id="15" name="Text 13"/>
          <p:cNvSpPr/>
          <p:nvPr/>
        </p:nvSpPr>
        <p:spPr>
          <a:xfrm>
            <a:off x="6080760" y="1664208"/>
            <a:ext cx="2514600" cy="457200"/>
          </a:xfrm>
          <a:prstGeom prst="rect">
            <a:avLst/>
          </a:prstGeom>
          <a:noFill/>
          <a:ln/>
        </p:spPr>
        <p:txBody>
          <a:bodyPr wrap="square" rtlCol="0" anchor="ctr"/>
          <a:lstStyle/>
          <a:p>
            <a:pPr marL="0" indent="0" algn="ctr">
              <a:buNone/>
            </a:pPr>
            <a:r>
              <a:rPr lang="en-US" sz="950" dirty="0">
                <a:solidFill>
                  <a:srgbClr val="546778"/>
                </a:solidFill>
                <a:latin typeface="Calibri" pitchFamily="34" charset="0"/>
                <a:ea typeface="Calibri" pitchFamily="34" charset="-122"/>
                <a:cs typeface="Calibri" pitchFamily="34" charset="-120"/>
              </a:rPr>
              <a:t>Normalised X'X off-diagonal</a:t>
            </a:r>
            <a:endParaRPr lang="en-US" sz="950" dirty="0"/>
          </a:p>
          <a:p>
            <a:pPr marL="0" indent="0" algn="ctr">
              <a:buNone/>
            </a:pPr>
            <a:r>
              <a:rPr lang="en-US" sz="950" dirty="0">
                <a:solidFill>
                  <a:srgbClr val="546778"/>
                </a:solidFill>
                <a:latin typeface="Calibri" pitchFamily="34" charset="0"/>
                <a:ea typeface="Calibri" pitchFamily="34" charset="-122"/>
                <a:cs typeface="Calibri" pitchFamily="34" charset="-120"/>
              </a:rPr>
              <a:t>elements near zero</a:t>
            </a:r>
            <a:endParaRPr lang="en-US" sz="950" dirty="0"/>
          </a:p>
        </p:txBody>
      </p:sp>
      <p:pic>
        <p:nvPicPr>
          <p:cNvPr id="16" name="Image 0" descr="preencoded.png"/>
          <p:cNvPicPr>
            <a:picLocks noChangeAspect="1"/>
          </p:cNvPicPr>
          <p:nvPr/>
        </p:nvPicPr>
        <p:blipFill>
          <a:blip r:embed="rId3"/>
          <a:stretch>
            <a:fillRect/>
          </a:stretch>
        </p:blipFill>
        <p:spPr>
          <a:xfrm>
            <a:off x="274320" y="2286000"/>
            <a:ext cx="8595360" cy="2697480"/>
          </a:xfrm>
          <a:prstGeom prst="rect">
            <a:avLst/>
          </a:prstGeom>
        </p:spPr>
      </p:pic>
      <p:sp>
        <p:nvSpPr>
          <p:cNvPr id="17" name="Text 14"/>
          <p:cNvSpPr/>
          <p:nvPr/>
        </p:nvSpPr>
        <p:spPr>
          <a:xfrm>
            <a:off x="365760" y="4892040"/>
            <a:ext cx="8412480" cy="228600"/>
          </a:xfrm>
          <a:prstGeom prst="rect">
            <a:avLst/>
          </a:prstGeom>
          <a:noFill/>
          <a:ln/>
        </p:spPr>
        <p:txBody>
          <a:bodyPr wrap="square" rtlCol="0" anchor="ctr"/>
          <a:lstStyle/>
          <a:p>
            <a:pPr marL="0" indent="0">
              <a:buNone/>
            </a:pPr>
            <a:r>
              <a:rPr lang="en-US" sz="950" i="1" dirty="0">
                <a:solidFill>
                  <a:srgbClr val="546778"/>
                </a:solidFill>
                <a:latin typeface="Calibri" pitchFamily="34" charset="0"/>
                <a:ea typeface="Calibri" pitchFamily="34" charset="-122"/>
                <a:cs typeface="Calibri" pitchFamily="34" charset="-120"/>
              </a:rPr>
              <a:t>Interpretation: Main effects X₁ and X₂ are weakly correlated (r = –0.07). The centred design matrix is near-orthogonal (κ = 75.9 &lt; 100). All off-diagonal correlations are small (|r| ≤ 0.07), as expected when X₁ is unbalanced across X₂ levels.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20040" y="0"/>
            <a:ext cx="8503920" cy="658368"/>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3  |  Two-Way ANOVA Results</a:t>
            </a:r>
            <a:endParaRPr lang="en-US" sz="2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 y="777240"/>
          <a:ext cx="8412480" cy="1828800"/>
        </p:xfrm>
        <a:graphic>
          <a:graphicData uri="http://schemas.openxmlformats.org/drawingml/2006/table">
            <a:tbl>
              <a:tblPr/>
              <a:tblGrid>
                <a:gridCol w="21031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36576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Y₁ Ablation F (p)</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Y₂ Temp F (p)</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Y₃ Density F (p)</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365760">
                <a:tc>
                  <a:txBody>
                    <a:bodyPr/>
                    <a:lstStyle/>
                    <a:p>
                      <a:pPr marL="0" indent="0">
                        <a:buNone/>
                      </a:pPr>
                      <a:r>
                        <a:rPr lang="en-US" sz="1050" b="1" dirty="0">
                          <a:solidFill>
                            <a:srgbClr val="1A2A3A"/>
                          </a:solidFill>
                          <a:latin typeface="Calibri" pitchFamily="34" charset="0"/>
                          <a:ea typeface="Calibri" pitchFamily="34" charset="-122"/>
                          <a:cs typeface="Calibri" pitchFamily="34" charset="-120"/>
                        </a:rPr>
                        <a:t>X₁ (Carbon black)</a:t>
                      </a:r>
                      <a:endParaRPr lang="en-US" sz="105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050" dirty="0">
                          <a:solidFill>
                            <a:srgbClr val="1A2A3A"/>
                          </a:solidFill>
                          <a:latin typeface="Calibri" pitchFamily="34" charset="0"/>
                          <a:ea typeface="Calibri" pitchFamily="34" charset="-122"/>
                          <a:cs typeface="Calibri" pitchFamily="34" charset="-120"/>
                        </a:rPr>
                        <a:t>217  (p &lt; 0.001)  ***</a:t>
                      </a:r>
                      <a:endParaRPr lang="en-US" sz="105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50" dirty="0">
                          <a:solidFill>
                            <a:srgbClr val="1A2A3A"/>
                          </a:solidFill>
                          <a:latin typeface="Calibri" pitchFamily="34" charset="0"/>
                          <a:ea typeface="Calibri" pitchFamily="34" charset="-122"/>
                          <a:cs typeface="Calibri" pitchFamily="34" charset="-120"/>
                        </a:rPr>
                        <a:t>14.7  (p &lt; 0.001)  ***</a:t>
                      </a:r>
                      <a:endParaRPr lang="en-US" sz="105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50" dirty="0">
                          <a:solidFill>
                            <a:srgbClr val="1A2A3A"/>
                          </a:solidFill>
                          <a:latin typeface="Calibri" pitchFamily="34" charset="0"/>
                          <a:ea typeface="Calibri" pitchFamily="34" charset="-122"/>
                          <a:cs typeface="Calibri" pitchFamily="34" charset="-120"/>
                        </a:rPr>
                        <a:t>1.3×10²⁷  ***</a:t>
                      </a:r>
                      <a:endParaRPr lang="en-US" sz="105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050" b="1" dirty="0">
                          <a:solidFill>
                            <a:srgbClr val="1A2A3A"/>
                          </a:solidFill>
                          <a:latin typeface="Calibri" pitchFamily="34" charset="0"/>
                          <a:ea typeface="Calibri" pitchFamily="34" charset="-122"/>
                          <a:cs typeface="Calibri" pitchFamily="34" charset="-120"/>
                        </a:rPr>
                        <a:t>X₂ (Fe-regolith)</a:t>
                      </a:r>
                      <a:endParaRPr lang="en-US" sz="105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050" dirty="0">
                          <a:solidFill>
                            <a:srgbClr val="1A2A3A"/>
                          </a:solidFill>
                          <a:latin typeface="Calibri" pitchFamily="34" charset="0"/>
                          <a:ea typeface="Calibri" pitchFamily="34" charset="-122"/>
                          <a:cs typeface="Calibri" pitchFamily="34" charset="-120"/>
                        </a:rPr>
                        <a:t>43.1  (p &lt; 0.001)  ***</a:t>
                      </a:r>
                      <a:endParaRPr lang="en-US" sz="105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50" dirty="0">
                          <a:solidFill>
                            <a:srgbClr val="1A2A3A"/>
                          </a:solidFill>
                          <a:latin typeface="Calibri" pitchFamily="34" charset="0"/>
                          <a:ea typeface="Calibri" pitchFamily="34" charset="-122"/>
                          <a:cs typeface="Calibri" pitchFamily="34" charset="-120"/>
                        </a:rPr>
                        <a:t>3.34  (p = 0.024)  *</a:t>
                      </a:r>
                      <a:endParaRPr lang="en-US" sz="105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50" dirty="0">
                          <a:solidFill>
                            <a:srgbClr val="1A2A3A"/>
                          </a:solidFill>
                          <a:latin typeface="Calibri" pitchFamily="34" charset="0"/>
                          <a:ea typeface="Calibri" pitchFamily="34" charset="-122"/>
                          <a:cs typeface="Calibri" pitchFamily="34" charset="-120"/>
                        </a:rPr>
                        <a:t>4.0×10²⁶  ***</a:t>
                      </a:r>
                      <a:endParaRPr lang="en-US" sz="105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050" b="1" dirty="0">
                          <a:solidFill>
                            <a:srgbClr val="1A2A3A"/>
                          </a:solidFill>
                          <a:latin typeface="Calibri" pitchFamily="34" charset="0"/>
                          <a:ea typeface="Calibri" pitchFamily="34" charset="-122"/>
                          <a:cs typeface="Calibri" pitchFamily="34" charset="-120"/>
                        </a:rPr>
                        <a:t>X₁ × X₂ interaction</a:t>
                      </a:r>
                      <a:endParaRPr lang="en-US" sz="105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050" dirty="0">
                          <a:solidFill>
                            <a:srgbClr val="1A2A3A"/>
                          </a:solidFill>
                          <a:latin typeface="Calibri" pitchFamily="34" charset="0"/>
                          <a:ea typeface="Calibri" pitchFamily="34" charset="-122"/>
                          <a:cs typeface="Calibri" pitchFamily="34" charset="-120"/>
                        </a:rPr>
                        <a:t>43.0  (p &lt; 0.001)  ***</a:t>
                      </a:r>
                      <a:endParaRPr lang="en-US" sz="105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50" dirty="0">
                          <a:solidFill>
                            <a:srgbClr val="1A2A3A"/>
                          </a:solidFill>
                          <a:latin typeface="Calibri" pitchFamily="34" charset="0"/>
                          <a:ea typeface="Calibri" pitchFamily="34" charset="-122"/>
                          <a:cs typeface="Calibri" pitchFamily="34" charset="-120"/>
                        </a:rPr>
                        <a:t>0.05  (p = 0.994)</a:t>
                      </a:r>
                      <a:endParaRPr lang="en-US" sz="105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50" dirty="0">
                          <a:solidFill>
                            <a:srgbClr val="1A2A3A"/>
                          </a:solidFill>
                          <a:latin typeface="Calibri" pitchFamily="34" charset="0"/>
                          <a:ea typeface="Calibri" pitchFamily="34" charset="-122"/>
                          <a:cs typeface="Calibri" pitchFamily="34" charset="-120"/>
                        </a:rPr>
                        <a:t>1.4×10²⁴  ***</a:t>
                      </a:r>
                      <a:endParaRPr lang="en-US" sz="105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050" b="1" dirty="0">
                          <a:solidFill>
                            <a:srgbClr val="1A2A3A"/>
                          </a:solidFill>
                          <a:latin typeface="Calibri" pitchFamily="34" charset="0"/>
                          <a:ea typeface="Calibri" pitchFamily="34" charset="-122"/>
                          <a:cs typeface="Calibri" pitchFamily="34" charset="-120"/>
                        </a:rPr>
                        <a:t>R²</a:t>
                      </a:r>
                      <a:endParaRPr lang="en-US" sz="105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050" dirty="0">
                          <a:solidFill>
                            <a:srgbClr val="1A2A3A"/>
                          </a:solidFill>
                          <a:latin typeface="Calibri" pitchFamily="34" charset="0"/>
                          <a:ea typeface="Calibri" pitchFamily="34" charset="-122"/>
                          <a:cs typeface="Calibri" pitchFamily="34" charset="-120"/>
                        </a:rPr>
                        <a:t>0.981</a:t>
                      </a:r>
                      <a:endParaRPr lang="en-US" sz="105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50" dirty="0">
                          <a:solidFill>
                            <a:srgbClr val="1A2A3A"/>
                          </a:solidFill>
                          <a:latin typeface="Calibri" pitchFamily="34" charset="0"/>
                          <a:ea typeface="Calibri" pitchFamily="34" charset="-122"/>
                          <a:cs typeface="Calibri" pitchFamily="34" charset="-120"/>
                        </a:rPr>
                        <a:t>0.759</a:t>
                      </a:r>
                      <a:endParaRPr lang="en-US" sz="105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50" dirty="0">
                          <a:solidFill>
                            <a:srgbClr val="1A2A3A"/>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pic>
        <p:nvPicPr>
          <p:cNvPr id="4" name="Image 0" descr="preencoded.png"/>
          <p:cNvPicPr>
            <a:picLocks noChangeAspect="1"/>
          </p:cNvPicPr>
          <p:nvPr/>
        </p:nvPicPr>
        <p:blipFill>
          <a:blip r:embed="rId3"/>
          <a:stretch>
            <a:fillRect/>
          </a:stretch>
        </p:blipFill>
        <p:spPr>
          <a:xfrm>
            <a:off x="365760" y="2743200"/>
            <a:ext cx="8412480" cy="217627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20040" y="0"/>
            <a:ext cx="8503920" cy="658368"/>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3  |  ANOVA — Interpretation</a:t>
            </a:r>
            <a:endParaRPr lang="en-US" sz="2000" dirty="0"/>
          </a:p>
        </p:txBody>
      </p:sp>
      <p:sp>
        <p:nvSpPr>
          <p:cNvPr id="4" name="Shape 2"/>
          <p:cNvSpPr/>
          <p:nvPr/>
        </p:nvSpPr>
        <p:spPr>
          <a:xfrm>
            <a:off x="365760" y="804672"/>
            <a:ext cx="4069080" cy="1920240"/>
          </a:xfrm>
          <a:prstGeom prst="roundRect">
            <a:avLst>
              <a:gd name="adj" fmla="val 5714"/>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5" name="Shape 3"/>
          <p:cNvSpPr/>
          <p:nvPr/>
        </p:nvSpPr>
        <p:spPr>
          <a:xfrm>
            <a:off x="475488" y="914400"/>
            <a:ext cx="475488" cy="475488"/>
          </a:xfrm>
          <a:prstGeom prst="ellipse">
            <a:avLst/>
          </a:prstGeom>
          <a:solidFill>
            <a:srgbClr val="E6A817"/>
          </a:solidFill>
          <a:ln w="12700">
            <a:solidFill>
              <a:srgbClr val="E6A817"/>
            </a:solidFill>
            <a:prstDash val="solid"/>
          </a:ln>
        </p:spPr>
        <p:txBody>
          <a:bodyPr/>
          <a:lstStyle/>
          <a:p>
            <a:endParaRPr lang="en-US"/>
          </a:p>
        </p:txBody>
      </p:sp>
      <p:sp>
        <p:nvSpPr>
          <p:cNvPr id="6" name="Text 4"/>
          <p:cNvSpPr/>
          <p:nvPr/>
        </p:nvSpPr>
        <p:spPr>
          <a:xfrm>
            <a:off x="475488" y="914400"/>
            <a:ext cx="475488" cy="47548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X₁</a:t>
            </a:r>
            <a:endParaRPr lang="en-US" sz="1200" dirty="0"/>
          </a:p>
        </p:txBody>
      </p:sp>
      <p:sp>
        <p:nvSpPr>
          <p:cNvPr id="7" name="Text 5"/>
          <p:cNvSpPr/>
          <p:nvPr/>
        </p:nvSpPr>
        <p:spPr>
          <a:xfrm>
            <a:off x="1051560" y="896112"/>
            <a:ext cx="3291840" cy="475488"/>
          </a:xfrm>
          <a:prstGeom prst="rect">
            <a:avLst/>
          </a:prstGeom>
          <a:noFill/>
          <a:ln/>
        </p:spPr>
        <p:txBody>
          <a:bodyPr wrap="square" rtlCol="0" anchor="ctr"/>
          <a:lstStyle/>
          <a:p>
            <a:pPr marL="0" indent="0">
              <a:buNone/>
            </a:pPr>
            <a:r>
              <a:rPr lang="en-US" sz="1150" b="1" dirty="0">
                <a:solidFill>
                  <a:srgbClr val="0D1B2A"/>
                </a:solidFill>
                <a:latin typeface="Cambria" pitchFamily="34" charset="0"/>
                <a:ea typeface="Cambria" pitchFamily="34" charset="-122"/>
                <a:cs typeface="Cambria" pitchFamily="34" charset="-120"/>
              </a:rPr>
              <a:t>Carbon Black (X₁) is the dominant factor</a:t>
            </a:r>
            <a:endParaRPr lang="en-US" sz="1150" dirty="0"/>
          </a:p>
        </p:txBody>
      </p:sp>
      <p:sp>
        <p:nvSpPr>
          <p:cNvPr id="8" name="Text 6"/>
          <p:cNvSpPr/>
          <p:nvPr/>
        </p:nvSpPr>
        <p:spPr>
          <a:xfrm>
            <a:off x="502920" y="1426464"/>
            <a:ext cx="3840480" cy="1234440"/>
          </a:xfrm>
          <a:prstGeom prst="rect">
            <a:avLst/>
          </a:prstGeom>
          <a:noFill/>
          <a:ln/>
        </p:spPr>
        <p:txBody>
          <a:bodyPr wrap="square" rtlCol="0" anchor="ctr"/>
          <a:lstStyle/>
          <a:p>
            <a:pPr marL="0" indent="0">
              <a:buNone/>
            </a:pPr>
            <a:r>
              <a:rPr lang="en-US" sz="1000" dirty="0">
                <a:solidFill>
                  <a:srgbClr val="1A2A3A"/>
                </a:solidFill>
                <a:latin typeface="Calibri" pitchFamily="34" charset="0"/>
                <a:ea typeface="Calibri" pitchFamily="34" charset="-122"/>
                <a:cs typeface="Calibri" pitchFamily="34" charset="-120"/>
              </a:rPr>
              <a:t>Drives all three responses with the highest F-values. Increasing X₁ strongly reduces ablation rate (negative quadratic effect) and increases density, consistent with carbon-matrix densification.</a:t>
            </a:r>
            <a:endParaRPr lang="en-US" sz="1000" dirty="0"/>
          </a:p>
        </p:txBody>
      </p:sp>
      <p:sp>
        <p:nvSpPr>
          <p:cNvPr id="9" name="Shape 7"/>
          <p:cNvSpPr/>
          <p:nvPr/>
        </p:nvSpPr>
        <p:spPr>
          <a:xfrm>
            <a:off x="4709160" y="804672"/>
            <a:ext cx="4069080" cy="1920240"/>
          </a:xfrm>
          <a:prstGeom prst="roundRect">
            <a:avLst>
              <a:gd name="adj" fmla="val 5714"/>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10" name="Shape 8"/>
          <p:cNvSpPr/>
          <p:nvPr/>
        </p:nvSpPr>
        <p:spPr>
          <a:xfrm>
            <a:off x="4818888" y="914400"/>
            <a:ext cx="475488" cy="475488"/>
          </a:xfrm>
          <a:prstGeom prst="ellipse">
            <a:avLst/>
          </a:prstGeom>
          <a:solidFill>
            <a:srgbClr val="0E6B8C"/>
          </a:solidFill>
          <a:ln w="12700">
            <a:solidFill>
              <a:srgbClr val="0E6B8C"/>
            </a:solidFill>
            <a:prstDash val="solid"/>
          </a:ln>
        </p:spPr>
        <p:txBody>
          <a:bodyPr/>
          <a:lstStyle/>
          <a:p>
            <a:endParaRPr lang="en-US"/>
          </a:p>
        </p:txBody>
      </p:sp>
      <p:sp>
        <p:nvSpPr>
          <p:cNvPr id="11" name="Text 9"/>
          <p:cNvSpPr/>
          <p:nvPr/>
        </p:nvSpPr>
        <p:spPr>
          <a:xfrm>
            <a:off x="4818888" y="914400"/>
            <a:ext cx="475488" cy="47548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X₂</a:t>
            </a:r>
            <a:endParaRPr lang="en-US" sz="1200" dirty="0"/>
          </a:p>
        </p:txBody>
      </p:sp>
      <p:sp>
        <p:nvSpPr>
          <p:cNvPr id="12" name="Text 10"/>
          <p:cNvSpPr/>
          <p:nvPr/>
        </p:nvSpPr>
        <p:spPr>
          <a:xfrm>
            <a:off x="5394960" y="896112"/>
            <a:ext cx="3291840" cy="475488"/>
          </a:xfrm>
          <a:prstGeom prst="rect">
            <a:avLst/>
          </a:prstGeom>
          <a:noFill/>
          <a:ln/>
        </p:spPr>
        <p:txBody>
          <a:bodyPr wrap="square" rtlCol="0" anchor="ctr"/>
          <a:lstStyle/>
          <a:p>
            <a:pPr marL="0" indent="0">
              <a:buNone/>
            </a:pPr>
            <a:r>
              <a:rPr lang="en-US" sz="1150" b="1" dirty="0">
                <a:solidFill>
                  <a:srgbClr val="0D1B2A"/>
                </a:solidFill>
                <a:latin typeface="Cambria" pitchFamily="34" charset="0"/>
                <a:ea typeface="Cambria" pitchFamily="34" charset="-122"/>
                <a:cs typeface="Cambria" pitchFamily="34" charset="-120"/>
              </a:rPr>
              <a:t>Fe-rich Regolith (X₂) plays a secondary role</a:t>
            </a:r>
            <a:endParaRPr lang="en-US" sz="1150" dirty="0"/>
          </a:p>
        </p:txBody>
      </p:sp>
      <p:sp>
        <p:nvSpPr>
          <p:cNvPr id="13" name="Text 11"/>
          <p:cNvSpPr/>
          <p:nvPr/>
        </p:nvSpPr>
        <p:spPr>
          <a:xfrm>
            <a:off x="4846320" y="1426464"/>
            <a:ext cx="3840480" cy="1234440"/>
          </a:xfrm>
          <a:prstGeom prst="rect">
            <a:avLst/>
          </a:prstGeom>
          <a:noFill/>
          <a:ln/>
        </p:spPr>
        <p:txBody>
          <a:bodyPr wrap="square" rtlCol="0" anchor="ctr"/>
          <a:lstStyle/>
          <a:p>
            <a:pPr marL="0" indent="0">
              <a:buNone/>
            </a:pPr>
            <a:r>
              <a:rPr lang="en-US" sz="1000" dirty="0">
                <a:solidFill>
                  <a:srgbClr val="1A2A3A"/>
                </a:solidFill>
                <a:latin typeface="Calibri" pitchFamily="34" charset="0"/>
                <a:ea typeface="Calibri" pitchFamily="34" charset="-122"/>
                <a:cs typeface="Calibri" pitchFamily="34" charset="-120"/>
              </a:rPr>
              <a:t>Significant for all outputs but with lower F-values for Y₁. Adding regolith increases density linearly while reducing backside temperature at higher X₁, suggesting a heat-sink effect.</a:t>
            </a:r>
            <a:endParaRPr lang="en-US" sz="1000" dirty="0"/>
          </a:p>
        </p:txBody>
      </p:sp>
      <p:sp>
        <p:nvSpPr>
          <p:cNvPr id="14" name="Shape 12"/>
          <p:cNvSpPr/>
          <p:nvPr/>
        </p:nvSpPr>
        <p:spPr>
          <a:xfrm>
            <a:off x="365760" y="2907792"/>
            <a:ext cx="4069080" cy="1920240"/>
          </a:xfrm>
          <a:prstGeom prst="roundRect">
            <a:avLst>
              <a:gd name="adj" fmla="val 5714"/>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15" name="Shape 13"/>
          <p:cNvSpPr/>
          <p:nvPr/>
        </p:nvSpPr>
        <p:spPr>
          <a:xfrm>
            <a:off x="475488" y="3017520"/>
            <a:ext cx="475488" cy="475488"/>
          </a:xfrm>
          <a:prstGeom prst="ellipse">
            <a:avLst/>
          </a:prstGeom>
          <a:solidFill>
            <a:srgbClr val="C0392B"/>
          </a:solidFill>
          <a:ln w="12700">
            <a:solidFill>
              <a:srgbClr val="C0392B"/>
            </a:solidFill>
            <a:prstDash val="solid"/>
          </a:ln>
        </p:spPr>
        <p:txBody>
          <a:bodyPr/>
          <a:lstStyle/>
          <a:p>
            <a:endParaRPr lang="en-US"/>
          </a:p>
        </p:txBody>
      </p:sp>
      <p:sp>
        <p:nvSpPr>
          <p:cNvPr id="16" name="Text 14"/>
          <p:cNvSpPr/>
          <p:nvPr/>
        </p:nvSpPr>
        <p:spPr>
          <a:xfrm>
            <a:off x="475488" y="3017520"/>
            <a:ext cx="475488" cy="47548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7" name="Text 15"/>
          <p:cNvSpPr/>
          <p:nvPr/>
        </p:nvSpPr>
        <p:spPr>
          <a:xfrm>
            <a:off x="1051560" y="2999232"/>
            <a:ext cx="3291840" cy="475488"/>
          </a:xfrm>
          <a:prstGeom prst="rect">
            <a:avLst/>
          </a:prstGeom>
          <a:noFill/>
          <a:ln/>
        </p:spPr>
        <p:txBody>
          <a:bodyPr wrap="square" rtlCol="0" anchor="ctr"/>
          <a:lstStyle/>
          <a:p>
            <a:pPr marL="0" indent="0">
              <a:buNone/>
            </a:pPr>
            <a:r>
              <a:rPr lang="en-US" sz="1150" b="1" dirty="0">
                <a:solidFill>
                  <a:srgbClr val="0D1B2A"/>
                </a:solidFill>
                <a:latin typeface="Cambria" pitchFamily="34" charset="0"/>
                <a:ea typeface="Cambria" pitchFamily="34" charset="-122"/>
                <a:cs typeface="Cambria" pitchFamily="34" charset="-120"/>
              </a:rPr>
              <a:t>X₁ × X₂ Interaction is strong for Y₁, absent for Y₂</a:t>
            </a:r>
            <a:endParaRPr lang="en-US" sz="1150" dirty="0"/>
          </a:p>
        </p:txBody>
      </p:sp>
      <p:sp>
        <p:nvSpPr>
          <p:cNvPr id="18" name="Text 16"/>
          <p:cNvSpPr/>
          <p:nvPr/>
        </p:nvSpPr>
        <p:spPr>
          <a:xfrm>
            <a:off x="502920" y="3529584"/>
            <a:ext cx="3840480" cy="1234440"/>
          </a:xfrm>
          <a:prstGeom prst="rect">
            <a:avLst/>
          </a:prstGeom>
          <a:noFill/>
          <a:ln/>
        </p:spPr>
        <p:txBody>
          <a:bodyPr wrap="square" rtlCol="0" anchor="ctr"/>
          <a:lstStyle/>
          <a:p>
            <a:pPr marL="0" indent="0">
              <a:buNone/>
            </a:pPr>
            <a:r>
              <a:rPr lang="en-US" sz="1000" dirty="0">
                <a:solidFill>
                  <a:srgbClr val="1A2A3A"/>
                </a:solidFill>
                <a:latin typeface="Calibri" pitchFamily="34" charset="0"/>
                <a:ea typeface="Calibri" pitchFamily="34" charset="-122"/>
                <a:cs typeface="Calibri" pitchFamily="34" charset="-120"/>
              </a:rPr>
              <a:t>The ablation response is non-additive: the effect of regolith depends on carbon black level (p &lt; 0.001). For backside temperature the interaction is not significant (p ≈ 0.99) on the augmented dataset.</a:t>
            </a:r>
            <a:endParaRPr lang="en-US" sz="1000" dirty="0"/>
          </a:p>
        </p:txBody>
      </p:sp>
      <p:sp>
        <p:nvSpPr>
          <p:cNvPr id="19" name="Shape 17"/>
          <p:cNvSpPr/>
          <p:nvPr/>
        </p:nvSpPr>
        <p:spPr>
          <a:xfrm>
            <a:off x="4709160" y="2907792"/>
            <a:ext cx="4069080" cy="1920240"/>
          </a:xfrm>
          <a:prstGeom prst="roundRect">
            <a:avLst>
              <a:gd name="adj" fmla="val 5714"/>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20" name="Shape 18"/>
          <p:cNvSpPr/>
          <p:nvPr/>
        </p:nvSpPr>
        <p:spPr>
          <a:xfrm>
            <a:off x="4818888" y="3017520"/>
            <a:ext cx="475488" cy="475488"/>
          </a:xfrm>
          <a:prstGeom prst="ellipse">
            <a:avLst/>
          </a:prstGeom>
          <a:solidFill>
            <a:srgbClr val="1A7A4A"/>
          </a:solidFill>
          <a:ln w="12700">
            <a:solidFill>
              <a:srgbClr val="1A7A4A"/>
            </a:solidFill>
            <a:prstDash val="solid"/>
          </a:ln>
        </p:spPr>
        <p:txBody>
          <a:bodyPr/>
          <a:lstStyle/>
          <a:p>
            <a:endParaRPr lang="en-US"/>
          </a:p>
        </p:txBody>
      </p:sp>
      <p:sp>
        <p:nvSpPr>
          <p:cNvPr id="21" name="Text 19"/>
          <p:cNvSpPr/>
          <p:nvPr/>
        </p:nvSpPr>
        <p:spPr>
          <a:xfrm>
            <a:off x="4818888" y="3017520"/>
            <a:ext cx="475488" cy="47548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R²</a:t>
            </a:r>
            <a:endParaRPr lang="en-US" sz="1200" dirty="0"/>
          </a:p>
        </p:txBody>
      </p:sp>
      <p:sp>
        <p:nvSpPr>
          <p:cNvPr id="22" name="Text 20"/>
          <p:cNvSpPr/>
          <p:nvPr/>
        </p:nvSpPr>
        <p:spPr>
          <a:xfrm>
            <a:off x="5394960" y="2999232"/>
            <a:ext cx="3291840" cy="475488"/>
          </a:xfrm>
          <a:prstGeom prst="rect">
            <a:avLst/>
          </a:prstGeom>
          <a:noFill/>
          <a:ln/>
        </p:spPr>
        <p:txBody>
          <a:bodyPr wrap="square" rtlCol="0" anchor="ctr"/>
          <a:lstStyle/>
          <a:p>
            <a:pPr marL="0" indent="0">
              <a:buNone/>
            </a:pPr>
            <a:r>
              <a:rPr lang="en-US" sz="1150" b="1" dirty="0">
                <a:solidFill>
                  <a:srgbClr val="0D1B2A"/>
                </a:solidFill>
                <a:latin typeface="Cambria" pitchFamily="34" charset="0"/>
                <a:ea typeface="Cambria" pitchFamily="34" charset="-122"/>
                <a:cs typeface="Cambria" pitchFamily="34" charset="-120"/>
              </a:rPr>
              <a:t>Goodness of Fit varies by response</a:t>
            </a:r>
            <a:endParaRPr lang="en-US" sz="1150" dirty="0"/>
          </a:p>
        </p:txBody>
      </p:sp>
      <p:sp>
        <p:nvSpPr>
          <p:cNvPr id="23" name="Text 21"/>
          <p:cNvSpPr/>
          <p:nvPr/>
        </p:nvSpPr>
        <p:spPr>
          <a:xfrm>
            <a:off x="4846320" y="3529584"/>
            <a:ext cx="3840480" cy="1234440"/>
          </a:xfrm>
          <a:prstGeom prst="rect">
            <a:avLst/>
          </a:prstGeom>
          <a:noFill/>
          <a:ln/>
        </p:spPr>
        <p:txBody>
          <a:bodyPr wrap="square" rtlCol="0" anchor="ctr"/>
          <a:lstStyle/>
          <a:p>
            <a:pPr marL="0" indent="0">
              <a:buNone/>
            </a:pPr>
            <a:r>
              <a:rPr lang="en-US" sz="1000" dirty="0">
                <a:solidFill>
                  <a:srgbClr val="1A2A3A"/>
                </a:solidFill>
                <a:latin typeface="Calibri" pitchFamily="34" charset="0"/>
                <a:ea typeface="Calibri" pitchFamily="34" charset="-122"/>
                <a:cs typeface="Calibri" pitchFamily="34" charset="-120"/>
              </a:rPr>
              <a:t>Y₃ (density): R² = 1.00 — fully controlled by composition.</a:t>
            </a:r>
            <a:endParaRPr lang="en-US" sz="1000" dirty="0"/>
          </a:p>
          <a:p>
            <a:pPr marL="0" indent="0">
              <a:buNone/>
            </a:pPr>
            <a:r>
              <a:rPr lang="en-US" sz="1000" dirty="0">
                <a:solidFill>
                  <a:srgbClr val="1A2A3A"/>
                </a:solidFill>
                <a:latin typeface="Calibri" pitchFamily="34" charset="0"/>
                <a:ea typeface="Calibri" pitchFamily="34" charset="-122"/>
                <a:cs typeface="Calibri" pitchFamily="34" charset="-120"/>
              </a:rPr>
              <a:t>Y₁ (ablation): R² = 0.98 — excellent.</a:t>
            </a:r>
            <a:endParaRPr lang="en-US" sz="1000" dirty="0"/>
          </a:p>
          <a:p>
            <a:pPr marL="0" indent="0">
              <a:buNone/>
            </a:pPr>
            <a:r>
              <a:rPr lang="en-US" sz="1000" dirty="0">
                <a:solidFill>
                  <a:srgbClr val="1A2A3A"/>
                </a:solidFill>
                <a:latin typeface="Calibri" pitchFamily="34" charset="0"/>
                <a:ea typeface="Calibri" pitchFamily="34" charset="-122"/>
                <a:cs typeface="Calibri" pitchFamily="34" charset="-120"/>
              </a:rPr>
              <a:t>Y₂ (temperature): R² = 0.76 — more experimental variability.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20040" y="0"/>
            <a:ext cx="8503920" cy="658368"/>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4  |  Quadratic Linear Regression Models</a:t>
            </a:r>
            <a:endParaRPr lang="en-US" sz="2000" dirty="0"/>
          </a:p>
        </p:txBody>
      </p:sp>
      <p:sp>
        <p:nvSpPr>
          <p:cNvPr id="4" name="Text 2"/>
          <p:cNvSpPr/>
          <p:nvPr/>
        </p:nvSpPr>
        <p:spPr>
          <a:xfrm>
            <a:off x="365760" y="731520"/>
            <a:ext cx="8412480" cy="411480"/>
          </a:xfrm>
          <a:prstGeom prst="rect">
            <a:avLst/>
          </a:prstGeom>
          <a:noFill/>
          <a:ln/>
        </p:spPr>
        <p:txBody>
          <a:bodyPr wrap="square" rtlCol="0" anchor="ctr"/>
          <a:lstStyle/>
          <a:p>
            <a:pPr marL="0" indent="0">
              <a:buNone/>
            </a:pPr>
            <a:r>
              <a:rPr lang="en-US" sz="1300" b="1" i="1" dirty="0">
                <a:solidFill>
                  <a:srgbClr val="0E6B8C"/>
                </a:solidFill>
                <a:latin typeface="Cambria" pitchFamily="34" charset="0"/>
                <a:ea typeface="Cambria" pitchFamily="34" charset="-122"/>
                <a:cs typeface="Cambria" pitchFamily="34" charset="-120"/>
              </a:rPr>
              <a:t>Model:  Ŷₖ = β₀ + β₁X₁ + β₂X₂ + β₃X₁² + β₄X₂² + β₅X₁X₂</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170432"/>
          <a:ext cx="8412480" cy="2715768"/>
        </p:xfrm>
        <a:graphic>
          <a:graphicData uri="http://schemas.openxmlformats.org/drawingml/2006/table">
            <a:tbl>
              <a:tblPr/>
              <a:tblGrid>
                <a:gridCol w="21031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30175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Term</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β₁  Y₁ Ablation</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β₂  Y₂ Temp</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β₃  Y₃ Density</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301752">
                <a:tc>
                  <a:txBody>
                    <a:bodyPr/>
                    <a:lstStyle/>
                    <a:p>
                      <a:pPr marL="0" indent="0">
                        <a:buNone/>
                      </a:pPr>
                      <a:r>
                        <a:rPr lang="en-US" sz="1000" b="1" dirty="0">
                          <a:solidFill>
                            <a:srgbClr val="1A2A3A"/>
                          </a:solidFill>
                          <a:latin typeface="Calibri" pitchFamily="34" charset="0"/>
                          <a:ea typeface="Calibri" pitchFamily="34" charset="-122"/>
                          <a:cs typeface="Calibri" pitchFamily="34" charset="-120"/>
                        </a:rPr>
                        <a:t>Intercept (β₀)</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000" dirty="0">
                          <a:solidFill>
                            <a:srgbClr val="1A2A3A"/>
                          </a:solidFill>
                          <a:latin typeface="Calibri" pitchFamily="34" charset="0"/>
                          <a:ea typeface="Calibri" pitchFamily="34" charset="-122"/>
                          <a:cs typeface="Calibri" pitchFamily="34" charset="-120"/>
                        </a:rPr>
                        <a:t>29.855 ***</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00" dirty="0">
                          <a:solidFill>
                            <a:srgbClr val="1A2A3A"/>
                          </a:solidFill>
                          <a:latin typeface="Calibri" pitchFamily="34" charset="0"/>
                          <a:ea typeface="Calibri" pitchFamily="34" charset="-122"/>
                          <a:cs typeface="Calibri" pitchFamily="34" charset="-120"/>
                        </a:rPr>
                        <a:t>224.267 ***</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00" dirty="0">
                          <a:solidFill>
                            <a:srgbClr val="1A2A3A"/>
                          </a:solidFill>
                          <a:latin typeface="Calibri" pitchFamily="34" charset="0"/>
                          <a:ea typeface="Calibri" pitchFamily="34" charset="-122"/>
                          <a:cs typeface="Calibri" pitchFamily="34" charset="-120"/>
                        </a:rPr>
                        <a:t>1.10478 ***</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buNone/>
                      </a:pPr>
                      <a:r>
                        <a:rPr lang="en-US" sz="1000" b="1" dirty="0">
                          <a:solidFill>
                            <a:srgbClr val="1A2A3A"/>
                          </a:solidFill>
                          <a:latin typeface="Calibri" pitchFamily="34" charset="0"/>
                          <a:ea typeface="Calibri" pitchFamily="34" charset="-122"/>
                          <a:cs typeface="Calibri" pitchFamily="34" charset="-120"/>
                        </a:rPr>
                        <a:t>X₁  (β₁)</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000" dirty="0">
                          <a:solidFill>
                            <a:srgbClr val="C0392B"/>
                          </a:solidFill>
                          <a:latin typeface="Calibri" pitchFamily="34" charset="0"/>
                          <a:ea typeface="Calibri" pitchFamily="34" charset="-122"/>
                          <a:cs typeface="Calibri" pitchFamily="34" charset="-120"/>
                        </a:rPr>
                        <a:t>–2.188 ***</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00" dirty="0">
                          <a:solidFill>
                            <a:srgbClr val="1A7A4A"/>
                          </a:solidFill>
                          <a:latin typeface="Calibri" pitchFamily="34" charset="0"/>
                          <a:ea typeface="Calibri" pitchFamily="34" charset="-122"/>
                          <a:cs typeface="Calibri" pitchFamily="34" charset="-120"/>
                        </a:rPr>
                        <a:t>+2.120</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00" dirty="0">
                          <a:solidFill>
                            <a:srgbClr val="1A7A4A"/>
                          </a:solidFill>
                          <a:latin typeface="Calibri" pitchFamily="34" charset="0"/>
                          <a:ea typeface="Calibri" pitchFamily="34" charset="-122"/>
                          <a:cs typeface="Calibri" pitchFamily="34" charset="-120"/>
                        </a:rPr>
                        <a:t>+0.00418 ***</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1752">
                <a:tc>
                  <a:txBody>
                    <a:bodyPr/>
                    <a:lstStyle/>
                    <a:p>
                      <a:pPr marL="0" indent="0">
                        <a:buNone/>
                      </a:pPr>
                      <a:r>
                        <a:rPr lang="en-US" sz="1000" b="1" dirty="0">
                          <a:solidFill>
                            <a:srgbClr val="1A2A3A"/>
                          </a:solidFill>
                          <a:latin typeface="Calibri" pitchFamily="34" charset="0"/>
                          <a:ea typeface="Calibri" pitchFamily="34" charset="-122"/>
                          <a:cs typeface="Calibri" pitchFamily="34" charset="-120"/>
                        </a:rPr>
                        <a:t>X₂  (β₂)</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000" dirty="0">
                          <a:solidFill>
                            <a:srgbClr val="C0392B"/>
                          </a:solidFill>
                          <a:latin typeface="Calibri" pitchFamily="34" charset="0"/>
                          <a:ea typeface="Calibri" pitchFamily="34" charset="-122"/>
                          <a:cs typeface="Calibri" pitchFamily="34" charset="-120"/>
                        </a:rPr>
                        <a:t>–3.799 ***</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00" dirty="0">
                          <a:solidFill>
                            <a:srgbClr val="C0392B"/>
                          </a:solidFill>
                          <a:latin typeface="Calibri" pitchFamily="34" charset="0"/>
                          <a:ea typeface="Calibri" pitchFamily="34" charset="-122"/>
                          <a:cs typeface="Calibri" pitchFamily="34" charset="-120"/>
                        </a:rPr>
                        <a:t>–10.757</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00" dirty="0">
                          <a:solidFill>
                            <a:srgbClr val="1A7A4A"/>
                          </a:solidFill>
                          <a:latin typeface="Calibri" pitchFamily="34" charset="0"/>
                          <a:ea typeface="Calibri" pitchFamily="34" charset="-122"/>
                          <a:cs typeface="Calibri" pitchFamily="34" charset="-120"/>
                        </a:rPr>
                        <a:t>+0.00805 ***</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buNone/>
                      </a:pPr>
                      <a:r>
                        <a:rPr lang="en-US" sz="1000" b="1" dirty="0">
                          <a:solidFill>
                            <a:srgbClr val="1A2A3A"/>
                          </a:solidFill>
                          <a:latin typeface="Calibri" pitchFamily="34" charset="0"/>
                          <a:ea typeface="Calibri" pitchFamily="34" charset="-122"/>
                          <a:cs typeface="Calibri" pitchFamily="34" charset="-120"/>
                        </a:rPr>
                        <a:t>X₁²  (β₃)</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000" dirty="0">
                          <a:solidFill>
                            <a:srgbClr val="1A7A4A"/>
                          </a:solidFill>
                          <a:latin typeface="Calibri" pitchFamily="34" charset="0"/>
                          <a:ea typeface="Calibri" pitchFamily="34" charset="-122"/>
                          <a:cs typeface="Calibri" pitchFamily="34" charset="-120"/>
                        </a:rPr>
                        <a:t>+0.052 ***</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00" dirty="0">
                          <a:solidFill>
                            <a:srgbClr val="C0392B"/>
                          </a:solidFill>
                          <a:latin typeface="Calibri" pitchFamily="34" charset="0"/>
                          <a:ea typeface="Calibri" pitchFamily="34" charset="-122"/>
                          <a:cs typeface="Calibri" pitchFamily="34" charset="-120"/>
                        </a:rPr>
                        <a:t>–0.177 **</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00" dirty="0">
                          <a:solidFill>
                            <a:srgbClr val="1A7A4A"/>
                          </a:solidFill>
                          <a:latin typeface="Calibri" pitchFamily="34" charset="0"/>
                          <a:ea typeface="Calibri" pitchFamily="34" charset="-122"/>
                          <a:cs typeface="Calibri" pitchFamily="34" charset="-120"/>
                        </a:rPr>
                        <a:t>+0.000022 ***</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1752">
                <a:tc>
                  <a:txBody>
                    <a:bodyPr/>
                    <a:lstStyle/>
                    <a:p>
                      <a:pPr marL="0" indent="0">
                        <a:buNone/>
                      </a:pPr>
                      <a:r>
                        <a:rPr lang="en-US" sz="1000" b="1" dirty="0">
                          <a:solidFill>
                            <a:srgbClr val="1A2A3A"/>
                          </a:solidFill>
                          <a:latin typeface="Calibri" pitchFamily="34" charset="0"/>
                          <a:ea typeface="Calibri" pitchFamily="34" charset="-122"/>
                          <a:cs typeface="Calibri" pitchFamily="34" charset="-120"/>
                        </a:rPr>
                        <a:t>X₂²  (β₄)</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000" dirty="0">
                          <a:solidFill>
                            <a:srgbClr val="1A7A4A"/>
                          </a:solidFill>
                          <a:latin typeface="Calibri" pitchFamily="34" charset="0"/>
                          <a:ea typeface="Calibri" pitchFamily="34" charset="-122"/>
                          <a:cs typeface="Calibri" pitchFamily="34" charset="-120"/>
                        </a:rPr>
                        <a:t>+0.231 *</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00" dirty="0">
                          <a:solidFill>
                            <a:srgbClr val="1A7A4A"/>
                          </a:solidFill>
                          <a:latin typeface="Calibri" pitchFamily="34" charset="0"/>
                          <a:ea typeface="Calibri" pitchFamily="34" charset="-122"/>
                          <a:cs typeface="Calibri" pitchFamily="34" charset="-120"/>
                        </a:rPr>
                        <a:t>+1.181</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00" dirty="0">
                          <a:solidFill>
                            <a:srgbClr val="1A7A4A"/>
                          </a:solidFill>
                          <a:latin typeface="Calibri" pitchFamily="34" charset="0"/>
                          <a:ea typeface="Calibri" pitchFamily="34" charset="-122"/>
                          <a:cs typeface="Calibri" pitchFamily="34" charset="-120"/>
                        </a:rPr>
                        <a:t>+0.000161 ***</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1752">
                <a:tc>
                  <a:txBody>
                    <a:bodyPr/>
                    <a:lstStyle/>
                    <a:p>
                      <a:pPr marL="0" indent="0">
                        <a:buNone/>
                      </a:pPr>
                      <a:r>
                        <a:rPr lang="en-US" sz="1000" b="1" dirty="0">
                          <a:solidFill>
                            <a:srgbClr val="1A2A3A"/>
                          </a:solidFill>
                          <a:latin typeface="Calibri" pitchFamily="34" charset="0"/>
                          <a:ea typeface="Calibri" pitchFamily="34" charset="-122"/>
                          <a:cs typeface="Calibri" pitchFamily="34" charset="-120"/>
                        </a:rPr>
                        <a:t>X₁·X₂  (β₅)</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000" dirty="0">
                          <a:solidFill>
                            <a:srgbClr val="1A7A4A"/>
                          </a:solidFill>
                          <a:latin typeface="Calibri" pitchFamily="34" charset="0"/>
                          <a:ea typeface="Calibri" pitchFamily="34" charset="-122"/>
                          <a:cs typeface="Calibri" pitchFamily="34" charset="-120"/>
                        </a:rPr>
                        <a:t>+0.134 ***</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00" dirty="0">
                          <a:solidFill>
                            <a:srgbClr val="C0392B"/>
                          </a:solidFill>
                          <a:latin typeface="Calibri" pitchFamily="34" charset="0"/>
                          <a:ea typeface="Calibri" pitchFamily="34" charset="-122"/>
                          <a:cs typeface="Calibri" pitchFamily="34" charset="-120"/>
                        </a:rPr>
                        <a:t>–0.044</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00" dirty="0">
                          <a:solidFill>
                            <a:srgbClr val="1A7A4A"/>
                          </a:solidFill>
                          <a:latin typeface="Calibri" pitchFamily="34" charset="0"/>
                          <a:ea typeface="Calibri" pitchFamily="34" charset="-122"/>
                          <a:cs typeface="Calibri" pitchFamily="34" charset="-120"/>
                        </a:rPr>
                        <a:t>+0.000098 ***</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1752">
                <a:tc>
                  <a:txBody>
                    <a:bodyPr/>
                    <a:lstStyle/>
                    <a:p>
                      <a:pPr marL="0" indent="0">
                        <a:buNone/>
                      </a:pPr>
                      <a:r>
                        <a:rPr lang="en-US" sz="1000" b="1" dirty="0">
                          <a:solidFill>
                            <a:srgbClr val="1A2A3A"/>
                          </a:solidFill>
                          <a:latin typeface="Calibri" pitchFamily="34" charset="0"/>
                          <a:ea typeface="Calibri" pitchFamily="34" charset="-122"/>
                          <a:cs typeface="Calibri" pitchFamily="34" charset="-120"/>
                        </a:rPr>
                        <a:t>R²</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000" dirty="0">
                          <a:solidFill>
                            <a:srgbClr val="1A2A3A"/>
                          </a:solidFill>
                          <a:latin typeface="Calibri" pitchFamily="34" charset="0"/>
                          <a:ea typeface="Calibri" pitchFamily="34" charset="-122"/>
                          <a:cs typeface="Calibri" pitchFamily="34" charset="-120"/>
                        </a:rPr>
                        <a:t>0.925</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00" dirty="0">
                          <a:solidFill>
                            <a:srgbClr val="1A2A3A"/>
                          </a:solidFill>
                          <a:latin typeface="Calibri" pitchFamily="34" charset="0"/>
                          <a:ea typeface="Calibri" pitchFamily="34" charset="-122"/>
                          <a:cs typeface="Calibri" pitchFamily="34" charset="-120"/>
                        </a:rPr>
                        <a:t>0.749</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00" dirty="0">
                          <a:solidFill>
                            <a:srgbClr val="1A2A3A"/>
                          </a:solidFill>
                          <a:latin typeface="Calibri" pitchFamily="34" charset="0"/>
                          <a:ea typeface="Calibri" pitchFamily="34" charset="-122"/>
                          <a:cs typeface="Calibri" pitchFamily="34" charset="-120"/>
                        </a:rPr>
                        <a:t>0.9999</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1752">
                <a:tc>
                  <a:txBody>
                    <a:bodyPr/>
                    <a:lstStyle/>
                    <a:p>
                      <a:pPr marL="0" indent="0">
                        <a:buNone/>
                      </a:pPr>
                      <a:r>
                        <a:rPr lang="en-US" sz="1000" b="1" dirty="0">
                          <a:solidFill>
                            <a:srgbClr val="1A2A3A"/>
                          </a:solidFill>
                          <a:latin typeface="Calibri" pitchFamily="34" charset="0"/>
                          <a:ea typeface="Calibri" pitchFamily="34" charset="-122"/>
                          <a:cs typeface="Calibri" pitchFamily="34" charset="-120"/>
                        </a:rPr>
                        <a:t>RMSE</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000" dirty="0">
                          <a:solidFill>
                            <a:srgbClr val="1A2A3A"/>
                          </a:solidFill>
                          <a:latin typeface="Calibri" pitchFamily="34" charset="0"/>
                          <a:ea typeface="Calibri" pitchFamily="34" charset="-122"/>
                          <a:cs typeface="Calibri" pitchFamily="34" charset="-120"/>
                        </a:rPr>
                        <a:t>1.05 µm/s</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00" dirty="0">
                          <a:solidFill>
                            <a:srgbClr val="1A2A3A"/>
                          </a:solidFill>
                          <a:latin typeface="Calibri" pitchFamily="34" charset="0"/>
                          <a:ea typeface="Calibri" pitchFamily="34" charset="-122"/>
                          <a:cs typeface="Calibri" pitchFamily="34" charset="-120"/>
                        </a:rPr>
                        <a:t>9.03 °C</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00" dirty="0">
                          <a:solidFill>
                            <a:srgbClr val="1A2A3A"/>
                          </a:solidFill>
                          <a:latin typeface="Calibri" pitchFamily="34" charset="0"/>
                          <a:ea typeface="Calibri" pitchFamily="34" charset="-122"/>
                          <a:cs typeface="Calibri" pitchFamily="34" charset="-120"/>
                        </a:rPr>
                        <a:t>0.0002 g/cm³</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Text 3"/>
          <p:cNvSpPr/>
          <p:nvPr/>
        </p:nvSpPr>
        <p:spPr>
          <a:xfrm>
            <a:off x="365760" y="3977640"/>
            <a:ext cx="8412480" cy="274320"/>
          </a:xfrm>
          <a:prstGeom prst="rect">
            <a:avLst/>
          </a:prstGeom>
          <a:noFill/>
          <a:ln/>
        </p:spPr>
        <p:txBody>
          <a:bodyPr wrap="square" rtlCol="0" anchor="ctr"/>
          <a:lstStyle/>
          <a:p>
            <a:pPr marL="0" indent="0">
              <a:buNone/>
            </a:pPr>
            <a:r>
              <a:rPr lang="en-US" sz="900" i="1" dirty="0">
                <a:solidFill>
                  <a:srgbClr val="546778"/>
                </a:solidFill>
                <a:latin typeface="Calibri" pitchFamily="34" charset="0"/>
                <a:ea typeface="Calibri" pitchFamily="34" charset="-122"/>
                <a:cs typeface="Calibri" pitchFamily="34" charset="-120"/>
              </a:rPr>
              <a:t>*p&lt;0.05  **p&lt;0.01  ***p&lt;0.001  |  Positive coefficients in green, negative in red.</a:t>
            </a:r>
            <a:endParaRPr lang="en-US" sz="900" dirty="0"/>
          </a:p>
        </p:txBody>
      </p:sp>
      <p:pic>
        <p:nvPicPr>
          <p:cNvPr id="5" name="Image 0" descr="preencoded.png"/>
          <p:cNvPicPr>
            <a:picLocks noChangeAspect="1"/>
          </p:cNvPicPr>
          <p:nvPr/>
        </p:nvPicPr>
        <p:blipFill>
          <a:blip r:embed="rId3"/>
          <a:stretch>
            <a:fillRect/>
          </a:stretch>
        </p:blipFill>
        <p:spPr>
          <a:xfrm>
            <a:off x="320040" y="4251960"/>
            <a:ext cx="8595360" cy="2232152"/>
          </a:xfrm>
          <a:prstGeom prst="rect">
            <a:avLst/>
          </a:prstGeom>
        </p:spPr>
      </p:pic>
      <p:sp>
        <p:nvSpPr>
          <p:cNvPr id="8" name="Text 3">
            <a:extLst>
              <a:ext uri="{FF2B5EF4-FFF2-40B4-BE49-F238E27FC236}">
                <a16:creationId xmlns:a16="http://schemas.microsoft.com/office/drawing/2014/main" id="{3EA39F78-C1A1-764E-C3F6-3A156E737981}"/>
              </a:ext>
            </a:extLst>
          </p:cNvPr>
          <p:cNvSpPr/>
          <p:nvPr/>
        </p:nvSpPr>
        <p:spPr>
          <a:xfrm>
            <a:off x="4572000" y="804672"/>
            <a:ext cx="4206240" cy="274320"/>
          </a:xfrm>
          <a:prstGeom prst="rect">
            <a:avLst/>
          </a:prstGeom>
          <a:noFill/>
          <a:ln/>
        </p:spPr>
        <p:txBody>
          <a:bodyPr wrap="square" rtlCol="0" anchor="ctr"/>
          <a:lstStyle/>
          <a:p>
            <a:pPr marL="0" indent="0">
              <a:buNone/>
            </a:pPr>
            <a:r>
              <a:rPr lang="en-US" sz="1100" dirty="0">
                <a:solidFill>
                  <a:srgbClr val="546778"/>
                </a:solidFill>
                <a:latin typeface="Calibri" pitchFamily="34" charset="0"/>
                <a:ea typeface="Calibri" pitchFamily="34" charset="-122"/>
                <a:cs typeface="Calibri" pitchFamily="34" charset="-120"/>
              </a:rPr>
              <a:t>Table shows the coefficients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20040" y="0"/>
            <a:ext cx="8503920" cy="658368"/>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4  |  Linear Regression — Response Surfaces</a:t>
            </a:r>
            <a:endParaRPr lang="en-US" sz="2000" dirty="0"/>
          </a:p>
        </p:txBody>
      </p:sp>
      <p:pic>
        <p:nvPicPr>
          <p:cNvPr id="4" name="Image 0" descr="preencoded.png"/>
          <p:cNvPicPr>
            <a:picLocks noChangeAspect="1"/>
          </p:cNvPicPr>
          <p:nvPr/>
        </p:nvPicPr>
        <p:blipFill>
          <a:blip r:embed="rId3"/>
          <a:stretch>
            <a:fillRect/>
          </a:stretch>
        </p:blipFill>
        <p:spPr>
          <a:xfrm>
            <a:off x="274320" y="749808"/>
            <a:ext cx="8595360" cy="1828800"/>
          </a:xfrm>
          <a:prstGeom prst="rect">
            <a:avLst/>
          </a:prstGeom>
        </p:spPr>
      </p:pic>
      <p:sp>
        <p:nvSpPr>
          <p:cNvPr id="5" name="Shape 2"/>
          <p:cNvSpPr/>
          <p:nvPr/>
        </p:nvSpPr>
        <p:spPr>
          <a:xfrm>
            <a:off x="365760" y="2697480"/>
            <a:ext cx="2651760" cy="2286000"/>
          </a:xfrm>
          <a:prstGeom prst="roundRect">
            <a:avLst>
              <a:gd name="adj" fmla="val 4000"/>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6" name="Text 3"/>
          <p:cNvSpPr/>
          <p:nvPr/>
        </p:nvSpPr>
        <p:spPr>
          <a:xfrm>
            <a:off x="475488" y="2761488"/>
            <a:ext cx="2450592" cy="438912"/>
          </a:xfrm>
          <a:prstGeom prst="rect">
            <a:avLst/>
          </a:prstGeom>
          <a:noFill/>
          <a:ln/>
        </p:spPr>
        <p:txBody>
          <a:bodyPr wrap="square" rtlCol="0" anchor="ctr"/>
          <a:lstStyle/>
          <a:p>
            <a:pPr marL="0" indent="0">
              <a:buNone/>
            </a:pPr>
            <a:r>
              <a:rPr lang="en-US" sz="1150" b="1" dirty="0">
                <a:solidFill>
                  <a:srgbClr val="0D1B2A"/>
                </a:solidFill>
                <a:latin typeface="Cambria" pitchFamily="34" charset="0"/>
                <a:ea typeface="Cambria" pitchFamily="34" charset="-122"/>
                <a:cs typeface="Cambria" pitchFamily="34" charset="-120"/>
              </a:rPr>
              <a:t>Y₁ — Ablation Rate</a:t>
            </a:r>
            <a:endParaRPr lang="en-US" sz="1150" dirty="0"/>
          </a:p>
        </p:txBody>
      </p:sp>
      <p:sp>
        <p:nvSpPr>
          <p:cNvPr id="7" name="Text 4"/>
          <p:cNvSpPr/>
          <p:nvPr/>
        </p:nvSpPr>
        <p:spPr>
          <a:xfrm>
            <a:off x="475488" y="3218688"/>
            <a:ext cx="2423160" cy="1691640"/>
          </a:xfrm>
          <a:prstGeom prst="rect">
            <a:avLst/>
          </a:prstGeom>
          <a:noFill/>
          <a:ln/>
        </p:spPr>
        <p:txBody>
          <a:bodyPr wrap="square" rtlCol="0" anchor="ctr"/>
          <a:lstStyle/>
          <a:p>
            <a:pPr marL="0" indent="0">
              <a:buNone/>
            </a:pPr>
            <a:r>
              <a:rPr lang="en-US" sz="1050" dirty="0">
                <a:solidFill>
                  <a:srgbClr val="1A2A3A"/>
                </a:solidFill>
                <a:latin typeface="Calibri" pitchFamily="34" charset="0"/>
                <a:ea typeface="Calibri" pitchFamily="34" charset="-122"/>
                <a:cs typeface="Calibri" pitchFamily="34" charset="-120"/>
              </a:rPr>
              <a:t>Rapid drop from 5→10 wt% carbon black. Regolith has weaker secondary effect. Diminishing returns above X₁ = 12.5%.</a:t>
            </a:r>
            <a:endParaRPr lang="en-US" sz="1050" dirty="0"/>
          </a:p>
        </p:txBody>
      </p:sp>
      <p:sp>
        <p:nvSpPr>
          <p:cNvPr id="8" name="Shape 5"/>
          <p:cNvSpPr/>
          <p:nvPr/>
        </p:nvSpPr>
        <p:spPr>
          <a:xfrm>
            <a:off x="3227832" y="2697480"/>
            <a:ext cx="2651760" cy="2286000"/>
          </a:xfrm>
          <a:prstGeom prst="roundRect">
            <a:avLst>
              <a:gd name="adj" fmla="val 4000"/>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9" name="Text 6"/>
          <p:cNvSpPr/>
          <p:nvPr/>
        </p:nvSpPr>
        <p:spPr>
          <a:xfrm>
            <a:off x="3337560" y="2761488"/>
            <a:ext cx="2450592" cy="438912"/>
          </a:xfrm>
          <a:prstGeom prst="rect">
            <a:avLst/>
          </a:prstGeom>
          <a:noFill/>
          <a:ln/>
        </p:spPr>
        <p:txBody>
          <a:bodyPr wrap="square" rtlCol="0" anchor="ctr"/>
          <a:lstStyle/>
          <a:p>
            <a:pPr marL="0" indent="0">
              <a:buNone/>
            </a:pPr>
            <a:r>
              <a:rPr lang="en-US" sz="1150" b="1" dirty="0">
                <a:solidFill>
                  <a:srgbClr val="0D1B2A"/>
                </a:solidFill>
                <a:latin typeface="Cambria" pitchFamily="34" charset="0"/>
                <a:ea typeface="Cambria" pitchFamily="34" charset="-122"/>
                <a:cs typeface="Cambria" pitchFamily="34" charset="-120"/>
              </a:rPr>
              <a:t>Y₂ — Temperature</a:t>
            </a:r>
            <a:endParaRPr lang="en-US" sz="1150" dirty="0"/>
          </a:p>
        </p:txBody>
      </p:sp>
      <p:sp>
        <p:nvSpPr>
          <p:cNvPr id="10" name="Text 7"/>
          <p:cNvSpPr/>
          <p:nvPr/>
        </p:nvSpPr>
        <p:spPr>
          <a:xfrm>
            <a:off x="3337560" y="3218688"/>
            <a:ext cx="2423160" cy="1691640"/>
          </a:xfrm>
          <a:prstGeom prst="rect">
            <a:avLst/>
          </a:prstGeom>
          <a:noFill/>
          <a:ln/>
        </p:spPr>
        <p:txBody>
          <a:bodyPr wrap="square" rtlCol="0" anchor="ctr"/>
          <a:lstStyle/>
          <a:p>
            <a:pPr marL="0" indent="0">
              <a:buNone/>
            </a:pPr>
            <a:r>
              <a:rPr lang="en-US" sz="1050" dirty="0">
                <a:solidFill>
                  <a:srgbClr val="1A2A3A"/>
                </a:solidFill>
                <a:latin typeface="Calibri" pitchFamily="34" charset="0"/>
                <a:ea typeface="Calibri" pitchFamily="34" charset="-122"/>
                <a:cs typeface="Calibri" pitchFamily="34" charset="-120"/>
              </a:rPr>
              <a:t>Gentler gradient. High carbon / low regolith produces highest temperatures. Model has moderate fit (R²=0.75); more scatter expected.</a:t>
            </a:r>
            <a:endParaRPr lang="en-US" sz="1050" dirty="0"/>
          </a:p>
        </p:txBody>
      </p:sp>
      <p:sp>
        <p:nvSpPr>
          <p:cNvPr id="11" name="Shape 8"/>
          <p:cNvSpPr/>
          <p:nvPr/>
        </p:nvSpPr>
        <p:spPr>
          <a:xfrm>
            <a:off x="6089904" y="2697480"/>
            <a:ext cx="2651760" cy="2286000"/>
          </a:xfrm>
          <a:prstGeom prst="roundRect">
            <a:avLst>
              <a:gd name="adj" fmla="val 4000"/>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12" name="Text 9"/>
          <p:cNvSpPr/>
          <p:nvPr/>
        </p:nvSpPr>
        <p:spPr>
          <a:xfrm>
            <a:off x="6199632" y="2761488"/>
            <a:ext cx="2450592" cy="438912"/>
          </a:xfrm>
          <a:prstGeom prst="rect">
            <a:avLst/>
          </a:prstGeom>
          <a:noFill/>
          <a:ln/>
        </p:spPr>
        <p:txBody>
          <a:bodyPr wrap="square" rtlCol="0" anchor="ctr"/>
          <a:lstStyle/>
          <a:p>
            <a:pPr marL="0" indent="0">
              <a:buNone/>
            </a:pPr>
            <a:r>
              <a:rPr lang="en-US" sz="1150" b="1" dirty="0">
                <a:solidFill>
                  <a:srgbClr val="0D1B2A"/>
                </a:solidFill>
                <a:latin typeface="Cambria" pitchFamily="34" charset="0"/>
                <a:ea typeface="Cambria" pitchFamily="34" charset="-122"/>
                <a:cs typeface="Cambria" pitchFamily="34" charset="-120"/>
              </a:rPr>
              <a:t>Y₃ — Density</a:t>
            </a:r>
            <a:endParaRPr lang="en-US" sz="1150" dirty="0"/>
          </a:p>
        </p:txBody>
      </p:sp>
      <p:sp>
        <p:nvSpPr>
          <p:cNvPr id="13" name="Text 10"/>
          <p:cNvSpPr/>
          <p:nvPr/>
        </p:nvSpPr>
        <p:spPr>
          <a:xfrm>
            <a:off x="6199632" y="3218688"/>
            <a:ext cx="2423160" cy="1691640"/>
          </a:xfrm>
          <a:prstGeom prst="rect">
            <a:avLst/>
          </a:prstGeom>
          <a:noFill/>
          <a:ln/>
        </p:spPr>
        <p:txBody>
          <a:bodyPr wrap="square" rtlCol="0" anchor="ctr"/>
          <a:lstStyle/>
          <a:p>
            <a:pPr marL="0" indent="0">
              <a:buNone/>
            </a:pPr>
            <a:r>
              <a:rPr lang="en-US" sz="1050" dirty="0">
                <a:solidFill>
                  <a:srgbClr val="1A2A3A"/>
                </a:solidFill>
                <a:latin typeface="Calibri" pitchFamily="34" charset="0"/>
                <a:ea typeface="Calibri" pitchFamily="34" charset="-122"/>
                <a:cs typeface="Calibri" pitchFamily="34" charset="-120"/>
              </a:rPr>
              <a:t>Near-perfect linear surface — density is a composition-controlled property. Both X₁ and X₂ increase density monotonically.</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20040" y="0"/>
            <a:ext cx="8503920" cy="658368"/>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5  |  Heteroscedastic Multi-Output GP — Architecture</a:t>
            </a:r>
            <a:endParaRPr lang="en-US" sz="2000" dirty="0"/>
          </a:p>
        </p:txBody>
      </p:sp>
      <p:sp>
        <p:nvSpPr>
          <p:cNvPr id="4" name="Shape 2"/>
          <p:cNvSpPr/>
          <p:nvPr/>
        </p:nvSpPr>
        <p:spPr>
          <a:xfrm>
            <a:off x="320040" y="822960"/>
            <a:ext cx="1965960" cy="1920240"/>
          </a:xfrm>
          <a:prstGeom prst="roundRect">
            <a:avLst>
              <a:gd name="adj" fmla="val 5714"/>
            </a:avLst>
          </a:prstGeom>
          <a:solidFill>
            <a:srgbClr val="0E6B8C"/>
          </a:solidFill>
          <a:ln/>
        </p:spPr>
        <p:txBody>
          <a:bodyPr/>
          <a:lstStyle/>
          <a:p>
            <a:endParaRPr lang="en-US"/>
          </a:p>
        </p:txBody>
      </p:sp>
      <p:sp>
        <p:nvSpPr>
          <p:cNvPr id="5" name="Text 3"/>
          <p:cNvSpPr/>
          <p:nvPr/>
        </p:nvSpPr>
        <p:spPr>
          <a:xfrm>
            <a:off x="365760" y="896112"/>
            <a:ext cx="1874520" cy="54864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ICM Kernel</a:t>
            </a:r>
            <a:endParaRPr lang="en-US" sz="1200" dirty="0"/>
          </a:p>
        </p:txBody>
      </p:sp>
      <p:sp>
        <p:nvSpPr>
          <p:cNvPr id="6" name="Text 4"/>
          <p:cNvSpPr/>
          <p:nvPr/>
        </p:nvSpPr>
        <p:spPr>
          <a:xfrm>
            <a:off x="365760" y="1481328"/>
            <a:ext cx="1874520" cy="1170432"/>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k_RBF(x,x') ⊗ B</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Learns inter-task</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covariance matrix B</a:t>
            </a:r>
            <a:endParaRPr lang="en-US" sz="950" dirty="0"/>
          </a:p>
        </p:txBody>
      </p:sp>
      <p:sp>
        <p:nvSpPr>
          <p:cNvPr id="7" name="Shape 5"/>
          <p:cNvSpPr/>
          <p:nvPr/>
        </p:nvSpPr>
        <p:spPr>
          <a:xfrm>
            <a:off x="2450592" y="822960"/>
            <a:ext cx="1965960" cy="1920240"/>
          </a:xfrm>
          <a:prstGeom prst="roundRect">
            <a:avLst>
              <a:gd name="adj" fmla="val 5714"/>
            </a:avLst>
          </a:prstGeom>
          <a:solidFill>
            <a:srgbClr val="1B3A5C"/>
          </a:solidFill>
          <a:ln/>
        </p:spPr>
        <p:txBody>
          <a:bodyPr/>
          <a:lstStyle/>
          <a:p>
            <a:endParaRPr lang="en-US"/>
          </a:p>
        </p:txBody>
      </p:sp>
      <p:sp>
        <p:nvSpPr>
          <p:cNvPr id="8" name="Text 6"/>
          <p:cNvSpPr/>
          <p:nvPr/>
        </p:nvSpPr>
        <p:spPr>
          <a:xfrm>
            <a:off x="2496312" y="896112"/>
            <a:ext cx="1874520" cy="54864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Multitask Mean</a:t>
            </a:r>
            <a:endParaRPr lang="en-US" sz="1200" dirty="0"/>
          </a:p>
        </p:txBody>
      </p:sp>
      <p:sp>
        <p:nvSpPr>
          <p:cNvPr id="9" name="Text 7"/>
          <p:cNvSpPr/>
          <p:nvPr/>
        </p:nvSpPr>
        <p:spPr>
          <a:xfrm>
            <a:off x="2496312" y="1481328"/>
            <a:ext cx="1874520" cy="1170432"/>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Constant mean μₖ</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per output</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(3 × ConstantMean)</a:t>
            </a:r>
            <a:endParaRPr lang="en-US" sz="950" dirty="0"/>
          </a:p>
        </p:txBody>
      </p:sp>
      <p:sp>
        <p:nvSpPr>
          <p:cNvPr id="10" name="Shape 8"/>
          <p:cNvSpPr/>
          <p:nvPr/>
        </p:nvSpPr>
        <p:spPr>
          <a:xfrm>
            <a:off x="4581144" y="822960"/>
            <a:ext cx="1965960" cy="1920240"/>
          </a:xfrm>
          <a:prstGeom prst="roundRect">
            <a:avLst>
              <a:gd name="adj" fmla="val 5714"/>
            </a:avLst>
          </a:prstGeom>
          <a:solidFill>
            <a:srgbClr val="E6A817"/>
          </a:solidFill>
          <a:ln/>
        </p:spPr>
        <p:txBody>
          <a:bodyPr/>
          <a:lstStyle/>
          <a:p>
            <a:endParaRPr lang="en-US"/>
          </a:p>
        </p:txBody>
      </p:sp>
      <p:sp>
        <p:nvSpPr>
          <p:cNvPr id="11" name="Text 9"/>
          <p:cNvSpPr/>
          <p:nvPr/>
        </p:nvSpPr>
        <p:spPr>
          <a:xfrm>
            <a:off x="4626864" y="896112"/>
            <a:ext cx="1874520" cy="54864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Heterosc. Likelihood</a:t>
            </a:r>
            <a:endParaRPr lang="en-US" sz="1200" dirty="0"/>
          </a:p>
        </p:txBody>
      </p:sp>
      <p:sp>
        <p:nvSpPr>
          <p:cNvPr id="12" name="Text 10"/>
          <p:cNvSpPr/>
          <p:nvPr/>
        </p:nvSpPr>
        <p:spPr>
          <a:xfrm>
            <a:off x="4626864" y="1481328"/>
            <a:ext cx="1874520" cy="1170432"/>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MultitaskGaussian-</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Likelihood: separate</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noise σ²ₖ per output</a:t>
            </a:r>
            <a:endParaRPr lang="en-US" sz="950" dirty="0"/>
          </a:p>
        </p:txBody>
      </p:sp>
      <p:sp>
        <p:nvSpPr>
          <p:cNvPr id="13" name="Shape 11"/>
          <p:cNvSpPr/>
          <p:nvPr/>
        </p:nvSpPr>
        <p:spPr>
          <a:xfrm>
            <a:off x="6711696" y="822960"/>
            <a:ext cx="1965960" cy="1920240"/>
          </a:xfrm>
          <a:prstGeom prst="roundRect">
            <a:avLst>
              <a:gd name="adj" fmla="val 5714"/>
            </a:avLst>
          </a:prstGeom>
          <a:solidFill>
            <a:srgbClr val="6A3FA0"/>
          </a:solidFill>
          <a:ln/>
        </p:spPr>
        <p:txBody>
          <a:bodyPr/>
          <a:lstStyle/>
          <a:p>
            <a:endParaRPr lang="en-US"/>
          </a:p>
        </p:txBody>
      </p:sp>
      <p:sp>
        <p:nvSpPr>
          <p:cNvPr id="14" name="Text 12"/>
          <p:cNvSpPr/>
          <p:nvPr/>
        </p:nvSpPr>
        <p:spPr>
          <a:xfrm>
            <a:off x="6757416" y="896112"/>
            <a:ext cx="1874520" cy="54864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Exact MLL</a:t>
            </a:r>
            <a:endParaRPr lang="en-US" sz="1200" dirty="0"/>
          </a:p>
        </p:txBody>
      </p:sp>
      <p:sp>
        <p:nvSpPr>
          <p:cNvPr id="15" name="Text 13"/>
          <p:cNvSpPr/>
          <p:nvPr/>
        </p:nvSpPr>
        <p:spPr>
          <a:xfrm>
            <a:off x="6757416" y="1481328"/>
            <a:ext cx="1874520" cy="1170432"/>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Training via Adam</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Maximise marginal</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log-likelihood</a:t>
            </a:r>
            <a:endParaRPr lang="en-US" sz="950" dirty="0"/>
          </a:p>
        </p:txBody>
      </p:sp>
      <p:sp>
        <p:nvSpPr>
          <p:cNvPr id="16" name="Shape 14"/>
          <p:cNvSpPr/>
          <p:nvPr/>
        </p:nvSpPr>
        <p:spPr>
          <a:xfrm>
            <a:off x="2286000" y="1783080"/>
            <a:ext cx="164592" cy="0"/>
          </a:xfrm>
          <a:prstGeom prst="line">
            <a:avLst/>
          </a:prstGeom>
          <a:noFill/>
          <a:ln w="25400">
            <a:solidFill>
              <a:srgbClr val="0D1B2A"/>
            </a:solidFill>
            <a:prstDash val="solid"/>
          </a:ln>
        </p:spPr>
        <p:txBody>
          <a:bodyPr/>
          <a:lstStyle/>
          <a:p>
            <a:endParaRPr lang="en-US"/>
          </a:p>
        </p:txBody>
      </p:sp>
      <p:sp>
        <p:nvSpPr>
          <p:cNvPr id="17" name="Shape 15"/>
          <p:cNvSpPr/>
          <p:nvPr/>
        </p:nvSpPr>
        <p:spPr>
          <a:xfrm>
            <a:off x="4416552" y="1783080"/>
            <a:ext cx="164592" cy="0"/>
          </a:xfrm>
          <a:prstGeom prst="line">
            <a:avLst/>
          </a:prstGeom>
          <a:noFill/>
          <a:ln w="25400">
            <a:solidFill>
              <a:srgbClr val="0D1B2A"/>
            </a:solidFill>
            <a:prstDash val="solid"/>
          </a:ln>
        </p:spPr>
        <p:txBody>
          <a:bodyPr/>
          <a:lstStyle/>
          <a:p>
            <a:endParaRPr lang="en-US"/>
          </a:p>
        </p:txBody>
      </p:sp>
      <p:sp>
        <p:nvSpPr>
          <p:cNvPr id="18" name="Shape 16"/>
          <p:cNvSpPr/>
          <p:nvPr/>
        </p:nvSpPr>
        <p:spPr>
          <a:xfrm>
            <a:off x="6547104" y="1783080"/>
            <a:ext cx="164592" cy="0"/>
          </a:xfrm>
          <a:prstGeom prst="line">
            <a:avLst/>
          </a:prstGeom>
          <a:noFill/>
          <a:ln w="25400">
            <a:solidFill>
              <a:srgbClr val="0D1B2A"/>
            </a:solidFill>
            <a:prstDash val="solid"/>
          </a:ln>
        </p:spPr>
        <p:txBody>
          <a:bodyPr/>
          <a:lstStyle/>
          <a:p>
            <a:endParaRPr lang="en-US"/>
          </a:p>
        </p:txBody>
      </p:sp>
      <p:sp>
        <p:nvSpPr>
          <p:cNvPr id="19" name="Text 17"/>
          <p:cNvSpPr/>
          <p:nvPr/>
        </p:nvSpPr>
        <p:spPr>
          <a:xfrm>
            <a:off x="320040" y="2880360"/>
            <a:ext cx="4114800" cy="347472"/>
          </a:xfrm>
          <a:prstGeom prst="rect">
            <a:avLst/>
          </a:prstGeom>
          <a:noFill/>
          <a:ln/>
        </p:spPr>
        <p:txBody>
          <a:bodyPr wrap="square" rtlCol="0" anchor="ctr"/>
          <a:lstStyle/>
          <a:p>
            <a:pPr marL="0" indent="0">
              <a:buNone/>
            </a:pPr>
            <a:r>
              <a:rPr lang="en-US" sz="1300" b="1" dirty="0">
                <a:solidFill>
                  <a:srgbClr val="0D1B2A"/>
                </a:solidFill>
                <a:latin typeface="Cambria" pitchFamily="34" charset="0"/>
                <a:ea typeface="Cambria" pitchFamily="34" charset="-122"/>
                <a:cs typeface="Cambria" pitchFamily="34" charset="-120"/>
              </a:rPr>
              <a:t>Learned Hyperparameters:</a:t>
            </a:r>
            <a:endParaRPr lang="en-US" sz="1300" dirty="0"/>
          </a:p>
        </p:txBody>
      </p:sp>
      <p:sp>
        <p:nvSpPr>
          <p:cNvPr id="20" name="Text 18"/>
          <p:cNvSpPr/>
          <p:nvPr/>
        </p:nvSpPr>
        <p:spPr>
          <a:xfrm>
            <a:off x="320040" y="3246120"/>
            <a:ext cx="4480560" cy="1645920"/>
          </a:xfrm>
          <a:prstGeom prst="rect">
            <a:avLst/>
          </a:prstGeom>
          <a:noFill/>
          <a:ln/>
        </p:spPr>
        <p:txBody>
          <a:bodyPr wrap="square" rtlCol="0" anchor="ctr"/>
          <a:lstStyle/>
          <a:p>
            <a:pPr marL="342900" indent="-342900">
              <a:buSzPct val="100000"/>
              <a:buChar char="•"/>
            </a:pPr>
            <a:r>
              <a:rPr lang="en-US" sz="1050" dirty="0">
                <a:solidFill>
                  <a:srgbClr val="1A2A3A"/>
                </a:solidFill>
                <a:latin typeface="Calibri" pitchFamily="34" charset="0"/>
                <a:ea typeface="Calibri" pitchFamily="34" charset="-122"/>
                <a:cs typeface="Calibri" pitchFamily="34" charset="-120"/>
              </a:rPr>
              <a:t>RBF lengthscale  ℓ = 4.53  (standardised space)</a:t>
            </a:r>
            <a:endParaRPr lang="en-US" sz="1050" dirty="0"/>
          </a:p>
          <a:p>
            <a:pPr marL="342900" indent="-342900">
              <a:buSzPct val="100000"/>
              <a:buChar char="•"/>
            </a:pPr>
            <a:r>
              <a:rPr lang="en-US" sz="1050" dirty="0">
                <a:solidFill>
                  <a:srgbClr val="1A2A3A"/>
                </a:solidFill>
                <a:latin typeface="Calibri" pitchFamily="34" charset="0"/>
                <a:ea typeface="Calibri" pitchFamily="34" charset="-122"/>
                <a:cs typeface="Calibri" pitchFamily="34" charset="-120"/>
              </a:rPr>
              <a:t>Output scale  σ_f² = 1.861</a:t>
            </a:r>
            <a:endParaRPr lang="en-US" sz="1050" dirty="0"/>
          </a:p>
          <a:p>
            <a:pPr marL="342900" indent="-342900">
              <a:buSzPct val="100000"/>
              <a:buChar char="•"/>
            </a:pPr>
            <a:r>
              <a:rPr lang="en-US" sz="1050" dirty="0">
                <a:solidFill>
                  <a:srgbClr val="1A2A3A"/>
                </a:solidFill>
                <a:latin typeface="Calibri" pitchFamily="34" charset="0"/>
                <a:ea typeface="Calibri" pitchFamily="34" charset="-122"/>
                <a:cs typeface="Calibri" pitchFamily="34" charset="-120"/>
              </a:rPr>
              <a:t>Task noise  σ²_Y₁ ≈ 0.00011  |  Y₁ σ = 0.040 µm/s</a:t>
            </a:r>
            <a:endParaRPr lang="en-US" sz="1050" dirty="0"/>
          </a:p>
          <a:p>
            <a:pPr marL="342900" indent="-342900">
              <a:buSzPct val="100000"/>
              <a:buChar char="•"/>
            </a:pPr>
            <a:r>
              <a:rPr lang="en-US" sz="1050" dirty="0">
                <a:solidFill>
                  <a:srgbClr val="1A2A3A"/>
                </a:solidFill>
                <a:latin typeface="Calibri" pitchFamily="34" charset="0"/>
                <a:ea typeface="Calibri" pitchFamily="34" charset="-122"/>
                <a:cs typeface="Calibri" pitchFamily="34" charset="-120"/>
              </a:rPr>
              <a:t>Training converged: –MLL = –0.368 at iter 500</a:t>
            </a:r>
            <a:endParaRPr lang="en-US" sz="1050" dirty="0"/>
          </a:p>
          <a:p>
            <a:pPr marL="0" indent="0">
              <a:buNone/>
            </a:pPr>
            <a:endParaRPr lang="en-US" sz="1050" dirty="0"/>
          </a:p>
        </p:txBody>
      </p:sp>
      <p:pic>
        <p:nvPicPr>
          <p:cNvPr id="21" name="Image 0" descr="preencoded.png"/>
          <p:cNvPicPr>
            <a:picLocks noChangeAspect="1"/>
          </p:cNvPicPr>
          <p:nvPr/>
        </p:nvPicPr>
        <p:blipFill>
          <a:blip r:embed="rId3"/>
          <a:stretch>
            <a:fillRect/>
          </a:stretch>
        </p:blipFill>
        <p:spPr>
          <a:xfrm>
            <a:off x="4064742" y="2788920"/>
            <a:ext cx="4804938" cy="2286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20040" y="0"/>
            <a:ext cx="8503920" cy="658368"/>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5  |  MOGP — Inter-Task Correlations (Matrix B)</a:t>
            </a:r>
            <a:endParaRPr lang="en-US" sz="2000" dirty="0"/>
          </a:p>
        </p:txBody>
      </p:sp>
      <p:pic>
        <p:nvPicPr>
          <p:cNvPr id="4" name="Image 0" descr="preencoded.png"/>
          <p:cNvPicPr>
            <a:picLocks noChangeAspect="1"/>
          </p:cNvPicPr>
          <p:nvPr/>
        </p:nvPicPr>
        <p:blipFill>
          <a:blip r:embed="rId3"/>
          <a:stretch>
            <a:fillRect/>
          </a:stretch>
        </p:blipFill>
        <p:spPr>
          <a:xfrm>
            <a:off x="274320" y="777240"/>
            <a:ext cx="3474720" cy="2834640"/>
          </a:xfrm>
          <a:prstGeom prst="rect">
            <a:avLst/>
          </a:prstGeom>
        </p:spPr>
      </p:pic>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931920" y="822960"/>
          <a:ext cx="4937760" cy="1389888"/>
        </p:xfrm>
        <a:graphic>
          <a:graphicData uri="http://schemas.openxmlformats.org/drawingml/2006/table">
            <a:tbl>
              <a:tblPr/>
              <a:tblGrid>
                <a:gridCol w="123444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tblGrid>
              <a:tr h="347472">
                <a:tc>
                  <a:txBody>
                    <a:bodyPr/>
                    <a:lstStyle/>
                    <a:p>
                      <a:pPr marL="0" indent="0">
                        <a:buNone/>
                      </a:pP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Y₁ Ablation</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Y₂ Temp</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Y₃ Density</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347472">
                <a:tc>
                  <a:txBody>
                    <a:bodyPr/>
                    <a:lstStyle/>
                    <a:p>
                      <a:pPr marL="0" indent="0">
                        <a:buNone/>
                      </a:pPr>
                      <a:r>
                        <a:rPr lang="en-US" sz="1100" b="1" dirty="0">
                          <a:solidFill>
                            <a:srgbClr val="1A2A3A"/>
                          </a:solidFill>
                          <a:latin typeface="Calibri" pitchFamily="34" charset="0"/>
                          <a:ea typeface="Calibri" pitchFamily="34" charset="-122"/>
                          <a:cs typeface="Calibri" pitchFamily="34" charset="-120"/>
                        </a:rPr>
                        <a:t>Y₁ Ablation</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1.000</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–0.678</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DECEA"/>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–0.600</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DECEA"/>
                    </a:solidFill>
                  </a:tcPr>
                </a:tc>
                <a:extLst>
                  <a:ext uri="{0D108BD9-81ED-4DB2-BD59-A6C34878D82A}">
                    <a16:rowId xmlns:a16="http://schemas.microsoft.com/office/drawing/2014/main" val="10001"/>
                  </a:ext>
                </a:extLst>
              </a:tr>
              <a:tr h="347472">
                <a:tc>
                  <a:txBody>
                    <a:bodyPr/>
                    <a:lstStyle/>
                    <a:p>
                      <a:pPr marL="0" indent="0">
                        <a:buNone/>
                      </a:pPr>
                      <a:r>
                        <a:rPr lang="en-US" sz="1100" b="1" dirty="0">
                          <a:solidFill>
                            <a:srgbClr val="1A2A3A"/>
                          </a:solidFill>
                          <a:latin typeface="Calibri" pitchFamily="34" charset="0"/>
                          <a:ea typeface="Calibri" pitchFamily="34" charset="-122"/>
                          <a:cs typeface="Calibri" pitchFamily="34" charset="-120"/>
                        </a:rPr>
                        <a:t>Y₂ Temp</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–0.678</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DECEA"/>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1.000</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–0.181</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DECEA"/>
                    </a:solidFill>
                  </a:tcPr>
                </a:tc>
                <a:extLst>
                  <a:ext uri="{0D108BD9-81ED-4DB2-BD59-A6C34878D82A}">
                    <a16:rowId xmlns:a16="http://schemas.microsoft.com/office/drawing/2014/main" val="10002"/>
                  </a:ext>
                </a:extLst>
              </a:tr>
              <a:tr h="347472">
                <a:tc>
                  <a:txBody>
                    <a:bodyPr/>
                    <a:lstStyle/>
                    <a:p>
                      <a:pPr marL="0" indent="0">
                        <a:buNone/>
                      </a:pPr>
                      <a:r>
                        <a:rPr lang="en-US" sz="1100" b="1" dirty="0">
                          <a:solidFill>
                            <a:srgbClr val="1A2A3A"/>
                          </a:solidFill>
                          <a:latin typeface="Calibri" pitchFamily="34" charset="0"/>
                          <a:ea typeface="Calibri" pitchFamily="34" charset="-122"/>
                          <a:cs typeface="Calibri" pitchFamily="34" charset="-120"/>
                        </a:rPr>
                        <a:t>Y₃ Density</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–0.600</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DECEA"/>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–0.181</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DECEA"/>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1.000</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extLst>
                  <a:ext uri="{0D108BD9-81ED-4DB2-BD59-A6C34878D82A}">
                    <a16:rowId xmlns:a16="http://schemas.microsoft.com/office/drawing/2014/main" val="10003"/>
                  </a:ext>
                </a:extLst>
              </a:tr>
            </a:tbl>
          </a:graphicData>
        </a:graphic>
      </p:graphicFrame>
      <p:sp>
        <p:nvSpPr>
          <p:cNvPr id="6" name="Shape 2"/>
          <p:cNvSpPr/>
          <p:nvPr/>
        </p:nvSpPr>
        <p:spPr>
          <a:xfrm>
            <a:off x="3931920" y="2487168"/>
            <a:ext cx="4937760" cy="804672"/>
          </a:xfrm>
          <a:prstGeom prst="roundRect">
            <a:avLst>
              <a:gd name="adj" fmla="val 11364"/>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7" name="Text 3"/>
          <p:cNvSpPr/>
          <p:nvPr/>
        </p:nvSpPr>
        <p:spPr>
          <a:xfrm>
            <a:off x="4041648" y="2532888"/>
            <a:ext cx="822960" cy="713232"/>
          </a:xfrm>
          <a:prstGeom prst="rect">
            <a:avLst/>
          </a:prstGeom>
          <a:noFill/>
          <a:ln/>
        </p:spPr>
        <p:txBody>
          <a:bodyPr wrap="square" rtlCol="0" anchor="ctr"/>
          <a:lstStyle/>
          <a:p>
            <a:pPr marL="0" indent="0" algn="ctr">
              <a:buNone/>
            </a:pPr>
            <a:r>
              <a:rPr lang="en-US" sz="1600" b="1" dirty="0">
                <a:solidFill>
                  <a:srgbClr val="C0392B"/>
                </a:solidFill>
                <a:latin typeface="Cambria" pitchFamily="34" charset="0"/>
                <a:ea typeface="Cambria" pitchFamily="34" charset="-122"/>
                <a:cs typeface="Cambria" pitchFamily="34" charset="-120"/>
              </a:rPr>
              <a:t>–0.678</a:t>
            </a:r>
            <a:endParaRPr lang="en-US" sz="1600" dirty="0"/>
          </a:p>
        </p:txBody>
      </p:sp>
      <p:sp>
        <p:nvSpPr>
          <p:cNvPr id="8" name="Text 4"/>
          <p:cNvSpPr/>
          <p:nvPr/>
        </p:nvSpPr>
        <p:spPr>
          <a:xfrm>
            <a:off x="4892040" y="2551176"/>
            <a:ext cx="3886200" cy="676656"/>
          </a:xfrm>
          <a:prstGeom prst="rect">
            <a:avLst/>
          </a:prstGeom>
          <a:noFill/>
          <a:ln/>
        </p:spPr>
        <p:txBody>
          <a:bodyPr wrap="square" rtlCol="0" anchor="ctr"/>
          <a:lstStyle/>
          <a:p>
            <a:pPr marL="0" indent="0">
              <a:buNone/>
            </a:pPr>
            <a:r>
              <a:rPr lang="en-US" sz="1000" b="1" dirty="0">
                <a:solidFill>
                  <a:srgbClr val="1A2A3A"/>
                </a:solidFill>
                <a:latin typeface="Calibri" pitchFamily="34" charset="0"/>
                <a:ea typeface="Calibri" pitchFamily="34" charset="-122"/>
                <a:cs typeface="Calibri" pitchFamily="34" charset="-120"/>
              </a:rPr>
              <a:t>Y₁ ↔ Y₂:  </a:t>
            </a:r>
            <a:r>
              <a:rPr lang="en-US" sz="1000" dirty="0">
                <a:solidFill>
                  <a:srgbClr val="1A2A3A"/>
                </a:solidFill>
                <a:latin typeface="Calibri" pitchFamily="34" charset="0"/>
                <a:ea typeface="Calibri" pitchFamily="34" charset="-122"/>
                <a:cs typeface="Calibri" pitchFamily="34" charset="-120"/>
              </a:rPr>
              <a:t>Strong negative: higher ablation rate → lower backside temperature. Ablation removes heat before conduction.</a:t>
            </a:r>
            <a:endParaRPr lang="en-US" sz="1000" dirty="0"/>
          </a:p>
        </p:txBody>
      </p:sp>
      <p:sp>
        <p:nvSpPr>
          <p:cNvPr id="9" name="Shape 5"/>
          <p:cNvSpPr/>
          <p:nvPr/>
        </p:nvSpPr>
        <p:spPr>
          <a:xfrm>
            <a:off x="3931920" y="3401568"/>
            <a:ext cx="4937760" cy="804672"/>
          </a:xfrm>
          <a:prstGeom prst="roundRect">
            <a:avLst>
              <a:gd name="adj" fmla="val 11364"/>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5" name="Text 6"/>
          <p:cNvSpPr/>
          <p:nvPr/>
        </p:nvSpPr>
        <p:spPr>
          <a:xfrm>
            <a:off x="4041648" y="3447288"/>
            <a:ext cx="822960" cy="713232"/>
          </a:xfrm>
          <a:prstGeom prst="rect">
            <a:avLst/>
          </a:prstGeom>
          <a:noFill/>
          <a:ln/>
        </p:spPr>
        <p:txBody>
          <a:bodyPr wrap="square" rtlCol="0" anchor="ctr"/>
          <a:lstStyle/>
          <a:p>
            <a:pPr marL="0" indent="0" algn="ctr">
              <a:buNone/>
            </a:pPr>
            <a:r>
              <a:rPr lang="en-US" sz="1600" b="1" dirty="0">
                <a:solidFill>
                  <a:srgbClr val="C0392B"/>
                </a:solidFill>
                <a:latin typeface="Cambria" pitchFamily="34" charset="0"/>
                <a:ea typeface="Cambria" pitchFamily="34" charset="-122"/>
                <a:cs typeface="Cambria" pitchFamily="34" charset="-120"/>
              </a:rPr>
              <a:t>–0.600</a:t>
            </a:r>
            <a:endParaRPr lang="en-US" sz="1600" dirty="0"/>
          </a:p>
        </p:txBody>
      </p:sp>
      <p:sp>
        <p:nvSpPr>
          <p:cNvPr id="11" name="Text 7"/>
          <p:cNvSpPr/>
          <p:nvPr/>
        </p:nvSpPr>
        <p:spPr>
          <a:xfrm>
            <a:off x="4892040" y="3465576"/>
            <a:ext cx="3886200" cy="676656"/>
          </a:xfrm>
          <a:prstGeom prst="rect">
            <a:avLst/>
          </a:prstGeom>
          <a:noFill/>
          <a:ln/>
        </p:spPr>
        <p:txBody>
          <a:bodyPr wrap="square" rtlCol="0" anchor="ctr"/>
          <a:lstStyle/>
          <a:p>
            <a:pPr marL="0" indent="0">
              <a:buNone/>
            </a:pPr>
            <a:r>
              <a:rPr lang="en-US" sz="1000" b="1" dirty="0">
                <a:solidFill>
                  <a:srgbClr val="1A2A3A"/>
                </a:solidFill>
                <a:latin typeface="Calibri" pitchFamily="34" charset="0"/>
                <a:ea typeface="Calibri" pitchFamily="34" charset="-122"/>
                <a:cs typeface="Calibri" pitchFamily="34" charset="-120"/>
              </a:rPr>
              <a:t>Y₁ ↔ Y₃:  </a:t>
            </a:r>
            <a:r>
              <a:rPr lang="en-US" sz="1000" dirty="0">
                <a:solidFill>
                  <a:srgbClr val="1A2A3A"/>
                </a:solidFill>
                <a:latin typeface="Calibri" pitchFamily="34" charset="0"/>
                <a:ea typeface="Calibri" pitchFamily="34" charset="-122"/>
                <a:cs typeface="Calibri" pitchFamily="34" charset="-120"/>
              </a:rPr>
              <a:t>Strong negative: higher density → lower ablation rate. Denser matrix resists thermal ablation.</a:t>
            </a:r>
            <a:endParaRPr lang="en-US" sz="1000" dirty="0"/>
          </a:p>
        </p:txBody>
      </p:sp>
      <p:sp>
        <p:nvSpPr>
          <p:cNvPr id="12" name="Shape 8"/>
          <p:cNvSpPr/>
          <p:nvPr/>
        </p:nvSpPr>
        <p:spPr>
          <a:xfrm>
            <a:off x="3931920" y="4315968"/>
            <a:ext cx="4937760" cy="804672"/>
          </a:xfrm>
          <a:prstGeom prst="roundRect">
            <a:avLst>
              <a:gd name="adj" fmla="val 11364"/>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13" name="Text 9"/>
          <p:cNvSpPr/>
          <p:nvPr/>
        </p:nvSpPr>
        <p:spPr>
          <a:xfrm>
            <a:off x="4041648" y="4361688"/>
            <a:ext cx="822960" cy="713232"/>
          </a:xfrm>
          <a:prstGeom prst="rect">
            <a:avLst/>
          </a:prstGeom>
          <a:noFill/>
          <a:ln/>
        </p:spPr>
        <p:txBody>
          <a:bodyPr wrap="square" rtlCol="0" anchor="ctr"/>
          <a:lstStyle/>
          <a:p>
            <a:pPr marL="0" indent="0" algn="ctr">
              <a:buNone/>
            </a:pPr>
            <a:r>
              <a:rPr lang="en-US" sz="1600" b="1" dirty="0">
                <a:solidFill>
                  <a:srgbClr val="C0392B"/>
                </a:solidFill>
                <a:latin typeface="Cambria" pitchFamily="34" charset="0"/>
                <a:ea typeface="Cambria" pitchFamily="34" charset="-122"/>
                <a:cs typeface="Cambria" pitchFamily="34" charset="-120"/>
              </a:rPr>
              <a:t>–0.181</a:t>
            </a:r>
            <a:endParaRPr lang="en-US" sz="1600" dirty="0"/>
          </a:p>
        </p:txBody>
      </p:sp>
      <p:sp>
        <p:nvSpPr>
          <p:cNvPr id="14" name="Text 10"/>
          <p:cNvSpPr/>
          <p:nvPr/>
        </p:nvSpPr>
        <p:spPr>
          <a:xfrm>
            <a:off x="4892040" y="4379976"/>
            <a:ext cx="3886200" cy="676656"/>
          </a:xfrm>
          <a:prstGeom prst="rect">
            <a:avLst/>
          </a:prstGeom>
          <a:noFill/>
          <a:ln/>
        </p:spPr>
        <p:txBody>
          <a:bodyPr wrap="square" rtlCol="0" anchor="ctr"/>
          <a:lstStyle/>
          <a:p>
            <a:pPr marL="0" indent="0">
              <a:buNone/>
            </a:pPr>
            <a:r>
              <a:rPr lang="en-US" sz="1000" b="1" dirty="0">
                <a:solidFill>
                  <a:srgbClr val="1A2A3A"/>
                </a:solidFill>
                <a:latin typeface="Calibri" pitchFamily="34" charset="0"/>
                <a:ea typeface="Calibri" pitchFamily="34" charset="-122"/>
                <a:cs typeface="Calibri" pitchFamily="34" charset="-120"/>
              </a:rPr>
              <a:t>Y₂ ↔ Y₃:  </a:t>
            </a:r>
            <a:r>
              <a:rPr lang="en-US" sz="1000" dirty="0">
                <a:solidFill>
                  <a:srgbClr val="1A2A3A"/>
                </a:solidFill>
                <a:latin typeface="Calibri" pitchFamily="34" charset="0"/>
                <a:ea typeface="Calibri" pitchFamily="34" charset="-122"/>
                <a:cs typeface="Calibri" pitchFamily="34" charset="-120"/>
              </a:rPr>
              <a:t>Weak negative: denser formulations conduct heat slightly less efficiently to the back face.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20040" y="0"/>
            <a:ext cx="8503920" cy="658368"/>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5  |  MOGP — Predictive Performance</a:t>
            </a:r>
            <a:endParaRPr lang="en-US" sz="2000" dirty="0"/>
          </a:p>
        </p:txBody>
      </p:sp>
      <p:pic>
        <p:nvPicPr>
          <p:cNvPr id="4" name="Image 0" descr="preencoded.png"/>
          <p:cNvPicPr>
            <a:picLocks noChangeAspect="1"/>
          </p:cNvPicPr>
          <p:nvPr/>
        </p:nvPicPr>
        <p:blipFill>
          <a:blip r:embed="rId3"/>
          <a:stretch>
            <a:fillRect/>
          </a:stretch>
        </p:blipFill>
        <p:spPr>
          <a:xfrm>
            <a:off x="274320" y="749808"/>
            <a:ext cx="8595360" cy="2400534"/>
          </a:xfrm>
          <a:prstGeom prst="rect">
            <a:avLst/>
          </a:prstGeom>
        </p:spPr>
      </p:pic>
      <p:sp>
        <p:nvSpPr>
          <p:cNvPr id="5" name="Shape 2"/>
          <p:cNvSpPr/>
          <p:nvPr/>
        </p:nvSpPr>
        <p:spPr>
          <a:xfrm>
            <a:off x="365760" y="3399030"/>
            <a:ext cx="2651760" cy="1188720"/>
          </a:xfrm>
          <a:prstGeom prst="roundRect">
            <a:avLst>
              <a:gd name="adj" fmla="val 7692"/>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6" name="Text 3"/>
          <p:cNvSpPr/>
          <p:nvPr/>
        </p:nvSpPr>
        <p:spPr>
          <a:xfrm>
            <a:off x="457200" y="3453894"/>
            <a:ext cx="2487168" cy="365760"/>
          </a:xfrm>
          <a:prstGeom prst="rect">
            <a:avLst/>
          </a:prstGeom>
          <a:noFill/>
          <a:ln/>
        </p:spPr>
        <p:txBody>
          <a:bodyPr wrap="square" rtlCol="0" anchor="ctr"/>
          <a:lstStyle/>
          <a:p>
            <a:pPr marL="0" indent="0">
              <a:buNone/>
            </a:pPr>
            <a:r>
              <a:rPr lang="en-US" sz="1100" b="1" dirty="0">
                <a:solidFill>
                  <a:srgbClr val="0D1B2A"/>
                </a:solidFill>
                <a:latin typeface="Cambria" pitchFamily="34" charset="0"/>
                <a:ea typeface="Cambria" pitchFamily="34" charset="-122"/>
                <a:cs typeface="Cambria" pitchFamily="34" charset="-120"/>
              </a:rPr>
              <a:t>Y₁  Ablation Rate</a:t>
            </a:r>
            <a:endParaRPr lang="en-US" sz="1100" dirty="0"/>
          </a:p>
        </p:txBody>
      </p:sp>
      <p:sp>
        <p:nvSpPr>
          <p:cNvPr id="7" name="Text 4"/>
          <p:cNvSpPr/>
          <p:nvPr/>
        </p:nvSpPr>
        <p:spPr>
          <a:xfrm>
            <a:off x="457200" y="3828798"/>
            <a:ext cx="1280160" cy="320040"/>
          </a:xfrm>
          <a:prstGeom prst="rect">
            <a:avLst/>
          </a:prstGeom>
          <a:noFill/>
          <a:ln/>
        </p:spPr>
        <p:txBody>
          <a:bodyPr wrap="square" rtlCol="0" anchor="ctr"/>
          <a:lstStyle/>
          <a:p>
            <a:pPr marL="0" indent="0">
              <a:buNone/>
            </a:pPr>
            <a:r>
              <a:rPr lang="en-US" sz="1200" b="1" dirty="0">
                <a:solidFill>
                  <a:srgbClr val="0E6B8C"/>
                </a:solidFill>
                <a:latin typeface="Calibri" pitchFamily="34" charset="0"/>
                <a:ea typeface="Calibri" pitchFamily="34" charset="-122"/>
                <a:cs typeface="Calibri" pitchFamily="34" charset="-120"/>
              </a:rPr>
              <a:t>R² = 0.969</a:t>
            </a:r>
            <a:endParaRPr lang="en-US" sz="1200" dirty="0"/>
          </a:p>
        </p:txBody>
      </p:sp>
      <p:sp>
        <p:nvSpPr>
          <p:cNvPr id="8" name="Text 5"/>
          <p:cNvSpPr/>
          <p:nvPr/>
        </p:nvSpPr>
        <p:spPr>
          <a:xfrm>
            <a:off x="1783080" y="3847086"/>
            <a:ext cx="1188720" cy="292608"/>
          </a:xfrm>
          <a:prstGeom prst="rect">
            <a:avLst/>
          </a:prstGeom>
          <a:noFill/>
          <a:ln/>
        </p:spPr>
        <p:txBody>
          <a:bodyPr wrap="square" rtlCol="0" anchor="ctr"/>
          <a:lstStyle/>
          <a:p>
            <a:pPr marL="0" indent="0">
              <a:buNone/>
            </a:pPr>
            <a:r>
              <a:rPr lang="en-US" sz="1000" dirty="0">
                <a:solidFill>
                  <a:srgbClr val="546778"/>
                </a:solidFill>
                <a:latin typeface="Calibri" pitchFamily="34" charset="0"/>
                <a:ea typeface="Calibri" pitchFamily="34" charset="-122"/>
                <a:cs typeface="Calibri" pitchFamily="34" charset="-120"/>
              </a:rPr>
              <a:t>RMSE = 0.674 µm/s</a:t>
            </a:r>
            <a:endParaRPr lang="en-US" sz="1000" dirty="0"/>
          </a:p>
        </p:txBody>
      </p:sp>
      <p:sp>
        <p:nvSpPr>
          <p:cNvPr id="9" name="Shape 6"/>
          <p:cNvSpPr/>
          <p:nvPr/>
        </p:nvSpPr>
        <p:spPr>
          <a:xfrm>
            <a:off x="3227832" y="3399030"/>
            <a:ext cx="2651760" cy="1188720"/>
          </a:xfrm>
          <a:prstGeom prst="roundRect">
            <a:avLst>
              <a:gd name="adj" fmla="val 7692"/>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10" name="Text 7"/>
          <p:cNvSpPr/>
          <p:nvPr/>
        </p:nvSpPr>
        <p:spPr>
          <a:xfrm>
            <a:off x="3319272" y="3453894"/>
            <a:ext cx="2487168" cy="365760"/>
          </a:xfrm>
          <a:prstGeom prst="rect">
            <a:avLst/>
          </a:prstGeom>
          <a:noFill/>
          <a:ln/>
        </p:spPr>
        <p:txBody>
          <a:bodyPr wrap="square" rtlCol="0" anchor="ctr"/>
          <a:lstStyle/>
          <a:p>
            <a:pPr marL="0" indent="0">
              <a:buNone/>
            </a:pPr>
            <a:r>
              <a:rPr lang="en-US" sz="1100" b="1" dirty="0">
                <a:solidFill>
                  <a:srgbClr val="0D1B2A"/>
                </a:solidFill>
                <a:latin typeface="Cambria" pitchFamily="34" charset="0"/>
                <a:ea typeface="Cambria" pitchFamily="34" charset="-122"/>
                <a:cs typeface="Cambria" pitchFamily="34" charset="-120"/>
              </a:rPr>
              <a:t>Y₂  Backside Temp</a:t>
            </a:r>
            <a:endParaRPr lang="en-US" sz="1100" dirty="0"/>
          </a:p>
        </p:txBody>
      </p:sp>
      <p:sp>
        <p:nvSpPr>
          <p:cNvPr id="11" name="Text 8"/>
          <p:cNvSpPr/>
          <p:nvPr/>
        </p:nvSpPr>
        <p:spPr>
          <a:xfrm>
            <a:off x="3319272" y="3828798"/>
            <a:ext cx="1280160" cy="320040"/>
          </a:xfrm>
          <a:prstGeom prst="rect">
            <a:avLst/>
          </a:prstGeom>
          <a:noFill/>
          <a:ln/>
        </p:spPr>
        <p:txBody>
          <a:bodyPr wrap="square" rtlCol="0" anchor="ctr"/>
          <a:lstStyle/>
          <a:p>
            <a:pPr marL="0" indent="0">
              <a:buNone/>
            </a:pPr>
            <a:r>
              <a:rPr lang="en-US" sz="1200" b="1" dirty="0">
                <a:solidFill>
                  <a:srgbClr val="0E6B8C"/>
                </a:solidFill>
                <a:latin typeface="Calibri" pitchFamily="34" charset="0"/>
                <a:ea typeface="Calibri" pitchFamily="34" charset="-122"/>
                <a:cs typeface="Calibri" pitchFamily="34" charset="-120"/>
              </a:rPr>
              <a:t>R² = 0.696</a:t>
            </a:r>
            <a:endParaRPr lang="en-US" sz="1200" dirty="0"/>
          </a:p>
        </p:txBody>
      </p:sp>
      <p:sp>
        <p:nvSpPr>
          <p:cNvPr id="12" name="Text 9"/>
          <p:cNvSpPr/>
          <p:nvPr/>
        </p:nvSpPr>
        <p:spPr>
          <a:xfrm>
            <a:off x="4645152" y="3847086"/>
            <a:ext cx="1188720" cy="292608"/>
          </a:xfrm>
          <a:prstGeom prst="rect">
            <a:avLst/>
          </a:prstGeom>
          <a:noFill/>
          <a:ln/>
        </p:spPr>
        <p:txBody>
          <a:bodyPr wrap="square" rtlCol="0" anchor="ctr"/>
          <a:lstStyle/>
          <a:p>
            <a:pPr marL="0" indent="0">
              <a:buNone/>
            </a:pPr>
            <a:r>
              <a:rPr lang="en-US" sz="1000" dirty="0">
                <a:solidFill>
                  <a:srgbClr val="546778"/>
                </a:solidFill>
                <a:latin typeface="Calibri" pitchFamily="34" charset="0"/>
                <a:ea typeface="Calibri" pitchFamily="34" charset="-122"/>
                <a:cs typeface="Calibri" pitchFamily="34" charset="-120"/>
              </a:rPr>
              <a:t>RMSE = 9.93 °C</a:t>
            </a:r>
            <a:endParaRPr lang="en-US" sz="1000" dirty="0"/>
          </a:p>
        </p:txBody>
      </p:sp>
      <p:sp>
        <p:nvSpPr>
          <p:cNvPr id="13" name="Shape 10"/>
          <p:cNvSpPr/>
          <p:nvPr/>
        </p:nvSpPr>
        <p:spPr>
          <a:xfrm>
            <a:off x="6089904" y="3399030"/>
            <a:ext cx="2651760" cy="1188720"/>
          </a:xfrm>
          <a:prstGeom prst="roundRect">
            <a:avLst>
              <a:gd name="adj" fmla="val 7692"/>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14" name="Text 11"/>
          <p:cNvSpPr/>
          <p:nvPr/>
        </p:nvSpPr>
        <p:spPr>
          <a:xfrm>
            <a:off x="6181344" y="3453894"/>
            <a:ext cx="2487168" cy="365760"/>
          </a:xfrm>
          <a:prstGeom prst="rect">
            <a:avLst/>
          </a:prstGeom>
          <a:noFill/>
          <a:ln/>
        </p:spPr>
        <p:txBody>
          <a:bodyPr wrap="square" rtlCol="0" anchor="ctr"/>
          <a:lstStyle/>
          <a:p>
            <a:pPr marL="0" indent="0">
              <a:buNone/>
            </a:pPr>
            <a:r>
              <a:rPr lang="en-US" sz="1100" b="1" dirty="0">
                <a:solidFill>
                  <a:srgbClr val="0D1B2A"/>
                </a:solidFill>
                <a:latin typeface="Cambria" pitchFamily="34" charset="0"/>
                <a:ea typeface="Cambria" pitchFamily="34" charset="-122"/>
                <a:cs typeface="Cambria" pitchFamily="34" charset="-120"/>
              </a:rPr>
              <a:t>Y₃  Density</a:t>
            </a:r>
            <a:endParaRPr lang="en-US" sz="1100" dirty="0"/>
          </a:p>
        </p:txBody>
      </p:sp>
      <p:sp>
        <p:nvSpPr>
          <p:cNvPr id="15" name="Text 12"/>
          <p:cNvSpPr/>
          <p:nvPr/>
        </p:nvSpPr>
        <p:spPr>
          <a:xfrm>
            <a:off x="6181344" y="3828798"/>
            <a:ext cx="1280160" cy="320040"/>
          </a:xfrm>
          <a:prstGeom prst="rect">
            <a:avLst/>
          </a:prstGeom>
          <a:noFill/>
          <a:ln/>
        </p:spPr>
        <p:txBody>
          <a:bodyPr wrap="square" rtlCol="0" anchor="ctr"/>
          <a:lstStyle/>
          <a:p>
            <a:pPr marL="0" indent="0">
              <a:buNone/>
            </a:pPr>
            <a:r>
              <a:rPr lang="en-US" sz="1200" b="1" dirty="0">
                <a:solidFill>
                  <a:srgbClr val="0E6B8C"/>
                </a:solidFill>
                <a:latin typeface="Calibri" pitchFamily="34" charset="0"/>
                <a:ea typeface="Calibri" pitchFamily="34" charset="-122"/>
                <a:cs typeface="Calibri" pitchFamily="34" charset="-120"/>
              </a:rPr>
              <a:t>R² = 1.000</a:t>
            </a:r>
            <a:endParaRPr lang="en-US" sz="1200" dirty="0"/>
          </a:p>
        </p:txBody>
      </p:sp>
      <p:sp>
        <p:nvSpPr>
          <p:cNvPr id="16" name="Text 13"/>
          <p:cNvSpPr/>
          <p:nvPr/>
        </p:nvSpPr>
        <p:spPr>
          <a:xfrm>
            <a:off x="7507224" y="3847086"/>
            <a:ext cx="1188720" cy="292608"/>
          </a:xfrm>
          <a:prstGeom prst="rect">
            <a:avLst/>
          </a:prstGeom>
          <a:noFill/>
          <a:ln/>
        </p:spPr>
        <p:txBody>
          <a:bodyPr wrap="square" rtlCol="0" anchor="ctr"/>
          <a:lstStyle/>
          <a:p>
            <a:pPr marL="0" indent="0">
              <a:buNone/>
            </a:pPr>
            <a:r>
              <a:rPr lang="en-US" sz="1000" dirty="0">
                <a:solidFill>
                  <a:srgbClr val="546778"/>
                </a:solidFill>
                <a:latin typeface="Calibri" pitchFamily="34" charset="0"/>
                <a:ea typeface="Calibri" pitchFamily="34" charset="-122"/>
                <a:cs typeface="Calibri" pitchFamily="34" charset="-120"/>
              </a:rPr>
              <a:t>RMSE = 0.0002 g/cm³</a:t>
            </a:r>
            <a:endParaRPr lang="en-US" sz="1000" dirty="0"/>
          </a:p>
        </p:txBody>
      </p:sp>
      <p:sp>
        <p:nvSpPr>
          <p:cNvPr id="17" name="Text 14"/>
          <p:cNvSpPr/>
          <p:nvPr/>
        </p:nvSpPr>
        <p:spPr>
          <a:xfrm>
            <a:off x="365760" y="4651758"/>
            <a:ext cx="8412480" cy="274320"/>
          </a:xfrm>
          <a:prstGeom prst="rect">
            <a:avLst/>
          </a:prstGeom>
          <a:noFill/>
          <a:ln/>
        </p:spPr>
        <p:txBody>
          <a:bodyPr wrap="square" rtlCol="0" anchor="ctr"/>
          <a:lstStyle/>
          <a:p>
            <a:pPr marL="0" indent="0">
              <a:buNone/>
            </a:pPr>
            <a:r>
              <a:rPr lang="en-US" sz="950" i="1" dirty="0">
                <a:solidFill>
                  <a:srgbClr val="546778"/>
                </a:solidFill>
                <a:latin typeface="Calibri" pitchFamily="34" charset="0"/>
                <a:ea typeface="Calibri" pitchFamily="34" charset="-122"/>
                <a:cs typeface="Calibri" pitchFamily="34" charset="-120"/>
              </a:rPr>
              <a:t>Error bars = 95% predictive confidence intervals (posterior mean ± 2σ)</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a:extLst>
            <a:ext uri="{FF2B5EF4-FFF2-40B4-BE49-F238E27FC236}">
              <a16:creationId xmlns:a16="http://schemas.microsoft.com/office/drawing/2014/main" id="{70533D0B-AB2F-D3B4-B83A-F4F8C1BCAA9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A0E048D-4129-7B8C-4015-C055E6906E09}"/>
              </a:ext>
            </a:extLst>
          </p:cNvPr>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US"/>
          </a:p>
        </p:txBody>
      </p:sp>
      <p:sp>
        <p:nvSpPr>
          <p:cNvPr id="3" name="Text 1">
            <a:extLst>
              <a:ext uri="{FF2B5EF4-FFF2-40B4-BE49-F238E27FC236}">
                <a16:creationId xmlns:a16="http://schemas.microsoft.com/office/drawing/2014/main" id="{7DC3296C-7B92-E1E2-4112-C976C0872128}"/>
              </a:ext>
            </a:extLst>
          </p:cNvPr>
          <p:cNvSpPr/>
          <p:nvPr/>
        </p:nvSpPr>
        <p:spPr>
          <a:xfrm>
            <a:off x="320040" y="0"/>
            <a:ext cx="8503920" cy="658368"/>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5  |  MOGP — Predictive Performance</a:t>
            </a:r>
            <a:endParaRPr lang="en-US" sz="2000" dirty="0"/>
          </a:p>
        </p:txBody>
      </p:sp>
      <p:pic>
        <p:nvPicPr>
          <p:cNvPr id="18" name="Image 1" descr="preencoded.png">
            <a:extLst>
              <a:ext uri="{FF2B5EF4-FFF2-40B4-BE49-F238E27FC236}">
                <a16:creationId xmlns:a16="http://schemas.microsoft.com/office/drawing/2014/main" id="{62D2BA00-13C8-95A1-B726-00A1F86C90C2}"/>
              </a:ext>
            </a:extLst>
          </p:cNvPr>
          <p:cNvPicPr>
            <a:picLocks noChangeAspect="1"/>
          </p:cNvPicPr>
          <p:nvPr/>
        </p:nvPicPr>
        <p:blipFill>
          <a:blip r:embed="rId3"/>
          <a:stretch>
            <a:fillRect/>
          </a:stretch>
        </p:blipFill>
        <p:spPr>
          <a:xfrm>
            <a:off x="274320" y="762000"/>
            <a:ext cx="8595360" cy="4267200"/>
          </a:xfrm>
          <a:prstGeom prst="rect">
            <a:avLst/>
          </a:prstGeom>
        </p:spPr>
      </p:pic>
      <p:sp>
        <p:nvSpPr>
          <p:cNvPr id="19" name="Text 15">
            <a:extLst>
              <a:ext uri="{FF2B5EF4-FFF2-40B4-BE49-F238E27FC236}">
                <a16:creationId xmlns:a16="http://schemas.microsoft.com/office/drawing/2014/main" id="{C74A8ABD-30FD-F6FE-4FE4-5BE489B80B52}"/>
              </a:ext>
            </a:extLst>
          </p:cNvPr>
          <p:cNvSpPr/>
          <p:nvPr/>
        </p:nvSpPr>
        <p:spPr>
          <a:xfrm>
            <a:off x="365760" y="5047488"/>
            <a:ext cx="8412480" cy="73152"/>
          </a:xfrm>
          <a:prstGeom prst="rect">
            <a:avLst/>
          </a:prstGeom>
          <a:noFill/>
          <a:ln/>
        </p:spPr>
        <p:txBody>
          <a:bodyPr wrap="square" rtlCol="0" anchor="ctr"/>
          <a:lstStyle/>
          <a:p>
            <a:pPr marL="0" indent="0">
              <a:buNone/>
            </a:pPr>
            <a:r>
              <a:rPr lang="en-US" sz="850" i="1" dirty="0">
                <a:solidFill>
                  <a:srgbClr val="546778"/>
                </a:solidFill>
                <a:latin typeface="Calibri" pitchFamily="34" charset="0"/>
                <a:ea typeface="Calibri" pitchFamily="34" charset="-122"/>
                <a:cs typeface="Calibri" pitchFamily="34" charset="-120"/>
              </a:rPr>
              <a:t>▲ Row 1: GP posterior mean surfaces  |  Row 2: Predictive uncertainty (σ) — highest at sparse design regions</a:t>
            </a:r>
            <a:endParaRPr lang="en-US" sz="850" dirty="0"/>
          </a:p>
        </p:txBody>
      </p:sp>
    </p:spTree>
    <p:extLst>
      <p:ext uri="{BB962C8B-B14F-4D97-AF65-F5344CB8AC3E}">
        <p14:creationId xmlns:p14="http://schemas.microsoft.com/office/powerpoint/2010/main" val="2452919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20040" y="0"/>
            <a:ext cx="8503920" cy="658368"/>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6  |  Model Comparison</a:t>
            </a:r>
            <a:endParaRPr lang="en-US" sz="2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777240"/>
          <a:ext cx="8412480" cy="1645920"/>
        </p:xfrm>
        <a:graphic>
          <a:graphicData uri="http://schemas.openxmlformats.org/drawingml/2006/table">
            <a:tbl>
              <a:tblPr/>
              <a:tblGrid>
                <a:gridCol w="1402080">
                  <a:extLst>
                    <a:ext uri="{9D8B030D-6E8A-4147-A177-3AD203B41FA5}">
                      <a16:colId xmlns:a16="http://schemas.microsoft.com/office/drawing/2014/main" val="20000"/>
                    </a:ext>
                  </a:extLst>
                </a:gridCol>
                <a:gridCol w="1402080">
                  <a:extLst>
                    <a:ext uri="{9D8B030D-6E8A-4147-A177-3AD203B41FA5}">
                      <a16:colId xmlns:a16="http://schemas.microsoft.com/office/drawing/2014/main" val="20001"/>
                    </a:ext>
                  </a:extLst>
                </a:gridCol>
                <a:gridCol w="1402080">
                  <a:extLst>
                    <a:ext uri="{9D8B030D-6E8A-4147-A177-3AD203B41FA5}">
                      <a16:colId xmlns:a16="http://schemas.microsoft.com/office/drawing/2014/main" val="20002"/>
                    </a:ext>
                  </a:extLst>
                </a:gridCol>
                <a:gridCol w="1402080">
                  <a:extLst>
                    <a:ext uri="{9D8B030D-6E8A-4147-A177-3AD203B41FA5}">
                      <a16:colId xmlns:a16="http://schemas.microsoft.com/office/drawing/2014/main" val="20003"/>
                    </a:ext>
                  </a:extLst>
                </a:gridCol>
                <a:gridCol w="1402080">
                  <a:extLst>
                    <a:ext uri="{9D8B030D-6E8A-4147-A177-3AD203B41FA5}">
                      <a16:colId xmlns:a16="http://schemas.microsoft.com/office/drawing/2014/main" val="20004"/>
                    </a:ext>
                  </a:extLst>
                </a:gridCol>
                <a:gridCol w="1402080">
                  <a:extLst>
                    <a:ext uri="{9D8B030D-6E8A-4147-A177-3AD203B41FA5}">
                      <a16:colId xmlns:a16="http://schemas.microsoft.com/office/drawing/2014/main" val="20005"/>
                    </a:ext>
                  </a:extLst>
                </a:gridCol>
              </a:tblGrid>
              <a:tr h="41148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Output</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Quadratic LR  R²</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MOGP  R²</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Quad LR  RMSE</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MOGP  RMSE</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Winner</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411480">
                <a:tc>
                  <a:txBody>
                    <a:bodyPr/>
                    <a:lstStyle/>
                    <a:p>
                      <a:pPr marL="0" indent="0">
                        <a:buNone/>
                      </a:pPr>
                      <a:r>
                        <a:rPr lang="en-US" sz="1100" b="1" dirty="0">
                          <a:solidFill>
                            <a:srgbClr val="1A2A3A"/>
                          </a:solidFill>
                          <a:latin typeface="Calibri" pitchFamily="34" charset="0"/>
                          <a:ea typeface="Calibri" pitchFamily="34" charset="-122"/>
                          <a:cs typeface="Calibri" pitchFamily="34" charset="-120"/>
                        </a:rPr>
                        <a:t>Y₁  Ablation Rate</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0.925</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0.969</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1.053 µm/s</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0.674 µm/s</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100" b="1" dirty="0">
                          <a:solidFill>
                            <a:srgbClr val="0E6B8C"/>
                          </a:solidFill>
                          <a:latin typeface="Calibri" pitchFamily="34" charset="0"/>
                          <a:ea typeface="Calibri" pitchFamily="34" charset="-122"/>
                          <a:cs typeface="Calibri" pitchFamily="34" charset="-120"/>
                        </a:rPr>
                        <a:t>MOGP ✓</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extLst>
                  <a:ext uri="{0D108BD9-81ED-4DB2-BD59-A6C34878D82A}">
                    <a16:rowId xmlns:a16="http://schemas.microsoft.com/office/drawing/2014/main" val="10001"/>
                  </a:ext>
                </a:extLst>
              </a:tr>
              <a:tr h="411480">
                <a:tc>
                  <a:txBody>
                    <a:bodyPr/>
                    <a:lstStyle/>
                    <a:p>
                      <a:pPr marL="0" indent="0">
                        <a:buNone/>
                      </a:pPr>
                      <a:r>
                        <a:rPr lang="en-US" sz="1100" b="1" dirty="0">
                          <a:solidFill>
                            <a:srgbClr val="1A2A3A"/>
                          </a:solidFill>
                          <a:latin typeface="Calibri" pitchFamily="34" charset="0"/>
                          <a:ea typeface="Calibri" pitchFamily="34" charset="-122"/>
                          <a:cs typeface="Calibri" pitchFamily="34" charset="-120"/>
                        </a:rPr>
                        <a:t>Y₂  Backside Temp</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0.749</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0.696</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9.035 °C</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9.925 °C</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100" b="1" dirty="0">
                          <a:solidFill>
                            <a:srgbClr val="E6A817"/>
                          </a:solidFill>
                          <a:latin typeface="Calibri" pitchFamily="34" charset="0"/>
                          <a:ea typeface="Calibri" pitchFamily="34" charset="-122"/>
                          <a:cs typeface="Calibri" pitchFamily="34" charset="-120"/>
                        </a:rPr>
                        <a:t>LR ✓</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a:txBody>
                    <a:bodyPr/>
                    <a:lstStyle/>
                    <a:p>
                      <a:pPr marL="0" indent="0">
                        <a:buNone/>
                      </a:pPr>
                      <a:r>
                        <a:rPr lang="en-US" sz="1100" b="1" dirty="0">
                          <a:solidFill>
                            <a:srgbClr val="1A2A3A"/>
                          </a:solidFill>
                          <a:latin typeface="Calibri" pitchFamily="34" charset="0"/>
                          <a:ea typeface="Calibri" pitchFamily="34" charset="-122"/>
                          <a:cs typeface="Calibri" pitchFamily="34" charset="-120"/>
                        </a:rPr>
                        <a:t>Y₃  Density</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0.9999</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1.000</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0.0002</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0.0002</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100" b="1" dirty="0">
                          <a:solidFill>
                            <a:srgbClr val="1A2A3A"/>
                          </a:solidFill>
                          <a:latin typeface="Calibri" pitchFamily="34" charset="0"/>
                          <a:ea typeface="Calibri" pitchFamily="34" charset="-122"/>
                          <a:cs typeface="Calibri" pitchFamily="34" charset="-120"/>
                        </a:rPr>
                        <a:t>Tie</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extLst>
                  <a:ext uri="{0D108BD9-81ED-4DB2-BD59-A6C34878D82A}">
                    <a16:rowId xmlns:a16="http://schemas.microsoft.com/office/drawing/2014/main" val="10003"/>
                  </a:ext>
                </a:extLst>
              </a:tr>
            </a:tbl>
          </a:graphicData>
        </a:graphic>
      </p:graphicFrame>
      <p:sp>
        <p:nvSpPr>
          <p:cNvPr id="5" name="Shape 2"/>
          <p:cNvSpPr/>
          <p:nvPr/>
        </p:nvSpPr>
        <p:spPr>
          <a:xfrm>
            <a:off x="365760" y="2684460"/>
            <a:ext cx="4069080" cy="2299020"/>
          </a:xfrm>
          <a:prstGeom prst="roundRect">
            <a:avLst>
              <a:gd name="adj" fmla="val 4211"/>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6" name="Shape 3"/>
          <p:cNvSpPr/>
          <p:nvPr/>
        </p:nvSpPr>
        <p:spPr>
          <a:xfrm>
            <a:off x="365760" y="2684460"/>
            <a:ext cx="4069080" cy="457200"/>
          </a:xfrm>
          <a:prstGeom prst="roundRect">
            <a:avLst>
              <a:gd name="adj" fmla="val 24000"/>
            </a:avLst>
          </a:prstGeom>
          <a:solidFill>
            <a:srgbClr val="E6A817"/>
          </a:solidFill>
          <a:ln/>
        </p:spPr>
        <p:txBody>
          <a:bodyPr/>
          <a:lstStyle/>
          <a:p>
            <a:endParaRPr lang="en-US"/>
          </a:p>
        </p:txBody>
      </p:sp>
      <p:sp>
        <p:nvSpPr>
          <p:cNvPr id="7" name="Text 4"/>
          <p:cNvSpPr/>
          <p:nvPr/>
        </p:nvSpPr>
        <p:spPr>
          <a:xfrm>
            <a:off x="502920" y="2702748"/>
            <a:ext cx="3840480" cy="420624"/>
          </a:xfrm>
          <a:prstGeom prst="rect">
            <a:avLst/>
          </a:prstGeom>
          <a:noFill/>
          <a:ln/>
        </p:spPr>
        <p:txBody>
          <a:bodyPr wrap="square" rtlCol="0" anchor="ctr"/>
          <a:lstStyle/>
          <a:p>
            <a:pPr marL="0" indent="0">
              <a:buNone/>
            </a:pPr>
            <a:r>
              <a:rPr lang="en-US" sz="1150" b="1" dirty="0">
                <a:solidFill>
                  <a:srgbClr val="FFFFFF"/>
                </a:solidFill>
                <a:latin typeface="Cambria" pitchFamily="34" charset="0"/>
                <a:ea typeface="Cambria" pitchFamily="34" charset="-122"/>
                <a:cs typeface="Cambria" pitchFamily="34" charset="-120"/>
              </a:rPr>
              <a:t>What Linear Regression offers</a:t>
            </a:r>
            <a:endParaRPr lang="en-US" sz="1150" dirty="0"/>
          </a:p>
        </p:txBody>
      </p:sp>
      <p:sp>
        <p:nvSpPr>
          <p:cNvPr id="8" name="Text 5"/>
          <p:cNvSpPr/>
          <p:nvPr/>
        </p:nvSpPr>
        <p:spPr>
          <a:xfrm>
            <a:off x="502920" y="2907792"/>
            <a:ext cx="3840480" cy="2011680"/>
          </a:xfrm>
          <a:prstGeom prst="rect">
            <a:avLst/>
          </a:prstGeom>
          <a:noFill/>
          <a:ln/>
        </p:spPr>
        <p:txBody>
          <a:bodyPr wrap="square" rtlCol="0" anchor="ctr"/>
          <a:lstStyle/>
          <a:p>
            <a:pPr marL="342900" indent="-342900">
              <a:buSzPct val="100000"/>
              <a:buChar char="•"/>
            </a:pPr>
            <a:r>
              <a:rPr lang="en-US" sz="1050" dirty="0">
                <a:solidFill>
                  <a:srgbClr val="1A2A3A"/>
                </a:solidFill>
                <a:latin typeface="Calibri" pitchFamily="34" charset="0"/>
                <a:ea typeface="Calibri" pitchFamily="34" charset="-122"/>
                <a:cs typeface="Calibri" pitchFamily="34" charset="-120"/>
              </a:rPr>
              <a:t>Explicit analytical coefficients — easy physical interpretation</a:t>
            </a:r>
            <a:endParaRPr lang="en-US" sz="1050" dirty="0"/>
          </a:p>
          <a:p>
            <a:pPr marL="342900" indent="-342900">
              <a:buSzPct val="100000"/>
              <a:buChar char="•"/>
            </a:pPr>
            <a:r>
              <a:rPr lang="en-US" sz="1050" dirty="0">
                <a:solidFill>
                  <a:srgbClr val="1A2A3A"/>
                </a:solidFill>
                <a:latin typeface="Calibri" pitchFamily="34" charset="0"/>
                <a:ea typeface="Calibri" pitchFamily="34" charset="-122"/>
                <a:cs typeface="Calibri" pitchFamily="34" charset="-120"/>
              </a:rPr>
              <a:t>Computationally cheap; works well with 42 data points</a:t>
            </a:r>
            <a:endParaRPr lang="en-US" sz="1050" dirty="0"/>
          </a:p>
          <a:p>
            <a:pPr marL="342900" indent="-342900">
              <a:buSzPct val="100000"/>
              <a:buChar char="•"/>
            </a:pPr>
            <a:r>
              <a:rPr lang="en-US" sz="1050" dirty="0">
                <a:solidFill>
                  <a:srgbClr val="1A2A3A"/>
                </a:solidFill>
                <a:latin typeface="Calibri" pitchFamily="34" charset="0"/>
                <a:ea typeface="Calibri" pitchFamily="34" charset="-122"/>
                <a:cs typeface="Calibri" pitchFamily="34" charset="-120"/>
              </a:rPr>
              <a:t>Better for Y₂ on training data (lower RMSE = 9.03 vs 9.93)</a:t>
            </a:r>
            <a:endParaRPr lang="en-US" sz="1050" dirty="0"/>
          </a:p>
          <a:p>
            <a:pPr marL="342900" indent="-342900">
              <a:buSzPct val="100000"/>
              <a:buChar char="•"/>
            </a:pPr>
            <a:r>
              <a:rPr lang="en-US" sz="1050" dirty="0">
                <a:solidFill>
                  <a:srgbClr val="1A2A3A"/>
                </a:solidFill>
                <a:latin typeface="Calibri" pitchFamily="34" charset="0"/>
                <a:ea typeface="Calibri" pitchFamily="34" charset="-122"/>
                <a:cs typeface="Calibri" pitchFamily="34" charset="-120"/>
              </a:rPr>
              <a:t>No uncertainty quantification beyond confidence intervals</a:t>
            </a:r>
            <a:endParaRPr lang="en-US" sz="1050" dirty="0"/>
          </a:p>
        </p:txBody>
      </p:sp>
      <p:sp>
        <p:nvSpPr>
          <p:cNvPr id="9" name="Shape 6"/>
          <p:cNvSpPr/>
          <p:nvPr/>
        </p:nvSpPr>
        <p:spPr>
          <a:xfrm>
            <a:off x="4709160" y="2684460"/>
            <a:ext cx="4069080" cy="2299020"/>
          </a:xfrm>
          <a:prstGeom prst="roundRect">
            <a:avLst>
              <a:gd name="adj" fmla="val 4211"/>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10" name="Shape 7"/>
          <p:cNvSpPr/>
          <p:nvPr/>
        </p:nvSpPr>
        <p:spPr>
          <a:xfrm>
            <a:off x="4709160" y="2684460"/>
            <a:ext cx="4069080" cy="457200"/>
          </a:xfrm>
          <a:prstGeom prst="roundRect">
            <a:avLst>
              <a:gd name="adj" fmla="val 24000"/>
            </a:avLst>
          </a:prstGeom>
          <a:solidFill>
            <a:srgbClr val="0E6B8C"/>
          </a:solidFill>
          <a:ln/>
        </p:spPr>
        <p:txBody>
          <a:bodyPr/>
          <a:lstStyle/>
          <a:p>
            <a:endParaRPr lang="en-US"/>
          </a:p>
        </p:txBody>
      </p:sp>
      <p:sp>
        <p:nvSpPr>
          <p:cNvPr id="11" name="Text 8"/>
          <p:cNvSpPr/>
          <p:nvPr/>
        </p:nvSpPr>
        <p:spPr>
          <a:xfrm>
            <a:off x="4846320" y="2702748"/>
            <a:ext cx="3840480" cy="420624"/>
          </a:xfrm>
          <a:prstGeom prst="rect">
            <a:avLst/>
          </a:prstGeom>
          <a:noFill/>
          <a:ln/>
        </p:spPr>
        <p:txBody>
          <a:bodyPr wrap="square" rtlCol="0" anchor="ctr"/>
          <a:lstStyle/>
          <a:p>
            <a:pPr marL="0" indent="0">
              <a:buNone/>
            </a:pPr>
            <a:r>
              <a:rPr lang="en-US" sz="1150" b="1" dirty="0">
                <a:solidFill>
                  <a:srgbClr val="FFFFFF"/>
                </a:solidFill>
                <a:latin typeface="Cambria" pitchFamily="34" charset="0"/>
                <a:ea typeface="Cambria" pitchFamily="34" charset="-122"/>
                <a:cs typeface="Cambria" pitchFamily="34" charset="-120"/>
              </a:rPr>
              <a:t>What Heteroscedastic MOGP adds</a:t>
            </a:r>
            <a:endParaRPr lang="en-US" sz="1150" dirty="0"/>
          </a:p>
        </p:txBody>
      </p:sp>
      <p:sp>
        <p:nvSpPr>
          <p:cNvPr id="4" name="Text 9"/>
          <p:cNvSpPr/>
          <p:nvPr/>
        </p:nvSpPr>
        <p:spPr>
          <a:xfrm>
            <a:off x="4846320" y="2907792"/>
            <a:ext cx="3840480" cy="2011680"/>
          </a:xfrm>
          <a:prstGeom prst="rect">
            <a:avLst/>
          </a:prstGeom>
          <a:noFill/>
          <a:ln/>
        </p:spPr>
        <p:txBody>
          <a:bodyPr wrap="square" rtlCol="0" anchor="ctr"/>
          <a:lstStyle/>
          <a:p>
            <a:pPr marL="342900" indent="-342900">
              <a:buSzPct val="100000"/>
              <a:buChar char="•"/>
            </a:pPr>
            <a:r>
              <a:rPr lang="en-US" sz="1050" dirty="0">
                <a:solidFill>
                  <a:srgbClr val="1A2A3A"/>
                </a:solidFill>
                <a:latin typeface="Calibri" pitchFamily="34" charset="0"/>
                <a:ea typeface="Calibri" pitchFamily="34" charset="-122"/>
                <a:cs typeface="Calibri" pitchFamily="34" charset="-120"/>
              </a:rPr>
              <a:t>Full predictive distribution (mean + variance) at any X</a:t>
            </a:r>
            <a:endParaRPr lang="en-US" sz="1050" dirty="0"/>
          </a:p>
          <a:p>
            <a:pPr marL="342900" indent="-342900">
              <a:buSzPct val="100000"/>
              <a:buChar char="•"/>
            </a:pPr>
            <a:r>
              <a:rPr lang="en-US" sz="1050" dirty="0">
                <a:solidFill>
                  <a:srgbClr val="1A2A3A"/>
                </a:solidFill>
                <a:latin typeface="Calibri" pitchFamily="34" charset="0"/>
                <a:ea typeface="Calibri" pitchFamily="34" charset="-122"/>
                <a:cs typeface="Calibri" pitchFamily="34" charset="-120"/>
              </a:rPr>
              <a:t>Joint modelling captures inter-task correlations automatically</a:t>
            </a:r>
            <a:endParaRPr lang="en-US" sz="1050" dirty="0"/>
          </a:p>
          <a:p>
            <a:pPr marL="342900" indent="-342900">
              <a:buSzPct val="100000"/>
              <a:buChar char="•"/>
            </a:pPr>
            <a:r>
              <a:rPr lang="en-US" sz="1050" dirty="0">
                <a:solidFill>
                  <a:srgbClr val="1A2A3A"/>
                </a:solidFill>
                <a:latin typeface="Calibri" pitchFamily="34" charset="0"/>
                <a:ea typeface="Calibri" pitchFamily="34" charset="-122"/>
                <a:cs typeface="Calibri" pitchFamily="34" charset="-120"/>
              </a:rPr>
              <a:t>Different noise per output — physically motivated</a:t>
            </a:r>
            <a:endParaRPr lang="en-US" sz="1050" dirty="0"/>
          </a:p>
          <a:p>
            <a:pPr marL="342900" indent="-342900">
              <a:buSzPct val="100000"/>
              <a:buChar char="•"/>
            </a:pPr>
            <a:r>
              <a:rPr lang="en-US" sz="1050" dirty="0">
                <a:solidFill>
                  <a:srgbClr val="1A2A3A"/>
                </a:solidFill>
                <a:latin typeface="Calibri" pitchFamily="34" charset="0"/>
                <a:ea typeface="Calibri" pitchFamily="34" charset="-122"/>
                <a:cs typeface="Calibri" pitchFamily="34" charset="-120"/>
              </a:rPr>
              <a:t>Better for Y₁ (R²=0.969 vs 0.925); spatial uncertainty maps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20040" y="0"/>
            <a:ext cx="8503920" cy="658368"/>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7  |  Discussion</a:t>
            </a:r>
            <a:endParaRPr lang="en-US" sz="2000" dirty="0"/>
          </a:p>
        </p:txBody>
      </p:sp>
      <p:sp>
        <p:nvSpPr>
          <p:cNvPr id="4" name="Shape 2"/>
          <p:cNvSpPr/>
          <p:nvPr/>
        </p:nvSpPr>
        <p:spPr>
          <a:xfrm>
            <a:off x="365760" y="777240"/>
            <a:ext cx="4069080" cy="2011680"/>
          </a:xfrm>
          <a:prstGeom prst="roundRect">
            <a:avLst>
              <a:gd name="adj" fmla="val 5455"/>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5" name="Text 3"/>
          <p:cNvSpPr/>
          <p:nvPr/>
        </p:nvSpPr>
        <p:spPr>
          <a:xfrm>
            <a:off x="502920" y="868680"/>
            <a:ext cx="3840480" cy="457200"/>
          </a:xfrm>
          <a:prstGeom prst="rect">
            <a:avLst/>
          </a:prstGeom>
          <a:noFill/>
          <a:ln/>
        </p:spPr>
        <p:txBody>
          <a:bodyPr wrap="square"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  Physical Interpretation</a:t>
            </a:r>
            <a:endParaRPr lang="en-US" sz="1200" dirty="0"/>
          </a:p>
        </p:txBody>
      </p:sp>
      <p:sp>
        <p:nvSpPr>
          <p:cNvPr id="6" name="Text 4"/>
          <p:cNvSpPr/>
          <p:nvPr/>
        </p:nvSpPr>
        <p:spPr>
          <a:xfrm>
            <a:off x="502920" y="1344168"/>
            <a:ext cx="3840480" cy="1371600"/>
          </a:xfrm>
          <a:prstGeom prst="rect">
            <a:avLst/>
          </a:prstGeom>
          <a:noFill/>
          <a:ln/>
        </p:spPr>
        <p:txBody>
          <a:bodyPr wrap="square" rtlCol="0" anchor="ctr"/>
          <a:lstStyle/>
          <a:p>
            <a:pPr marL="0" indent="0">
              <a:buNone/>
            </a:pPr>
            <a:r>
              <a:rPr lang="en-US" sz="950" dirty="0">
                <a:solidFill>
                  <a:srgbClr val="1A2A3A"/>
                </a:solidFill>
                <a:latin typeface="Calibri" pitchFamily="34" charset="0"/>
                <a:ea typeface="Calibri" pitchFamily="34" charset="-122"/>
                <a:cs typeface="Calibri" pitchFamily="34" charset="-120"/>
              </a:rPr>
              <a:t>Carbon black (X₁) is the primary ablation-control lever. Higher loading increases char density, which mechanically resists ablation and reduces heat penetration. The nonlinear (quadratic) decay in ablation rate suggests saturation beyond ~12.5 wt% — additional carbon offers diminishing returns.</a:t>
            </a:r>
            <a:endParaRPr lang="en-US" sz="950" dirty="0"/>
          </a:p>
        </p:txBody>
      </p:sp>
      <p:sp>
        <p:nvSpPr>
          <p:cNvPr id="7" name="Shape 5"/>
          <p:cNvSpPr/>
          <p:nvPr/>
        </p:nvSpPr>
        <p:spPr>
          <a:xfrm>
            <a:off x="4709160" y="777240"/>
            <a:ext cx="4069080" cy="2011680"/>
          </a:xfrm>
          <a:prstGeom prst="roundRect">
            <a:avLst>
              <a:gd name="adj" fmla="val 5455"/>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8" name="Text 6"/>
          <p:cNvSpPr/>
          <p:nvPr/>
        </p:nvSpPr>
        <p:spPr>
          <a:xfrm>
            <a:off x="4846320" y="868680"/>
            <a:ext cx="3840480" cy="457200"/>
          </a:xfrm>
          <a:prstGeom prst="rect">
            <a:avLst/>
          </a:prstGeom>
          <a:noFill/>
          <a:ln/>
        </p:spPr>
        <p:txBody>
          <a:bodyPr wrap="square"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  Temperature Behaviour</a:t>
            </a:r>
            <a:endParaRPr lang="en-US" sz="1200" dirty="0"/>
          </a:p>
        </p:txBody>
      </p:sp>
      <p:sp>
        <p:nvSpPr>
          <p:cNvPr id="9" name="Text 7"/>
          <p:cNvSpPr/>
          <p:nvPr/>
        </p:nvSpPr>
        <p:spPr>
          <a:xfrm>
            <a:off x="4846320" y="1344168"/>
            <a:ext cx="3840480" cy="1371600"/>
          </a:xfrm>
          <a:prstGeom prst="rect">
            <a:avLst/>
          </a:prstGeom>
          <a:noFill/>
          <a:ln/>
        </p:spPr>
        <p:txBody>
          <a:bodyPr wrap="square" rtlCol="0" anchor="ctr"/>
          <a:lstStyle/>
          <a:p>
            <a:pPr marL="0" indent="0">
              <a:buNone/>
            </a:pPr>
            <a:r>
              <a:rPr lang="en-US" sz="950" dirty="0">
                <a:solidFill>
                  <a:srgbClr val="1A2A3A"/>
                </a:solidFill>
                <a:latin typeface="Calibri" pitchFamily="34" charset="0"/>
                <a:ea typeface="Calibri" pitchFamily="34" charset="-122"/>
                <a:cs typeface="Calibri" pitchFamily="34" charset="-120"/>
              </a:rPr>
              <a:t>Backside temperature shows the highest experimental variance (R²=0.75). The negative interaction of X₁ and backside temperature suggests that carbon-rich chars act as effective insulators. Fe-rich regolith at higher levels reduces temperature, potentially through a particulate heat-sink mechanism.</a:t>
            </a:r>
            <a:endParaRPr lang="en-US" sz="950" dirty="0"/>
          </a:p>
        </p:txBody>
      </p:sp>
      <p:sp>
        <p:nvSpPr>
          <p:cNvPr id="10" name="Shape 8"/>
          <p:cNvSpPr/>
          <p:nvPr/>
        </p:nvSpPr>
        <p:spPr>
          <a:xfrm>
            <a:off x="365760" y="2926080"/>
            <a:ext cx="4069080" cy="2011680"/>
          </a:xfrm>
          <a:prstGeom prst="roundRect">
            <a:avLst>
              <a:gd name="adj" fmla="val 5455"/>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11" name="Text 9"/>
          <p:cNvSpPr/>
          <p:nvPr/>
        </p:nvSpPr>
        <p:spPr>
          <a:xfrm>
            <a:off x="502920" y="3017520"/>
            <a:ext cx="3840480" cy="457200"/>
          </a:xfrm>
          <a:prstGeom prst="rect">
            <a:avLst/>
          </a:prstGeom>
          <a:noFill/>
          <a:ln/>
        </p:spPr>
        <p:txBody>
          <a:bodyPr wrap="square"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  Design Adequacy</a:t>
            </a:r>
            <a:endParaRPr lang="en-US" sz="1200" dirty="0"/>
          </a:p>
        </p:txBody>
      </p:sp>
      <p:sp>
        <p:nvSpPr>
          <p:cNvPr id="12" name="Text 10"/>
          <p:cNvSpPr/>
          <p:nvPr/>
        </p:nvSpPr>
        <p:spPr>
          <a:xfrm>
            <a:off x="502920" y="3493008"/>
            <a:ext cx="3840480" cy="1371600"/>
          </a:xfrm>
          <a:prstGeom prst="rect">
            <a:avLst/>
          </a:prstGeom>
          <a:noFill/>
          <a:ln/>
        </p:spPr>
        <p:txBody>
          <a:bodyPr wrap="square" rtlCol="0" anchor="ctr"/>
          <a:lstStyle/>
          <a:p>
            <a:pPr marL="0" indent="0">
              <a:buNone/>
            </a:pPr>
            <a:r>
              <a:rPr lang="en-US" sz="950" dirty="0">
                <a:solidFill>
                  <a:srgbClr val="1A2A3A"/>
                </a:solidFill>
                <a:latin typeface="Calibri" pitchFamily="34" charset="0"/>
                <a:ea typeface="Calibri" pitchFamily="34" charset="-122"/>
                <a:cs typeface="Calibri" pitchFamily="34" charset="-120"/>
              </a:rPr>
              <a:t>With only 42 runs and a space-filling design, the experiment is efficient but not fully factorial. The near-orthogonality (κ=75.9) confirms that factor effects are estimable without confounding. However, the sparse coverage at high X₁ × high X₂ is a limitation for extrapolation in that region.</a:t>
            </a:r>
            <a:endParaRPr lang="en-US" sz="950" dirty="0"/>
          </a:p>
        </p:txBody>
      </p:sp>
      <p:sp>
        <p:nvSpPr>
          <p:cNvPr id="13" name="Shape 11"/>
          <p:cNvSpPr/>
          <p:nvPr/>
        </p:nvSpPr>
        <p:spPr>
          <a:xfrm>
            <a:off x="4709160" y="2926080"/>
            <a:ext cx="4069080" cy="2011680"/>
          </a:xfrm>
          <a:prstGeom prst="roundRect">
            <a:avLst>
              <a:gd name="adj" fmla="val 5455"/>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14" name="Text 12"/>
          <p:cNvSpPr/>
          <p:nvPr/>
        </p:nvSpPr>
        <p:spPr>
          <a:xfrm>
            <a:off x="4846320" y="3017520"/>
            <a:ext cx="3840480" cy="457200"/>
          </a:xfrm>
          <a:prstGeom prst="rect">
            <a:avLst/>
          </a:prstGeom>
          <a:noFill/>
          <a:ln/>
        </p:spPr>
        <p:txBody>
          <a:bodyPr wrap="square"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  MOGP Value Proposition</a:t>
            </a:r>
            <a:endParaRPr lang="en-US" sz="1200" dirty="0"/>
          </a:p>
        </p:txBody>
      </p:sp>
      <p:sp>
        <p:nvSpPr>
          <p:cNvPr id="15" name="Text 13"/>
          <p:cNvSpPr/>
          <p:nvPr/>
        </p:nvSpPr>
        <p:spPr>
          <a:xfrm>
            <a:off x="4846320" y="3493008"/>
            <a:ext cx="3840480" cy="1371600"/>
          </a:xfrm>
          <a:prstGeom prst="rect">
            <a:avLst/>
          </a:prstGeom>
          <a:noFill/>
          <a:ln/>
        </p:spPr>
        <p:txBody>
          <a:bodyPr wrap="square" rtlCol="0" anchor="ctr"/>
          <a:lstStyle/>
          <a:p>
            <a:pPr marL="0" indent="0">
              <a:buNone/>
            </a:pPr>
            <a:r>
              <a:rPr lang="en-US" sz="950" dirty="0">
                <a:solidFill>
                  <a:srgbClr val="1A2A3A"/>
                </a:solidFill>
                <a:latin typeface="Calibri" pitchFamily="34" charset="0"/>
                <a:ea typeface="Calibri" pitchFamily="34" charset="-122"/>
                <a:cs typeface="Calibri" pitchFamily="34" charset="-120"/>
              </a:rPr>
              <a:t>The GP's inter-task correlation matrix (B) recovers the physically expected negative Y₁–Y₃ relationship (–0.60) automatically from data, without domain knowledge injection. The heteroscedastic noise model correctly identifies Y₃ (density) as essentially noise-free while allowing higher noise for Y₁ and Y₂.</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5943600" y="-457200"/>
            <a:ext cx="5486400" cy="5486400"/>
          </a:xfrm>
          <a:prstGeom prst="ellipse">
            <a:avLst/>
          </a:prstGeom>
          <a:solidFill>
            <a:srgbClr val="1B3A5C">
              <a:alpha val="40000"/>
            </a:srgbClr>
          </a:solidFill>
          <a:ln w="12700">
            <a:solidFill>
              <a:srgbClr val="1B3A5C">
                <a:alpha val="40000"/>
              </a:srgbClr>
            </a:solidFill>
            <a:prstDash val="solid"/>
          </a:ln>
        </p:spPr>
        <p:txBody>
          <a:bodyPr/>
          <a:lstStyle/>
          <a:p>
            <a:endParaRPr lang="en-US"/>
          </a:p>
        </p:txBody>
      </p:sp>
      <p:sp>
        <p:nvSpPr>
          <p:cNvPr id="3" name="Text 1"/>
          <p:cNvSpPr/>
          <p:nvPr/>
        </p:nvSpPr>
        <p:spPr>
          <a:xfrm>
            <a:off x="457200" y="274320"/>
            <a:ext cx="5486400" cy="685800"/>
          </a:xfrm>
          <a:prstGeom prst="rect">
            <a:avLst/>
          </a:prstGeom>
          <a:noFill/>
          <a:ln/>
        </p:spPr>
        <p:txBody>
          <a:bodyPr wrap="square"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Conclusions</a:t>
            </a:r>
            <a:endParaRPr lang="en-US" sz="3600" dirty="0"/>
          </a:p>
        </p:txBody>
      </p:sp>
      <p:sp>
        <p:nvSpPr>
          <p:cNvPr id="4" name="Shape 2"/>
          <p:cNvSpPr/>
          <p:nvPr/>
        </p:nvSpPr>
        <p:spPr>
          <a:xfrm>
            <a:off x="457200" y="1005840"/>
            <a:ext cx="2286000" cy="54864"/>
          </a:xfrm>
          <a:prstGeom prst="rect">
            <a:avLst/>
          </a:prstGeom>
          <a:solidFill>
            <a:srgbClr val="E6A817"/>
          </a:solidFill>
          <a:ln w="12700">
            <a:solidFill>
              <a:srgbClr val="E6A817"/>
            </a:solidFill>
            <a:prstDash val="solid"/>
          </a:ln>
        </p:spPr>
        <p:txBody>
          <a:bodyPr/>
          <a:lstStyle/>
          <a:p>
            <a:endParaRPr lang="en-US"/>
          </a:p>
        </p:txBody>
      </p:sp>
      <p:sp>
        <p:nvSpPr>
          <p:cNvPr id="5" name="Shape 3"/>
          <p:cNvSpPr/>
          <p:nvPr/>
        </p:nvSpPr>
        <p:spPr>
          <a:xfrm>
            <a:off x="457200" y="1243584"/>
            <a:ext cx="402336" cy="402336"/>
          </a:xfrm>
          <a:prstGeom prst="ellipse">
            <a:avLst/>
          </a:prstGeom>
          <a:solidFill>
            <a:srgbClr val="0E6B8C"/>
          </a:solidFill>
          <a:ln w="12700">
            <a:solidFill>
              <a:srgbClr val="0E6B8C"/>
            </a:solidFill>
            <a:prstDash val="solid"/>
          </a:ln>
        </p:spPr>
        <p:txBody>
          <a:bodyPr/>
          <a:lstStyle/>
          <a:p>
            <a:endParaRPr lang="en-US"/>
          </a:p>
        </p:txBody>
      </p:sp>
      <p:sp>
        <p:nvSpPr>
          <p:cNvPr id="6" name="Text 4"/>
          <p:cNvSpPr/>
          <p:nvPr/>
        </p:nvSpPr>
        <p:spPr>
          <a:xfrm>
            <a:off x="457200" y="1243584"/>
            <a:ext cx="402336" cy="402336"/>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01</a:t>
            </a:r>
            <a:endParaRPr lang="en-US" sz="1000" dirty="0"/>
          </a:p>
        </p:txBody>
      </p:sp>
      <p:sp>
        <p:nvSpPr>
          <p:cNvPr id="7" name="Text 5"/>
          <p:cNvSpPr/>
          <p:nvPr/>
        </p:nvSpPr>
        <p:spPr>
          <a:xfrm>
            <a:off x="960120" y="1170432"/>
            <a:ext cx="7589520" cy="713232"/>
          </a:xfrm>
          <a:prstGeom prst="rect">
            <a:avLst/>
          </a:prstGeom>
          <a:noFill/>
          <a:ln/>
        </p:spPr>
        <p:txBody>
          <a:bodyPr wrap="square" rtlCol="0" anchor="ctr"/>
          <a:lstStyle/>
          <a:p>
            <a:pPr marL="0" indent="0">
              <a:buNone/>
            </a:pPr>
            <a:r>
              <a:rPr lang="en-US" sz="1050" dirty="0">
                <a:solidFill>
                  <a:srgbClr val="C8DCF0"/>
                </a:solidFill>
                <a:latin typeface="Calibri" pitchFamily="34" charset="0"/>
                <a:ea typeface="Calibri" pitchFamily="34" charset="-122"/>
                <a:cs typeface="Calibri" pitchFamily="34" charset="-120"/>
              </a:rPr>
              <a:t>Carbon black weight fraction (X₁) is the dominant design parameter, controlling ablation rate with strong statistical significance (F = 217, p &lt; 0.001) and a nonlinear saturating effect above 12.5 wt%.</a:t>
            </a:r>
            <a:endParaRPr lang="en-US" sz="1050" dirty="0"/>
          </a:p>
        </p:txBody>
      </p:sp>
      <p:sp>
        <p:nvSpPr>
          <p:cNvPr id="8" name="Shape 6"/>
          <p:cNvSpPr/>
          <p:nvPr/>
        </p:nvSpPr>
        <p:spPr>
          <a:xfrm>
            <a:off x="457200" y="2011680"/>
            <a:ext cx="402336" cy="402336"/>
          </a:xfrm>
          <a:prstGeom prst="ellipse">
            <a:avLst/>
          </a:prstGeom>
          <a:solidFill>
            <a:srgbClr val="0E6B8C"/>
          </a:solidFill>
          <a:ln w="12700">
            <a:solidFill>
              <a:srgbClr val="0E6B8C"/>
            </a:solidFill>
            <a:prstDash val="solid"/>
          </a:ln>
        </p:spPr>
        <p:txBody>
          <a:bodyPr/>
          <a:lstStyle/>
          <a:p>
            <a:endParaRPr lang="en-US"/>
          </a:p>
        </p:txBody>
      </p:sp>
      <p:sp>
        <p:nvSpPr>
          <p:cNvPr id="9" name="Text 7"/>
          <p:cNvSpPr/>
          <p:nvPr/>
        </p:nvSpPr>
        <p:spPr>
          <a:xfrm>
            <a:off x="457200" y="2011680"/>
            <a:ext cx="402336" cy="402336"/>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10" name="Text 8"/>
          <p:cNvSpPr/>
          <p:nvPr/>
        </p:nvSpPr>
        <p:spPr>
          <a:xfrm>
            <a:off x="960120" y="1938528"/>
            <a:ext cx="7589520" cy="713232"/>
          </a:xfrm>
          <a:prstGeom prst="rect">
            <a:avLst/>
          </a:prstGeom>
          <a:noFill/>
          <a:ln/>
        </p:spPr>
        <p:txBody>
          <a:bodyPr wrap="square" rtlCol="0" anchor="ctr"/>
          <a:lstStyle/>
          <a:p>
            <a:pPr marL="0" indent="0">
              <a:buNone/>
            </a:pPr>
            <a:r>
              <a:rPr lang="en-US" sz="1050" dirty="0">
                <a:solidFill>
                  <a:srgbClr val="C8DCF0"/>
                </a:solidFill>
                <a:latin typeface="Calibri" pitchFamily="34" charset="0"/>
                <a:ea typeface="Calibri" pitchFamily="34" charset="-122"/>
                <a:cs typeface="Calibri" pitchFamily="34" charset="-120"/>
              </a:rPr>
              <a:t>Fe-rich regolith (X₂) provides a secondary, tunable handle on all three responses. Its negative effect on backside temperature suggests a particulate insulation or heat-sink mechanism.</a:t>
            </a:r>
            <a:endParaRPr lang="en-US" sz="1050" dirty="0"/>
          </a:p>
        </p:txBody>
      </p:sp>
      <p:sp>
        <p:nvSpPr>
          <p:cNvPr id="11" name="Shape 9"/>
          <p:cNvSpPr/>
          <p:nvPr/>
        </p:nvSpPr>
        <p:spPr>
          <a:xfrm>
            <a:off x="457200" y="2779776"/>
            <a:ext cx="402336" cy="402336"/>
          </a:xfrm>
          <a:prstGeom prst="ellipse">
            <a:avLst/>
          </a:prstGeom>
          <a:solidFill>
            <a:srgbClr val="0E6B8C"/>
          </a:solidFill>
          <a:ln w="12700">
            <a:solidFill>
              <a:srgbClr val="0E6B8C"/>
            </a:solidFill>
            <a:prstDash val="solid"/>
          </a:ln>
        </p:spPr>
        <p:txBody>
          <a:bodyPr/>
          <a:lstStyle/>
          <a:p>
            <a:endParaRPr lang="en-US"/>
          </a:p>
        </p:txBody>
      </p:sp>
      <p:sp>
        <p:nvSpPr>
          <p:cNvPr id="12" name="Text 10"/>
          <p:cNvSpPr/>
          <p:nvPr/>
        </p:nvSpPr>
        <p:spPr>
          <a:xfrm>
            <a:off x="457200" y="2779776"/>
            <a:ext cx="402336" cy="402336"/>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13" name="Text 11"/>
          <p:cNvSpPr/>
          <p:nvPr/>
        </p:nvSpPr>
        <p:spPr>
          <a:xfrm>
            <a:off x="960120" y="2706624"/>
            <a:ext cx="7589520" cy="713232"/>
          </a:xfrm>
          <a:prstGeom prst="rect">
            <a:avLst/>
          </a:prstGeom>
          <a:noFill/>
          <a:ln/>
        </p:spPr>
        <p:txBody>
          <a:bodyPr wrap="square" rtlCol="0" anchor="ctr"/>
          <a:lstStyle/>
          <a:p>
            <a:pPr marL="0" indent="0">
              <a:buNone/>
            </a:pPr>
            <a:r>
              <a:rPr lang="en-US" sz="1050" dirty="0">
                <a:solidFill>
                  <a:srgbClr val="C8DCF0"/>
                </a:solidFill>
                <a:latin typeface="Calibri" pitchFamily="34" charset="0"/>
                <a:ea typeface="Calibri" pitchFamily="34" charset="-122"/>
                <a:cs typeface="Calibri" pitchFamily="34" charset="-120"/>
              </a:rPr>
              <a:t>The quadratic linear regression models deliver strong fits (R² = 0.925, 0.749, 0.9999 for Y₁–Y₃) with explicit analytical coefficients — useful for rapid design-space navigation.</a:t>
            </a:r>
            <a:endParaRPr lang="en-US" sz="1050" dirty="0"/>
          </a:p>
        </p:txBody>
      </p:sp>
      <p:sp>
        <p:nvSpPr>
          <p:cNvPr id="14" name="Shape 12"/>
          <p:cNvSpPr/>
          <p:nvPr/>
        </p:nvSpPr>
        <p:spPr>
          <a:xfrm>
            <a:off x="457200" y="3547872"/>
            <a:ext cx="402336" cy="402336"/>
          </a:xfrm>
          <a:prstGeom prst="ellipse">
            <a:avLst/>
          </a:prstGeom>
          <a:solidFill>
            <a:srgbClr val="0E6B8C"/>
          </a:solidFill>
          <a:ln w="12700">
            <a:solidFill>
              <a:srgbClr val="0E6B8C"/>
            </a:solidFill>
            <a:prstDash val="solid"/>
          </a:ln>
        </p:spPr>
        <p:txBody>
          <a:bodyPr/>
          <a:lstStyle/>
          <a:p>
            <a:endParaRPr lang="en-US"/>
          </a:p>
        </p:txBody>
      </p:sp>
      <p:sp>
        <p:nvSpPr>
          <p:cNvPr id="15" name="Text 13"/>
          <p:cNvSpPr/>
          <p:nvPr/>
        </p:nvSpPr>
        <p:spPr>
          <a:xfrm>
            <a:off x="457200" y="3547872"/>
            <a:ext cx="402336" cy="402336"/>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sp>
        <p:nvSpPr>
          <p:cNvPr id="16" name="Text 14"/>
          <p:cNvSpPr/>
          <p:nvPr/>
        </p:nvSpPr>
        <p:spPr>
          <a:xfrm>
            <a:off x="960120" y="3474720"/>
            <a:ext cx="7589520" cy="713232"/>
          </a:xfrm>
          <a:prstGeom prst="rect">
            <a:avLst/>
          </a:prstGeom>
          <a:noFill/>
          <a:ln/>
        </p:spPr>
        <p:txBody>
          <a:bodyPr wrap="square" rtlCol="0" anchor="ctr"/>
          <a:lstStyle/>
          <a:p>
            <a:pPr marL="0" indent="0">
              <a:buNone/>
            </a:pPr>
            <a:r>
              <a:rPr lang="en-US" sz="1050" dirty="0">
                <a:solidFill>
                  <a:srgbClr val="C8DCF0"/>
                </a:solidFill>
                <a:latin typeface="Calibri" pitchFamily="34" charset="0"/>
                <a:ea typeface="Calibri" pitchFamily="34" charset="-122"/>
                <a:cs typeface="Calibri" pitchFamily="34" charset="-120"/>
              </a:rPr>
              <a:t>The Heteroscedastic MOGP improves ablation rate prediction (R² = 0.969) and quantifies uncertainty spatially. The learned inter-task correlations (Y₁↔Y₃ = –0.60) match physical expectations without prior specification.</a:t>
            </a:r>
            <a:endParaRPr lang="en-US" sz="1050" dirty="0"/>
          </a:p>
        </p:txBody>
      </p:sp>
      <p:sp>
        <p:nvSpPr>
          <p:cNvPr id="17" name="Shape 15"/>
          <p:cNvSpPr/>
          <p:nvPr/>
        </p:nvSpPr>
        <p:spPr>
          <a:xfrm>
            <a:off x="457200" y="4315968"/>
            <a:ext cx="402336" cy="402336"/>
          </a:xfrm>
          <a:prstGeom prst="ellipse">
            <a:avLst/>
          </a:prstGeom>
          <a:solidFill>
            <a:srgbClr val="0E6B8C"/>
          </a:solidFill>
          <a:ln w="12700">
            <a:solidFill>
              <a:srgbClr val="0E6B8C"/>
            </a:solidFill>
            <a:prstDash val="solid"/>
          </a:ln>
        </p:spPr>
        <p:txBody>
          <a:bodyPr/>
          <a:lstStyle/>
          <a:p>
            <a:endParaRPr lang="en-US"/>
          </a:p>
        </p:txBody>
      </p:sp>
      <p:sp>
        <p:nvSpPr>
          <p:cNvPr id="18" name="Text 16"/>
          <p:cNvSpPr/>
          <p:nvPr/>
        </p:nvSpPr>
        <p:spPr>
          <a:xfrm>
            <a:off x="457200" y="4315968"/>
            <a:ext cx="402336" cy="402336"/>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05</a:t>
            </a:r>
            <a:endParaRPr lang="en-US" sz="1000" dirty="0"/>
          </a:p>
        </p:txBody>
      </p:sp>
      <p:sp>
        <p:nvSpPr>
          <p:cNvPr id="19" name="Text 17"/>
          <p:cNvSpPr/>
          <p:nvPr/>
        </p:nvSpPr>
        <p:spPr>
          <a:xfrm>
            <a:off x="960120" y="4242816"/>
            <a:ext cx="7589520" cy="713232"/>
          </a:xfrm>
          <a:prstGeom prst="rect">
            <a:avLst/>
          </a:prstGeom>
          <a:noFill/>
          <a:ln/>
        </p:spPr>
        <p:txBody>
          <a:bodyPr wrap="square" rtlCol="0" anchor="ctr"/>
          <a:lstStyle/>
          <a:p>
            <a:pPr marL="0" indent="0">
              <a:buNone/>
            </a:pPr>
            <a:r>
              <a:rPr lang="en-US" sz="1050" dirty="0">
                <a:solidFill>
                  <a:srgbClr val="C8DCF0"/>
                </a:solidFill>
                <a:latin typeface="Calibri" pitchFamily="34" charset="0"/>
                <a:ea typeface="Calibri" pitchFamily="34" charset="-122"/>
                <a:cs typeface="Calibri" pitchFamily="34" charset="-120"/>
              </a:rPr>
              <a:t>Future work: additional design points at high X₁ × high X₂ to reduce GP uncertainty in that region; cross-validation to assess generalisation; Bayesian optimisation using GP posterior for formulation design.</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C389439E2A531468C2989BBF9A9C81A" ma:contentTypeVersion="16" ma:contentTypeDescription="Create a new document." ma:contentTypeScope="" ma:versionID="4ceb4fcf51495b177876125e57bc3341">
  <xsd:schema xmlns:xsd="http://www.w3.org/2001/XMLSchema" xmlns:xs="http://www.w3.org/2001/XMLSchema" xmlns:p="http://schemas.microsoft.com/office/2006/metadata/properties" xmlns:ns2="99105928-cc30-4e54-a14d-6047f68b3baf" xmlns:ns3="ee25710c-554a-4a3d-9f4e-c54f95b0093e" targetNamespace="http://schemas.microsoft.com/office/2006/metadata/properties" ma:root="true" ma:fieldsID="a6a216cbc6628072d181584a9ac54692" ns2:_="" ns3:_="">
    <xsd:import namespace="99105928-cc30-4e54-a14d-6047f68b3baf"/>
    <xsd:import namespace="ee25710c-554a-4a3d-9f4e-c54f95b0093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GenerationTime" minOccurs="0"/>
                <xsd:element ref="ns2:MediaServiceEventHashCode" minOccurs="0"/>
                <xsd:element ref="ns2:MediaLengthInSeconds" minOccurs="0"/>
                <xsd:element ref="ns2:MediaServiceDateTaken" minOccurs="0"/>
                <xsd:element ref="ns2:MediaServiceLocation" minOccurs="0"/>
                <xsd:element ref="ns2:lcf76f155ced4ddcb4097134ff3c332f" minOccurs="0"/>
                <xsd:element ref="ns3:TaxCatchAll" minOccurs="0"/>
                <xsd:element ref="ns2:MediaServiceOCR" minOccurs="0"/>
                <xsd:element ref="ns3:SharedWithUsers" minOccurs="0"/>
                <xsd:element ref="ns3:SharedWithDetail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105928-cc30-4e54-a14d-6047f68b3b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c2d55d72-5afa-45f9-90b6-e0708aeee9a0"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e25710c-554a-4a3d-9f4e-c54f95b0093e"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0c41e8d4-87de-4fc6-932f-61733bd3b2c5}" ma:internalName="TaxCatchAll" ma:showField="CatchAllData" ma:web="ee25710c-554a-4a3d-9f4e-c54f95b0093e">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9105928-cc30-4e54-a14d-6047f68b3baf">
      <Terms xmlns="http://schemas.microsoft.com/office/infopath/2007/PartnerControls"/>
    </lcf76f155ced4ddcb4097134ff3c332f>
    <TaxCatchAll xmlns="ee25710c-554a-4a3d-9f4e-c54f95b0093e" xsi:nil="true"/>
  </documentManagement>
</p:properties>
</file>

<file path=customXml/itemProps1.xml><?xml version="1.0" encoding="utf-8"?>
<ds:datastoreItem xmlns:ds="http://schemas.openxmlformats.org/officeDocument/2006/customXml" ds:itemID="{D30113BC-3879-40E9-A702-20783C8C729C}"/>
</file>

<file path=customXml/itemProps2.xml><?xml version="1.0" encoding="utf-8"?>
<ds:datastoreItem xmlns:ds="http://schemas.openxmlformats.org/officeDocument/2006/customXml" ds:itemID="{5223AEB5-49FE-4169-B5E4-39CFD35BA267}"/>
</file>

<file path=customXml/itemProps3.xml><?xml version="1.0" encoding="utf-8"?>
<ds:datastoreItem xmlns:ds="http://schemas.openxmlformats.org/officeDocument/2006/customXml" ds:itemID="{9CC5DFF0-BC9E-4F10-9DA8-40DB65E11BA9}"/>
</file>

<file path=docProps/app.xml><?xml version="1.0" encoding="utf-8"?>
<Properties xmlns="http://schemas.openxmlformats.org/officeDocument/2006/extended-properties" xmlns:vt="http://schemas.openxmlformats.org/officeDocument/2006/docPropsVTypes">
  <TotalTime>1240</TotalTime>
  <Words>2290</Words>
  <Application>Microsoft Office PowerPoint</Application>
  <PresentationFormat>On-screen Show (16:9)</PresentationFormat>
  <Paragraphs>275</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Ablation Study: ANOVA, Regression &amp; Heteroscedastic MOGP</dc:title>
  <dc:subject>PptxGenJS Presentation</dc:subject>
  <dc:creator>PptxGenJS</dc:creator>
  <cp:lastModifiedBy>Ying-Kuan (Rick) Tsai</cp:lastModifiedBy>
  <cp:revision>1</cp:revision>
  <dcterms:created xsi:type="dcterms:W3CDTF">2026-06-19T21:22:12Z</dcterms:created>
  <dcterms:modified xsi:type="dcterms:W3CDTF">2026-06-30T19:13:33Z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0x0101009C389439E2A531468C2989BBF9A9C81A</vt:lpwstr>
  </property>
</Properties>
</file>