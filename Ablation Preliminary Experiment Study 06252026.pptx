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ng-Kuan (Rick) Tsai" userId="71c2de2f-4d21-4c41-b594-bea206d76827" providerId="ADAL" clId="{B83EABEB-929B-44FD-8209-A727ECD70BFE}"/>
    <pc:docChg chg="modSld">
      <pc:chgData name="Ying-Kuan (Rick) Tsai" userId="71c2de2f-4d21-4c41-b594-bea206d76827" providerId="ADAL" clId="{B83EABEB-929B-44FD-8209-A727ECD70BFE}" dt="2026-06-25T21:17:12.156" v="23" actId="20577"/>
      <pc:docMkLst>
        <pc:docMk/>
      </pc:docMkLst>
      <pc:sldChg chg="modSp mod">
        <pc:chgData name="Ying-Kuan (Rick) Tsai" userId="71c2de2f-4d21-4c41-b594-bea206d76827" providerId="ADAL" clId="{B83EABEB-929B-44FD-8209-A727ECD70BFE}" dt="2026-06-25T21:17:12.156" v="23" actId="20577"/>
        <pc:sldMkLst>
          <pc:docMk/>
          <pc:sldMk cId="2985622401" sldId="257"/>
        </pc:sldMkLst>
        <pc:spChg chg="mod">
          <ac:chgData name="Ying-Kuan (Rick) Tsai" userId="71c2de2f-4d21-4c41-b594-bea206d76827" providerId="ADAL" clId="{B83EABEB-929B-44FD-8209-A727ECD70BFE}" dt="2026-06-25T21:17:12.156" v="23" actId="20577"/>
          <ac:spMkLst>
            <pc:docMk/>
            <pc:sldMk cId="2985622401" sldId="257"/>
            <ac:spMk id="3" creationId="{F6DEF427-872D-5C12-013D-F875F46F72F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9FE7-DE4A-70D6-7BD0-030E92F49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37137-BC79-09D0-9A55-4E7C6EDEC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49215-F119-CE74-FDD4-51F5CE03F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BB337-376E-4F38-93E9-2F22B113332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D6EF1-C5E1-00DE-56D7-995AD3663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FEDCB-8DAF-AF29-CF52-33EEC4A61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8CBF2-726E-47AB-A086-FDB710D4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77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90F5C-40C8-A8C6-EBC9-06B7F1E51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1E576-5A56-080E-6D64-056D62C77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6F374-3646-8B87-D97D-BB2620A23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BB337-376E-4F38-93E9-2F22B113332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BF330-65B6-3CF8-6DF7-650E8F4CE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CE43C-F167-0469-B128-8D49D580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8CBF2-726E-47AB-A086-FDB710D4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824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6E7F-5859-8636-9387-CEF9FAF70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C4A6C-14FE-E5AB-49CD-0AFF89B5C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5D88B-D19C-F2EC-2E0F-E8E44B2C9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BB337-376E-4F38-93E9-2F22B113332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3536D-0292-C256-80D3-3068865A7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A9317-679E-7A52-A95A-B9592C5B0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8CBF2-726E-47AB-A086-FDB710D4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27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E9E4-6DC7-34BE-A38D-7F6CB12AF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843F0-D76E-2FF2-48F1-5FA9F295DA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9103F0-C0D4-5ED9-9A37-DA9C24B92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A961E-A9EB-DDBA-8003-BA86A38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BB337-376E-4F38-93E9-2F22B113332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DC089-D31F-7445-CE5D-755788A1B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A1260-3D3F-1CC2-81FE-2956BADBC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8CBF2-726E-47AB-A086-FDB710D4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889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C2818-5EFF-C3A3-226B-F2B9410C0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E56E6-43C6-0C22-7E88-5CF93C2E9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667DDC-DDB2-E33D-8F05-BA80E9502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177ED8-A3EC-ED58-203C-296931223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6ECFA9-4EFC-C775-2D89-622129C02A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193C5B-0A09-7E5D-FF95-568869EF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BB337-376E-4F38-93E9-2F22B113332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82B163-CF78-014F-CCDC-46FB6AD8E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A60896-8418-84E6-280B-9A51D7D9E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8CBF2-726E-47AB-A086-FDB710D4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635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1B7AE-F571-CEFE-9F1E-88DD79B40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6BE1CA-BE3E-ACC7-CA68-9B85E56A4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BB337-376E-4F38-93E9-2F22B113332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D90F12-D52B-9434-A3FB-5103A6A81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1495A7-259C-2B2D-0014-5959FBD1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8CBF2-726E-47AB-A086-FDB710D4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982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961952-4EA5-681E-0736-7E9234221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BB337-376E-4F38-93E9-2F22B113332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584492-21A4-98B1-3BE6-982F9ED56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AB3B7-321D-E1D4-E026-4C74E9C8F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8CBF2-726E-47AB-A086-FDB710D4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404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F3AC1-E7CA-BF3E-DA56-9FA6267DD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17365-FA91-3F9F-C913-90C53B2BD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4C6664-3E2E-4AC5-BD76-E04D89042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53455-6293-8BC4-EA2E-B75A161A5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BB337-376E-4F38-93E9-2F22B113332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37207-23A0-DE1D-4225-FC8B75AD9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D8C09-3698-2BC4-3BC6-F79C035F7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8CBF2-726E-47AB-A086-FDB710D4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24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EDBA9-9E8B-5971-BA7B-E7BABC8C4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9E72BD-31EE-1693-4BC1-726F82CA6A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2BEFB-4CC2-442B-2266-E0D2EA9CB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36910-C453-8081-4198-CB57CE35F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BB337-376E-4F38-93E9-2F22B113332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156780-F7A5-84A2-240B-125E2B37A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98ECF0-AFBC-FE6E-E3A0-ADC6720DF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8CBF2-726E-47AB-A086-FDB710D4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55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35F08-DADA-E9AA-107A-044769EC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F222C3-6A6D-EFED-DFBE-8696F0004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C1B9F-AAD4-D209-488D-F9B425281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BB337-376E-4F38-93E9-2F22B113332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1432C-1994-33A6-92E7-72905F11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DF0B2-23B9-9CE0-6D48-92529E06D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8CBF2-726E-47AB-A086-FDB710D4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70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B62A5-F42B-8E69-B825-A555BC028D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70512-A830-9707-0673-0A6C71B3E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78F80-8966-526E-7F38-71C112203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BB337-376E-4F38-93E9-2F22B113332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6D575-FF1D-D798-B8FF-E6B498022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B2DF6-1ABE-68BA-F4D5-C351A36F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8CBF2-726E-47AB-A086-FDB710D4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95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70B56A-09B0-88B1-9E18-E655F9920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7054B-2A22-1A22-B523-F6C8A0891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A4F8-9D6B-4F6F-691C-659923A36A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BB337-376E-4F38-93E9-2F22B113332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3E4BE-D716-17EB-CA2F-D58EB0AC6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9CC46-101A-0F57-90BA-1E94F5E11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08CBF2-726E-47AB-A086-FDB710D4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30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E4DE8-57C4-E51D-4D58-9CCCD353CB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Ablation Preliminary Experiment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4D5DB-8CD0-38F6-4B4C-DFEFB32D88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06/25/2026</a:t>
            </a:r>
          </a:p>
          <a:p>
            <a:r>
              <a:rPr lang="en-US" dirty="0"/>
              <a:t>By Ying-Kuan (Rick) Tsai at Northwestern</a:t>
            </a:r>
          </a:p>
          <a:p>
            <a:r>
              <a:rPr lang="en-US" dirty="0"/>
              <a:t>(Data provided by </a:t>
            </a:r>
            <a:r>
              <a:rPr lang="en-US" dirty="0" err="1"/>
              <a:t>Yinong</a:t>
            </a:r>
            <a:r>
              <a:rPr lang="en-US" dirty="0"/>
              <a:t> Chen at UIC)</a:t>
            </a:r>
          </a:p>
        </p:txBody>
      </p:sp>
    </p:spTree>
    <p:extLst>
      <p:ext uri="{BB962C8B-B14F-4D97-AF65-F5344CB8AC3E}">
        <p14:creationId xmlns:p14="http://schemas.microsoft.com/office/powerpoint/2010/main" val="610291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3A996-19CC-52AB-F61E-ADF091446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 and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EF427-872D-5C12-013D-F875F46F7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 factors but only 2 independent inputs (Carbon black </a:t>
            </a:r>
            <a:r>
              <a:rPr lang="en-US" dirty="0" err="1"/>
              <a:t>wt</a:t>
            </a:r>
            <a:r>
              <a:rPr lang="en-US" dirty="0"/>
              <a:t>%, Fe-rich regolith </a:t>
            </a:r>
            <a:r>
              <a:rPr lang="en-US" dirty="0" err="1"/>
              <a:t>wt</a:t>
            </a:r>
            <a:r>
              <a:rPr lang="en-US" dirty="0"/>
              <a:t>%), I-369 </a:t>
            </a:r>
            <a:r>
              <a:rPr lang="en-US" dirty="0" err="1"/>
              <a:t>wt</a:t>
            </a:r>
            <a:r>
              <a:rPr lang="en-US" dirty="0"/>
              <a:t>% is fixed at 2%, sum should be 100%</a:t>
            </a:r>
          </a:p>
          <a:p>
            <a:r>
              <a:rPr lang="en-US" dirty="0"/>
              <a:t>3 Outputs (Ablation rate, Backside Temp</a:t>
            </a:r>
            <a:r>
              <a:rPr lang="en-US"/>
              <a:t>, Density; lower = better)</a:t>
            </a:r>
            <a:endParaRPr lang="en-US" dirty="0"/>
          </a:p>
          <a:p>
            <a:r>
              <a:rPr lang="en-US" dirty="0"/>
              <a:t>13 Conditions with 3 replicates for each (39 total observations)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F84644E-779A-77F3-BB42-8083EA8FF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59" y="3744145"/>
            <a:ext cx="11437859" cy="274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622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AD100-385A-D745-E094-6D2D10B9F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Orthogonality Check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B7E0539-AA57-A585-4D2A-63E8D7B0A280}"/>
              </a:ext>
            </a:extLst>
          </p:cNvPr>
          <p:cNvSpPr/>
          <p:nvPr/>
        </p:nvSpPr>
        <p:spPr>
          <a:xfrm>
            <a:off x="1402709" y="1767055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EBF7E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16F1336-99F2-7E2A-4BE9-199BD357ECBC}"/>
              </a:ext>
            </a:extLst>
          </p:cNvPr>
          <p:cNvSpPr/>
          <p:nvPr/>
        </p:nvSpPr>
        <p:spPr>
          <a:xfrm>
            <a:off x="1494149" y="181277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A4A"/>
                </a:solidFill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A579140-CAFD-3553-4248-57BE2F60C1CC}"/>
              </a:ext>
            </a:extLst>
          </p:cNvPr>
          <p:cNvSpPr/>
          <p:nvPr/>
        </p:nvSpPr>
        <p:spPr>
          <a:xfrm>
            <a:off x="1448429" y="2251687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ea typeface="Cambria" pitchFamily="34" charset="-122"/>
                <a:cs typeface="Cambria" pitchFamily="34" charset="-120"/>
              </a:rPr>
              <a:t>r = 0.00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0C2141D-C0BB-B0F6-7753-F93BA6051EC0}"/>
              </a:ext>
            </a:extLst>
          </p:cNvPr>
          <p:cNvSpPr/>
          <p:nvPr/>
        </p:nvSpPr>
        <p:spPr>
          <a:xfrm>
            <a:off x="1448429" y="2654023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778"/>
                </a:solidFill>
                <a:ea typeface="Calibri" pitchFamily="34" charset="-122"/>
                <a:cs typeface="Calibri" pitchFamily="34" charset="-120"/>
              </a:rPr>
              <a:t>Pearson correlation X₁ vs X₂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46778"/>
                </a:solidFill>
                <a:ea typeface="Calibri" pitchFamily="34" charset="-122"/>
                <a:cs typeface="Calibri" pitchFamily="34" charset="-120"/>
              </a:rPr>
              <a:t>(p = 1.00)</a:t>
            </a:r>
            <a:endParaRPr lang="en-US" sz="9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A171D09-3C7D-314A-9579-D2275EEF2835}"/>
              </a:ext>
            </a:extLst>
          </p:cNvPr>
          <p:cNvSpPr/>
          <p:nvPr/>
        </p:nvSpPr>
        <p:spPr>
          <a:xfrm>
            <a:off x="4237349" y="1767055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EBF7E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4BD99BE-40F9-A4AF-BFF3-55CCAE538F54}"/>
              </a:ext>
            </a:extLst>
          </p:cNvPr>
          <p:cNvSpPr/>
          <p:nvPr/>
        </p:nvSpPr>
        <p:spPr>
          <a:xfrm>
            <a:off x="4328789" y="181277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A4A"/>
                </a:solidFill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2FDCB45-CD3F-FF27-65BE-E798F328E244}"/>
              </a:ext>
            </a:extLst>
          </p:cNvPr>
          <p:cNvSpPr/>
          <p:nvPr/>
        </p:nvSpPr>
        <p:spPr>
          <a:xfrm>
            <a:off x="4283069" y="2251687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ea typeface="Cambria" pitchFamily="34" charset="-122"/>
                <a:cs typeface="Cambria" pitchFamily="34" charset="-120"/>
              </a:rPr>
              <a:t>κ = 77.9</a:t>
            </a:r>
            <a:endParaRPr lang="en-US" sz="2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5BED740-735A-AA3F-CA79-5C2CE46E3180}"/>
              </a:ext>
            </a:extLst>
          </p:cNvPr>
          <p:cNvSpPr/>
          <p:nvPr/>
        </p:nvSpPr>
        <p:spPr>
          <a:xfrm>
            <a:off x="4283069" y="2654023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778"/>
                </a:solidFill>
                <a:ea typeface="Calibri" pitchFamily="34" charset="-122"/>
                <a:cs typeface="Calibri" pitchFamily="34" charset="-120"/>
              </a:rPr>
              <a:t>Condition number of centred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46778"/>
                </a:solidFill>
                <a:ea typeface="Calibri" pitchFamily="34" charset="-122"/>
                <a:cs typeface="Calibri" pitchFamily="34" charset="-120"/>
              </a:rPr>
              <a:t>design matrix X'X</a:t>
            </a:r>
            <a:endParaRPr lang="en-US" sz="9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C3613C6-0352-29A9-0033-2DDA43039EA0}"/>
              </a:ext>
            </a:extLst>
          </p:cNvPr>
          <p:cNvSpPr/>
          <p:nvPr/>
        </p:nvSpPr>
        <p:spPr>
          <a:xfrm>
            <a:off x="7071989" y="1767055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EBF7E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522D904-6976-8236-0FF6-6185DBF0387C}"/>
              </a:ext>
            </a:extLst>
          </p:cNvPr>
          <p:cNvSpPr/>
          <p:nvPr/>
        </p:nvSpPr>
        <p:spPr>
          <a:xfrm>
            <a:off x="7163429" y="181277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A4A"/>
                </a:solidFill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DB69851-7277-2ACE-DB6B-A2BE28B94429}"/>
              </a:ext>
            </a:extLst>
          </p:cNvPr>
          <p:cNvSpPr/>
          <p:nvPr/>
        </p:nvSpPr>
        <p:spPr>
          <a:xfrm>
            <a:off x="7117709" y="2251687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ea typeface="Cambria" pitchFamily="34" charset="-122"/>
                <a:cs typeface="Cambria" pitchFamily="34" charset="-120"/>
              </a:rPr>
              <a:t>Off-diag ≈ 0</a:t>
            </a:r>
            <a:endParaRPr lang="en-US" sz="2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00590C5-D717-5E49-9859-54700F2AC8DC}"/>
              </a:ext>
            </a:extLst>
          </p:cNvPr>
          <p:cNvSpPr/>
          <p:nvPr/>
        </p:nvSpPr>
        <p:spPr>
          <a:xfrm>
            <a:off x="7117709" y="2654023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778"/>
                </a:solidFill>
                <a:ea typeface="Calibri" pitchFamily="34" charset="-122"/>
                <a:cs typeface="Calibri" pitchFamily="34" charset="-120"/>
              </a:rPr>
              <a:t>Normalised X'X off-diagonal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46778"/>
                </a:solidFill>
                <a:ea typeface="Calibri" pitchFamily="34" charset="-122"/>
                <a:cs typeface="Calibri" pitchFamily="34" charset="-120"/>
              </a:rPr>
              <a:t>elements near zero</a:t>
            </a:r>
            <a:endParaRPr lang="en-US" sz="950" dirty="0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78F7143A-88A1-F887-E3E9-BE83F974C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269" y="3275815"/>
            <a:ext cx="8595360" cy="2697480"/>
          </a:xfrm>
          <a:prstGeom prst="rect">
            <a:avLst/>
          </a:prstGeom>
        </p:spPr>
      </p:pic>
      <p:sp>
        <p:nvSpPr>
          <p:cNvPr id="17" name="Text 14">
            <a:extLst>
              <a:ext uri="{FF2B5EF4-FFF2-40B4-BE49-F238E27FC236}">
                <a16:creationId xmlns:a16="http://schemas.microsoft.com/office/drawing/2014/main" id="{6A85E630-4D81-567D-BBC0-85ACB7957C77}"/>
              </a:ext>
            </a:extLst>
          </p:cNvPr>
          <p:cNvSpPr/>
          <p:nvPr/>
        </p:nvSpPr>
        <p:spPr>
          <a:xfrm>
            <a:off x="461913" y="6155232"/>
            <a:ext cx="11651530" cy="594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546778"/>
                </a:solidFill>
                <a:ea typeface="Calibri" pitchFamily="34" charset="-122"/>
                <a:cs typeface="Calibri" pitchFamily="34" charset="-120"/>
              </a:rPr>
              <a:t>Interpretation: </a:t>
            </a:r>
            <a:r>
              <a:rPr lang="en-US" dirty="0">
                <a:solidFill>
                  <a:srgbClr val="546778"/>
                </a:solidFill>
                <a:ea typeface="Calibri" pitchFamily="34" charset="-122"/>
                <a:cs typeface="Calibri" pitchFamily="34" charset="-120"/>
              </a:rPr>
              <a:t>Main effects X₁ and X₂ are perfectly uncorrelated (r = 0). The centred design matrix is near-orthogonal (κ = 77.9 &lt; 100). The only mild off-diagonal correlation (0.09) is between the centred X₂ term and the interaction X₁·X₂, which is expected when X₁ is unbalanced across X₂ levels.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719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1D4E0-D3F1-92C0-47B8-F86B522F1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Two-Way ANOVA Results</a:t>
            </a: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33552032-C155-639F-1CEF-B1F659CC47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4411986"/>
              </p:ext>
            </p:extLst>
          </p:nvPr>
        </p:nvGraphicFramePr>
        <p:xfrm>
          <a:off x="838200" y="1825624"/>
          <a:ext cx="10115748" cy="2982045"/>
        </p:xfrm>
        <a:graphic>
          <a:graphicData uri="http://schemas.openxmlformats.org/drawingml/2006/table">
            <a:tbl>
              <a:tblPr/>
              <a:tblGrid>
                <a:gridCol w="252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64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Y₁ Ablation F (p)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Y₂ Temp F (p)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Y₃ Density F (p)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4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 (Carbon black)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1247  (p &lt; 0.001)  ***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714  (p &lt; 0.001)  ***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2.6×10³¹  ***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4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X₂ (Fe-regolith)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4.86  (p = 0.037)  *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42.8  (p &lt; 0.001)  ***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1.0×10³⁰  ***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4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 × X₂ interaction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35.9  (p &lt; 0.001)  ***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  (p &lt; 0.001)  ***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2.7×10²⁹  ***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4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787297A-05A9-4D53-1374-8D29F03AB3DA}"/>
              </a:ext>
            </a:extLst>
          </p:cNvPr>
          <p:cNvSpPr txBox="1"/>
          <p:nvPr/>
        </p:nvSpPr>
        <p:spPr>
          <a:xfrm>
            <a:off x="1329179" y="5043340"/>
            <a:ext cx="516352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Carbon Black (X₁) is the dominant factor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Fe-rich Regolith (X₂) plays a secondary role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X₁ × X₂ Interaction is strong for Y₁ and Y₂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9820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9D654-E261-BFF5-B60B-C92935E93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Linear Regression Models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5216586-2186-EACF-3155-09B5801659DC}"/>
              </a:ext>
            </a:extLst>
          </p:cNvPr>
          <p:cNvSpPr/>
          <p:nvPr/>
        </p:nvSpPr>
        <p:spPr>
          <a:xfrm>
            <a:off x="838200" y="1414145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Model:  Ŷₖ = β₀ + β₁X₁ + β₂X₂ + β₃X₁² + β₄X₂² + β₅X₁X₂</a:t>
            </a:r>
            <a:endParaRPr lang="en-US" sz="160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CDD1B37B-1FDC-53C8-D1FE-127734C0E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026285"/>
              </p:ext>
            </p:extLst>
          </p:nvPr>
        </p:nvGraphicFramePr>
        <p:xfrm>
          <a:off x="1169552" y="2065979"/>
          <a:ext cx="9852896" cy="3967173"/>
        </p:xfrm>
        <a:graphic>
          <a:graphicData uri="http://schemas.openxmlformats.org/drawingml/2006/table">
            <a:tbl>
              <a:tblPr/>
              <a:tblGrid>
                <a:gridCol w="2463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19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β₁  Y₁ Ablation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β₂  Y₂ Temp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β₃  Y₃ Density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6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Intercept (β₀)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29.919 ***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224.964 ***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1.10484 ***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6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  (β₁)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–2.181 ***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+2.192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+0.00418 ***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6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X₂  (β₂)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–3.870 ***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–11.524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+0.00798 ***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6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X₁²  (β₃)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+0.051 ***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–0.185 **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+0.000022 ***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6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X₂²  (β₄)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+0.240 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+1.283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+0.000174 ***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6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X₁·X₂  (β₅)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+0.136 ***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–0.021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+0.000097 ***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6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6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 µm/s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10.07 °C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 g/cm³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34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DC5CB-C81B-4053-334D-BCB99FDA2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0BC2-F1B8-1EC4-FF55-AC20EACF6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Linear Regression Models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045D4BF-58E0-662A-E059-E375E2B05822}"/>
              </a:ext>
            </a:extLst>
          </p:cNvPr>
          <p:cNvSpPr/>
          <p:nvPr/>
        </p:nvSpPr>
        <p:spPr>
          <a:xfrm>
            <a:off x="838200" y="1414145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Model:  Ŷₖ = β₀ + β₁X₁ + β₂X₂ + β₃X₁² + β₄X₂² + β₅X₁X₂</a:t>
            </a:r>
            <a:endParaRPr lang="en-US" sz="16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D174E7A-B820-6722-D8AC-592CDC4BE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13" y="4127175"/>
            <a:ext cx="10515600" cy="2730825"/>
          </a:xfrm>
          <a:prstGeom prst="rect">
            <a:avLst/>
          </a:prstGeom>
        </p:spPr>
      </p:pic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6BCB4AD8-BB9C-C6DE-CC18-677278589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92017"/>
            <a:ext cx="10515600" cy="236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844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393F4-30F3-6319-2674-1B00C8CD1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97369-06A3-CE91-4BF7-56063A0CB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Carbon black (X₁) is the primary ablation-control lever. Higher loading increases char density, which mechanically resists ablation and reduces heat penetration. The nonlinear (quadratic) decay in ablation rate suggests saturation beyond ~12.5 </a:t>
            </a:r>
            <a:r>
              <a:rPr lang="en-US" sz="2000" dirty="0" err="1"/>
              <a:t>wt</a:t>
            </a:r>
            <a:r>
              <a:rPr lang="en-US" sz="2000" dirty="0"/>
              <a:t>% — additional carbon offers diminishing returns.</a:t>
            </a:r>
          </a:p>
          <a:p>
            <a:r>
              <a:rPr lang="en-US" sz="2000" dirty="0"/>
              <a:t>Backside temperature shows the highest experimental variance (R²=0.75). The negative interaction of X₁ and backside temperature suggests that carbon-rich chars act as effective insulators. Fe-rich regolith at higher levels reduces temperature, potentially through a particulate heat-sink mechanism.</a:t>
            </a:r>
          </a:p>
          <a:p>
            <a:r>
              <a:rPr lang="en-US" sz="2000" dirty="0"/>
              <a:t>With only 39 runs and a space-filling design, the experiment is efficient but not fully factorial. The near-orthogonality (κ=77.9) confirms that factor effects are estimable without confounding. However, the sparse coverage at high X₁ × high X₂ is a limitation for extrapolation in that region.</a:t>
            </a:r>
          </a:p>
          <a:p>
            <a:r>
              <a:rPr lang="en-US" sz="2000" dirty="0"/>
              <a:t>Density output is seen to follow a very linear relationship in the X₁-X₂ space, which is why the R-square is very close to 1</a:t>
            </a:r>
          </a:p>
        </p:txBody>
      </p:sp>
    </p:spTree>
    <p:extLst>
      <p:ext uri="{BB962C8B-B14F-4D97-AF65-F5344CB8AC3E}">
        <p14:creationId xmlns:p14="http://schemas.microsoft.com/office/powerpoint/2010/main" val="3488151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89439E2A531468C2989BBF9A9C81A" ma:contentTypeVersion="16" ma:contentTypeDescription="Create a new document." ma:contentTypeScope="" ma:versionID="4ceb4fcf51495b177876125e57bc3341">
  <xsd:schema xmlns:xsd="http://www.w3.org/2001/XMLSchema" xmlns:xs="http://www.w3.org/2001/XMLSchema" xmlns:p="http://schemas.microsoft.com/office/2006/metadata/properties" xmlns:ns2="99105928-cc30-4e54-a14d-6047f68b3baf" xmlns:ns3="ee25710c-554a-4a3d-9f4e-c54f95b0093e" targetNamespace="http://schemas.microsoft.com/office/2006/metadata/properties" ma:root="true" ma:fieldsID="a6a216cbc6628072d181584a9ac54692" ns2:_="" ns3:_="">
    <xsd:import namespace="99105928-cc30-4e54-a14d-6047f68b3baf"/>
    <xsd:import namespace="ee25710c-554a-4a3d-9f4e-c54f95b009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105928-cc30-4e54-a14d-6047f68b3b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c2d55d72-5afa-45f9-90b6-e0708aeee9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25710c-554a-4a3d-9f4e-c54f95b0093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0c41e8d4-87de-4fc6-932f-61733bd3b2c5}" ma:internalName="TaxCatchAll" ma:showField="CatchAllData" ma:web="ee25710c-554a-4a3d-9f4e-c54f95b009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105928-cc30-4e54-a14d-6047f68b3baf">
      <Terms xmlns="http://schemas.microsoft.com/office/infopath/2007/PartnerControls"/>
    </lcf76f155ced4ddcb4097134ff3c332f>
    <TaxCatchAll xmlns="ee25710c-554a-4a3d-9f4e-c54f95b0093e" xsi:nil="true"/>
  </documentManagement>
</p:properties>
</file>

<file path=customXml/itemProps1.xml><?xml version="1.0" encoding="utf-8"?>
<ds:datastoreItem xmlns:ds="http://schemas.openxmlformats.org/officeDocument/2006/customXml" ds:itemID="{0FC94F6F-9011-42C0-9539-AB97154D68EE}"/>
</file>

<file path=customXml/itemProps2.xml><?xml version="1.0" encoding="utf-8"?>
<ds:datastoreItem xmlns:ds="http://schemas.openxmlformats.org/officeDocument/2006/customXml" ds:itemID="{376CE001-0A16-4561-996B-AB76D8CF7DAD}"/>
</file>

<file path=customXml/itemProps3.xml><?xml version="1.0" encoding="utf-8"?>
<ds:datastoreItem xmlns:ds="http://schemas.openxmlformats.org/officeDocument/2006/customXml" ds:itemID="{212601BC-EF34-42AD-A707-1F06815E7E22}"/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696</Words>
  <Application>Microsoft Office PowerPoint</Application>
  <PresentationFormat>Widescreen</PresentationFormat>
  <Paragraphs>91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Cambria</vt:lpstr>
      <vt:lpstr>Office Theme</vt:lpstr>
      <vt:lpstr>Ablation Preliminary Experiment Study</vt:lpstr>
      <vt:lpstr>Problem Definition and Data</vt:lpstr>
      <vt:lpstr>Orthogonality Check</vt:lpstr>
      <vt:lpstr>Two-Way ANOVA Results</vt:lpstr>
      <vt:lpstr>Quadratic Linear Regression Models</vt:lpstr>
      <vt:lpstr>Quadratic Linear Regression Models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Ying-Kuan (Rick) Tsai</dc:creator>
  <cp:lastModifiedBy>Ying-Kuan (Rick) Tsai</cp:lastModifiedBy>
  <cp:revision>1</cp:revision>
  <dcterms:created xsi:type="dcterms:W3CDTF">2026-06-25T21:06:03Z</dcterms:created>
  <dcterms:modified xsi:type="dcterms:W3CDTF">2026-06-25T21:17:12Z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0x0101009C389439E2A531468C2989BBF9A9C81A</vt:lpwstr>
  </property>
</Properties>
</file>